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Roboto Serif"/>
      <p:regular r:id="rId47"/>
      <p:bold r:id="rId48"/>
      <p:italic r:id="rId49"/>
      <p:boldItalic r:id="rId50"/>
    </p:embeddedFont>
    <p:embeddedFont>
      <p:font typeface="Roboto Mono"/>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Serif-bold.fntdata"/><Relationship Id="rId47" Type="http://schemas.openxmlformats.org/officeDocument/2006/relationships/font" Target="fonts/RobotoSerif-regular.fntdata"/><Relationship Id="rId49" Type="http://schemas.openxmlformats.org/officeDocument/2006/relationships/font" Target="fonts/RobotoSerif-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regular.fntdata"/><Relationship Id="rId50" Type="http://schemas.openxmlformats.org/officeDocument/2006/relationships/font" Target="fonts/RobotoSerif-boldItalic.fntdata"/><Relationship Id="rId53" Type="http://schemas.openxmlformats.org/officeDocument/2006/relationships/font" Target="fonts/RobotoMono-italic.fntdata"/><Relationship Id="rId52" Type="http://schemas.openxmlformats.org/officeDocument/2006/relationships/font" Target="fonts/RobotoMono-bold.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RobotoMon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f1f08e7f1e_0_3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f1f08e7f1e_0_3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f1f0f19ad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f1f0f19ad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f1f08e7f1e_0_3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f1f08e7f1e_0_3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f1f0e37d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f1f0e37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f511bfc33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f511bfc33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4c1a7946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4c1a7946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4c1a794607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4c1a794607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c7c5b5755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c7c5b5755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c7c5b5755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c7c5b5755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c7c5b5755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c7c5b5755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4c1a794607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4c1a794607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4c1a794607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4c1a794607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4c1a794607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4c1a794607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c7c5b5755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c7c5b5755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4c1a794607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4c1a794607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f511bfc333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f511bfc333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f511bfc33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f511bfc33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f511bfc333_3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f511bfc333_3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ffa78661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ffa78661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ffa786617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ffa786617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c7c5b5755f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c7c5b5755f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c7c5b5755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c7c5b5755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c7c5b5755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c7c5b5755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f511bfc333_3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f511bfc333_3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ffa786617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ffa786617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f511bfc333_3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f511bfc333_3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c7c5b5755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c7c5b5755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f511bfc333_3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f511bfc333_3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f511bfc333_3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f511bfc333_3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c7c5b575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c7c5b575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f511bfc333_3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f511bfc333_3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f52ff7c52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f52ff7c52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c7c5b5755f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c7c5b5755f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4c1a79460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4c1a79460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4c1a79460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4c1a79460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4c1a794607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4c1a794607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4c1a794607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4c1a794607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f1f0e37db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f1f0e37db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f1f0e37db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f1f0e37db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f1f08e7f1e_0_3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f1f08e7f1e_0_3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4c5f90503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4c5f9050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Final" type="title">
  <p:cSld name="TITLE">
    <p:bg>
      <p:bgPr>
        <a:solidFill>
          <a:srgbClr val="479FDE"/>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11" name="Google Shape;11;p2"/>
          <p:cNvPicPr preferRelativeResize="0"/>
          <p:nvPr/>
        </p:nvPicPr>
        <p:blipFill>
          <a:blip r:embed="rId2">
            <a:alphaModFix/>
          </a:blip>
          <a:stretch>
            <a:fillRect/>
          </a:stretch>
        </p:blipFill>
        <p:spPr>
          <a:xfrm>
            <a:off x="0" y="654263"/>
            <a:ext cx="9144003" cy="346026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p:cSld name="TITLE_1">
    <p:bg>
      <p:bgPr>
        <a:solidFill>
          <a:srgbClr val="479FDE"/>
        </a:solidFill>
      </p:bgPr>
    </p:bg>
    <p:spTree>
      <p:nvGrpSpPr>
        <p:cNvPr id="12" name="Shape 12"/>
        <p:cNvGrpSpPr/>
        <p:nvPr/>
      </p:nvGrpSpPr>
      <p:grpSpPr>
        <a:xfrm>
          <a:off x="0" y="0"/>
          <a:ext cx="0" cy="0"/>
          <a:chOff x="0" y="0"/>
          <a:chExt cx="0" cy="0"/>
        </a:xfrm>
      </p:grpSpPr>
      <p:sp>
        <p:nvSpPr>
          <p:cNvPr id="13" name="Google Shape;13;p3"/>
          <p:cNvSpPr/>
          <p:nvPr/>
        </p:nvSpPr>
        <p:spPr>
          <a:xfrm>
            <a:off x="8128803" y="16"/>
            <a:ext cx="1015200" cy="10152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4" name="Google Shape;14;p3"/>
          <p:cNvSpPr/>
          <p:nvPr/>
        </p:nvSpPr>
        <p:spPr>
          <a:xfrm flipH="1">
            <a:off x="7113463" y="5"/>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5" name="Google Shape;15;p3"/>
          <p:cNvSpPr/>
          <p:nvPr/>
        </p:nvSpPr>
        <p:spPr>
          <a:xfrm flipH="1" rot="10800000">
            <a:off x="7113588" y="107"/>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6" name="Google Shape;16;p3"/>
          <p:cNvSpPr/>
          <p:nvPr/>
        </p:nvSpPr>
        <p:spPr>
          <a:xfrm rot="10800000">
            <a:off x="6098378" y="97"/>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7" name="Google Shape;17;p3"/>
          <p:cNvSpPr/>
          <p:nvPr/>
        </p:nvSpPr>
        <p:spPr>
          <a:xfrm rot="10800000">
            <a:off x="8128789" y="1015375"/>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18" name="Google Shape;18;p3"/>
          <p:cNvSpPr txBox="1"/>
          <p:nvPr>
            <p:ph type="ctrTitle"/>
          </p:nvPr>
        </p:nvSpPr>
        <p:spPr>
          <a:xfrm>
            <a:off x="460950" y="1053440"/>
            <a:ext cx="8222100" cy="15987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100"/>
              <a:buFont typeface="Roboto Serif"/>
              <a:buNone/>
              <a:defRPr sz="4100">
                <a:solidFill>
                  <a:schemeClr val="lt1"/>
                </a:solidFill>
                <a:latin typeface="Roboto Serif"/>
                <a:ea typeface="Roboto Serif"/>
                <a:cs typeface="Roboto Serif"/>
                <a:sym typeface="Roboto Serif"/>
              </a:defRPr>
            </a:lvl1pPr>
            <a:lvl2pPr lvl="1"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2pPr>
            <a:lvl3pPr lvl="2"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3pPr>
            <a:lvl4pPr lvl="3"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4pPr>
            <a:lvl5pPr lvl="4"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5pPr>
            <a:lvl6pPr lvl="5"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6pPr>
            <a:lvl7pPr lvl="6"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7pPr>
            <a:lvl8pPr lvl="7"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8pPr>
            <a:lvl9pPr lvl="8"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9pPr>
          </a:lstStyle>
          <a:p/>
        </p:txBody>
      </p:sp>
      <p:sp>
        <p:nvSpPr>
          <p:cNvPr id="19" name="Google Shape;19;p3"/>
          <p:cNvSpPr txBox="1"/>
          <p:nvPr>
            <p:ph idx="1" type="subTitle"/>
          </p:nvPr>
        </p:nvSpPr>
        <p:spPr>
          <a:xfrm>
            <a:off x="460938" y="2928713"/>
            <a:ext cx="8222100" cy="432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1pPr>
            <a:lvl2pPr lvl="1"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2pPr>
            <a:lvl3pPr lvl="2"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3pPr>
            <a:lvl4pPr lvl="3"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4pPr>
            <a:lvl5pPr lvl="4"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5pPr>
            <a:lvl6pPr lvl="5"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6pPr>
            <a:lvl7pPr lvl="6"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7pPr>
            <a:lvl8pPr lvl="7"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8pPr>
            <a:lvl9pPr lvl="8" rtl="0">
              <a:lnSpc>
                <a:spcPct val="100000"/>
              </a:lnSpc>
              <a:spcBef>
                <a:spcPts val="0"/>
              </a:spcBef>
              <a:spcAft>
                <a:spcPts val="0"/>
              </a:spcAft>
              <a:buClr>
                <a:schemeClr val="lt1"/>
              </a:buClr>
              <a:buSzPts val="2100"/>
              <a:buFont typeface="Roboto Serif"/>
              <a:buNone/>
              <a:defRPr sz="2100">
                <a:solidFill>
                  <a:schemeClr val="lt1"/>
                </a:solidFill>
                <a:latin typeface="Roboto Serif"/>
                <a:ea typeface="Roboto Serif"/>
                <a:cs typeface="Roboto Serif"/>
                <a:sym typeface="Roboto Serif"/>
              </a:defRPr>
            </a:lvl9pPr>
          </a:lstStyle>
          <a:p/>
        </p:txBody>
      </p:sp>
      <p:sp>
        <p:nvSpPr>
          <p:cNvPr id="20" name="Google Shape;20;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atin typeface="Roboto Serif"/>
                <a:ea typeface="Roboto Serif"/>
                <a:cs typeface="Roboto Serif"/>
                <a:sym typeface="Roboto Serif"/>
              </a:defRPr>
            </a:lvl1pPr>
            <a:lvl2pPr lvl="1" rtl="0">
              <a:buNone/>
              <a:defRPr>
                <a:latin typeface="Roboto Serif"/>
                <a:ea typeface="Roboto Serif"/>
                <a:cs typeface="Roboto Serif"/>
                <a:sym typeface="Roboto Serif"/>
              </a:defRPr>
            </a:lvl2pPr>
            <a:lvl3pPr lvl="2" rtl="0">
              <a:buNone/>
              <a:defRPr>
                <a:latin typeface="Roboto Serif"/>
                <a:ea typeface="Roboto Serif"/>
                <a:cs typeface="Roboto Serif"/>
                <a:sym typeface="Roboto Serif"/>
              </a:defRPr>
            </a:lvl3pPr>
            <a:lvl4pPr lvl="3" rtl="0">
              <a:buNone/>
              <a:defRPr>
                <a:latin typeface="Roboto Serif"/>
                <a:ea typeface="Roboto Serif"/>
                <a:cs typeface="Roboto Serif"/>
                <a:sym typeface="Roboto Serif"/>
              </a:defRPr>
            </a:lvl4pPr>
            <a:lvl5pPr lvl="4" rtl="0">
              <a:buNone/>
              <a:defRPr>
                <a:latin typeface="Roboto Serif"/>
                <a:ea typeface="Roboto Serif"/>
                <a:cs typeface="Roboto Serif"/>
                <a:sym typeface="Roboto Serif"/>
              </a:defRPr>
            </a:lvl5pPr>
            <a:lvl6pPr lvl="5" rtl="0">
              <a:buNone/>
              <a:defRPr>
                <a:latin typeface="Roboto Serif"/>
                <a:ea typeface="Roboto Serif"/>
                <a:cs typeface="Roboto Serif"/>
                <a:sym typeface="Roboto Serif"/>
              </a:defRPr>
            </a:lvl6pPr>
            <a:lvl7pPr lvl="6" rtl="0">
              <a:buNone/>
              <a:defRPr>
                <a:latin typeface="Roboto Serif"/>
                <a:ea typeface="Roboto Serif"/>
                <a:cs typeface="Roboto Serif"/>
                <a:sym typeface="Roboto Serif"/>
              </a:defRPr>
            </a:lvl7pPr>
            <a:lvl8pPr lvl="7" rtl="0">
              <a:buNone/>
              <a:defRPr>
                <a:latin typeface="Roboto Serif"/>
                <a:ea typeface="Roboto Serif"/>
                <a:cs typeface="Roboto Serif"/>
                <a:sym typeface="Roboto Serif"/>
              </a:defRPr>
            </a:lvl8pPr>
            <a:lvl9pPr lvl="8" rtl="0">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21" name="Google Shape;21;p3"/>
          <p:cNvPicPr preferRelativeResize="0"/>
          <p:nvPr/>
        </p:nvPicPr>
        <p:blipFill>
          <a:blip r:embed="rId2">
            <a:alphaModFix/>
          </a:blip>
          <a:stretch>
            <a:fillRect/>
          </a:stretch>
        </p:blipFill>
        <p:spPr>
          <a:xfrm>
            <a:off x="0" y="4569262"/>
            <a:ext cx="1473224" cy="5574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p:cSld name="TITLE_1_1">
    <p:bg>
      <p:bgPr>
        <a:solidFill>
          <a:srgbClr val="479FDE"/>
        </a:solidFill>
      </p:bgPr>
    </p:bg>
    <p:spTree>
      <p:nvGrpSpPr>
        <p:cNvPr id="22" name="Shape 22"/>
        <p:cNvGrpSpPr/>
        <p:nvPr/>
      </p:nvGrpSpPr>
      <p:grpSpPr>
        <a:xfrm>
          <a:off x="0" y="0"/>
          <a:ext cx="0" cy="0"/>
          <a:chOff x="0" y="0"/>
          <a:chExt cx="0" cy="0"/>
        </a:xfrm>
      </p:grpSpPr>
      <p:sp>
        <p:nvSpPr>
          <p:cNvPr id="23" name="Google Shape;23;p4"/>
          <p:cNvSpPr/>
          <p:nvPr/>
        </p:nvSpPr>
        <p:spPr>
          <a:xfrm>
            <a:off x="8128803" y="16"/>
            <a:ext cx="1015200" cy="10152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4" name="Google Shape;24;p4"/>
          <p:cNvSpPr/>
          <p:nvPr/>
        </p:nvSpPr>
        <p:spPr>
          <a:xfrm flipH="1">
            <a:off x="7113463" y="5"/>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5" name="Google Shape;25;p4"/>
          <p:cNvSpPr/>
          <p:nvPr/>
        </p:nvSpPr>
        <p:spPr>
          <a:xfrm flipH="1" rot="10800000">
            <a:off x="7113588" y="107"/>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6" name="Google Shape;26;p4"/>
          <p:cNvSpPr/>
          <p:nvPr/>
        </p:nvSpPr>
        <p:spPr>
          <a:xfrm rot="10800000">
            <a:off x="6098378" y="97"/>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7" name="Google Shape;27;p4"/>
          <p:cNvSpPr/>
          <p:nvPr/>
        </p:nvSpPr>
        <p:spPr>
          <a:xfrm rot="10800000">
            <a:off x="8128789" y="1015375"/>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28" name="Google Shape;28;p4"/>
          <p:cNvSpPr txBox="1"/>
          <p:nvPr>
            <p:ph type="ctrTitle"/>
          </p:nvPr>
        </p:nvSpPr>
        <p:spPr>
          <a:xfrm>
            <a:off x="460950" y="1455827"/>
            <a:ext cx="8222100" cy="15987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100"/>
              <a:buFont typeface="Roboto Serif"/>
              <a:buNone/>
              <a:defRPr sz="4100">
                <a:solidFill>
                  <a:schemeClr val="lt1"/>
                </a:solidFill>
                <a:latin typeface="Roboto Serif"/>
                <a:ea typeface="Roboto Serif"/>
                <a:cs typeface="Roboto Serif"/>
                <a:sym typeface="Roboto Serif"/>
              </a:defRPr>
            </a:lvl1pPr>
            <a:lvl2pPr lvl="1"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2pPr>
            <a:lvl3pPr lvl="2"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3pPr>
            <a:lvl4pPr lvl="3"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4pPr>
            <a:lvl5pPr lvl="4"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5pPr>
            <a:lvl6pPr lvl="5"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6pPr>
            <a:lvl7pPr lvl="6"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7pPr>
            <a:lvl8pPr lvl="7"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8pPr>
            <a:lvl9pPr lvl="8" rtl="0">
              <a:spcBef>
                <a:spcPts val="0"/>
              </a:spcBef>
              <a:spcAft>
                <a:spcPts val="0"/>
              </a:spcAft>
              <a:buClr>
                <a:schemeClr val="lt1"/>
              </a:buClr>
              <a:buSzPts val="4200"/>
              <a:buFont typeface="Roboto Serif"/>
              <a:buNone/>
              <a:defRPr sz="4200">
                <a:solidFill>
                  <a:schemeClr val="lt1"/>
                </a:solidFill>
                <a:latin typeface="Roboto Serif"/>
                <a:ea typeface="Roboto Serif"/>
                <a:cs typeface="Roboto Serif"/>
                <a:sym typeface="Roboto Serif"/>
              </a:defRPr>
            </a:lvl9pPr>
          </a:lstStyle>
          <a:p/>
        </p:txBody>
      </p:sp>
      <p:sp>
        <p:nvSpPr>
          <p:cNvPr id="29" name="Google Shape;29;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atin typeface="Roboto Serif"/>
                <a:ea typeface="Roboto Serif"/>
                <a:cs typeface="Roboto Serif"/>
                <a:sym typeface="Roboto Serif"/>
              </a:defRPr>
            </a:lvl1pPr>
            <a:lvl2pPr lvl="1" rtl="0">
              <a:buNone/>
              <a:defRPr>
                <a:latin typeface="Roboto Serif"/>
                <a:ea typeface="Roboto Serif"/>
                <a:cs typeface="Roboto Serif"/>
                <a:sym typeface="Roboto Serif"/>
              </a:defRPr>
            </a:lvl2pPr>
            <a:lvl3pPr lvl="2" rtl="0">
              <a:buNone/>
              <a:defRPr>
                <a:latin typeface="Roboto Serif"/>
                <a:ea typeface="Roboto Serif"/>
                <a:cs typeface="Roboto Serif"/>
                <a:sym typeface="Roboto Serif"/>
              </a:defRPr>
            </a:lvl3pPr>
            <a:lvl4pPr lvl="3" rtl="0">
              <a:buNone/>
              <a:defRPr>
                <a:latin typeface="Roboto Serif"/>
                <a:ea typeface="Roboto Serif"/>
                <a:cs typeface="Roboto Serif"/>
                <a:sym typeface="Roboto Serif"/>
              </a:defRPr>
            </a:lvl4pPr>
            <a:lvl5pPr lvl="4" rtl="0">
              <a:buNone/>
              <a:defRPr>
                <a:latin typeface="Roboto Serif"/>
                <a:ea typeface="Roboto Serif"/>
                <a:cs typeface="Roboto Serif"/>
                <a:sym typeface="Roboto Serif"/>
              </a:defRPr>
            </a:lvl5pPr>
            <a:lvl6pPr lvl="5" rtl="0">
              <a:buNone/>
              <a:defRPr>
                <a:latin typeface="Roboto Serif"/>
                <a:ea typeface="Roboto Serif"/>
                <a:cs typeface="Roboto Serif"/>
                <a:sym typeface="Roboto Serif"/>
              </a:defRPr>
            </a:lvl6pPr>
            <a:lvl7pPr lvl="6" rtl="0">
              <a:buNone/>
              <a:defRPr>
                <a:latin typeface="Roboto Serif"/>
                <a:ea typeface="Roboto Serif"/>
                <a:cs typeface="Roboto Serif"/>
                <a:sym typeface="Roboto Serif"/>
              </a:defRPr>
            </a:lvl7pPr>
            <a:lvl8pPr lvl="7" rtl="0">
              <a:buNone/>
              <a:defRPr>
                <a:latin typeface="Roboto Serif"/>
                <a:ea typeface="Roboto Serif"/>
                <a:cs typeface="Roboto Serif"/>
                <a:sym typeface="Roboto Serif"/>
              </a:defRPr>
            </a:lvl8pPr>
            <a:lvl9pPr lvl="8" rtl="0">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30" name="Google Shape;30;p4"/>
          <p:cNvPicPr preferRelativeResize="0"/>
          <p:nvPr/>
        </p:nvPicPr>
        <p:blipFill>
          <a:blip r:embed="rId2">
            <a:alphaModFix/>
          </a:blip>
          <a:stretch>
            <a:fillRect/>
          </a:stretch>
        </p:blipFill>
        <p:spPr>
          <a:xfrm>
            <a:off x="0" y="4569262"/>
            <a:ext cx="1473224" cy="5574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grpSp>
        <p:nvGrpSpPr>
          <p:cNvPr id="32" name="Google Shape;32;p5"/>
          <p:cNvGrpSpPr/>
          <p:nvPr/>
        </p:nvGrpSpPr>
        <p:grpSpPr>
          <a:xfrm>
            <a:off x="0" y="3903669"/>
            <a:ext cx="9144000" cy="1239925"/>
            <a:chOff x="0" y="3903669"/>
            <a:chExt cx="9144000" cy="1239925"/>
          </a:xfrm>
        </p:grpSpPr>
        <p:sp>
          <p:nvSpPr>
            <p:cNvPr id="33" name="Google Shape;33;p5"/>
            <p:cNvSpPr/>
            <p:nvPr/>
          </p:nvSpPr>
          <p:spPr>
            <a:xfrm>
              <a:off x="8154895" y="3903669"/>
              <a:ext cx="989100" cy="9879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4" name="Google Shape;34;p5"/>
            <p:cNvSpPr/>
            <p:nvPr/>
          </p:nvSpPr>
          <p:spPr>
            <a:xfrm flipH="1">
              <a:off x="6181163" y="3903669"/>
              <a:ext cx="989100" cy="9879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5" name="Google Shape;35;p5"/>
            <p:cNvSpPr/>
            <p:nvPr/>
          </p:nvSpPr>
          <p:spPr>
            <a:xfrm>
              <a:off x="7170274" y="3903669"/>
              <a:ext cx="989100" cy="987900"/>
            </a:xfrm>
            <a:prstGeom prst="rect">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6" name="Google Shape;36;p5"/>
            <p:cNvSpPr/>
            <p:nvPr/>
          </p:nvSpPr>
          <p:spPr>
            <a:xfrm rot="10800000">
              <a:off x="8154757" y="3903682"/>
              <a:ext cx="989100" cy="9879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37" name="Google Shape;37;p5"/>
            <p:cNvSpPr/>
            <p:nvPr/>
          </p:nvSpPr>
          <p:spPr>
            <a:xfrm>
              <a:off x="0" y="4891594"/>
              <a:ext cx="9144000" cy="2520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grpSp>
      <p:sp>
        <p:nvSpPr>
          <p:cNvPr id="38" name="Google Shape;38;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a:solidFill>
                  <a:srgbClr val="0C9AFF"/>
                </a:solidFill>
                <a:latin typeface="Roboto Serif"/>
                <a:ea typeface="Roboto Serif"/>
                <a:cs typeface="Roboto Serif"/>
                <a:sym typeface="Roboto Serif"/>
              </a:defRPr>
            </a:lvl1pPr>
            <a:lvl2pPr lvl="1">
              <a:spcBef>
                <a:spcPts val="0"/>
              </a:spcBef>
              <a:spcAft>
                <a:spcPts val="0"/>
              </a:spcAft>
              <a:buSzPts val="3000"/>
              <a:buFont typeface="Roboto Serif"/>
              <a:buNone/>
              <a:defRPr>
                <a:latin typeface="Roboto Serif"/>
                <a:ea typeface="Roboto Serif"/>
                <a:cs typeface="Roboto Serif"/>
                <a:sym typeface="Roboto Serif"/>
              </a:defRPr>
            </a:lvl2pPr>
            <a:lvl3pPr lvl="2">
              <a:spcBef>
                <a:spcPts val="0"/>
              </a:spcBef>
              <a:spcAft>
                <a:spcPts val="0"/>
              </a:spcAft>
              <a:buSzPts val="3000"/>
              <a:buFont typeface="Roboto Serif"/>
              <a:buNone/>
              <a:defRPr>
                <a:latin typeface="Roboto Serif"/>
                <a:ea typeface="Roboto Serif"/>
                <a:cs typeface="Roboto Serif"/>
                <a:sym typeface="Roboto Serif"/>
              </a:defRPr>
            </a:lvl3pPr>
            <a:lvl4pPr lvl="3">
              <a:spcBef>
                <a:spcPts val="0"/>
              </a:spcBef>
              <a:spcAft>
                <a:spcPts val="0"/>
              </a:spcAft>
              <a:buSzPts val="3000"/>
              <a:buFont typeface="Roboto Serif"/>
              <a:buNone/>
              <a:defRPr>
                <a:latin typeface="Roboto Serif"/>
                <a:ea typeface="Roboto Serif"/>
                <a:cs typeface="Roboto Serif"/>
                <a:sym typeface="Roboto Serif"/>
              </a:defRPr>
            </a:lvl4pPr>
            <a:lvl5pPr lvl="4">
              <a:spcBef>
                <a:spcPts val="0"/>
              </a:spcBef>
              <a:spcAft>
                <a:spcPts val="0"/>
              </a:spcAft>
              <a:buSzPts val="3000"/>
              <a:buFont typeface="Roboto Serif"/>
              <a:buNone/>
              <a:defRPr>
                <a:latin typeface="Roboto Serif"/>
                <a:ea typeface="Roboto Serif"/>
                <a:cs typeface="Roboto Serif"/>
                <a:sym typeface="Roboto Serif"/>
              </a:defRPr>
            </a:lvl5pPr>
            <a:lvl6pPr lvl="5">
              <a:spcBef>
                <a:spcPts val="0"/>
              </a:spcBef>
              <a:spcAft>
                <a:spcPts val="0"/>
              </a:spcAft>
              <a:buSzPts val="3000"/>
              <a:buFont typeface="Roboto Serif"/>
              <a:buNone/>
              <a:defRPr>
                <a:latin typeface="Roboto Serif"/>
                <a:ea typeface="Roboto Serif"/>
                <a:cs typeface="Roboto Serif"/>
                <a:sym typeface="Roboto Serif"/>
              </a:defRPr>
            </a:lvl6pPr>
            <a:lvl7pPr lvl="6">
              <a:spcBef>
                <a:spcPts val="0"/>
              </a:spcBef>
              <a:spcAft>
                <a:spcPts val="0"/>
              </a:spcAft>
              <a:buSzPts val="3000"/>
              <a:buFont typeface="Roboto Serif"/>
              <a:buNone/>
              <a:defRPr>
                <a:latin typeface="Roboto Serif"/>
                <a:ea typeface="Roboto Serif"/>
                <a:cs typeface="Roboto Serif"/>
                <a:sym typeface="Roboto Serif"/>
              </a:defRPr>
            </a:lvl7pPr>
            <a:lvl8pPr lvl="7">
              <a:spcBef>
                <a:spcPts val="0"/>
              </a:spcBef>
              <a:spcAft>
                <a:spcPts val="0"/>
              </a:spcAft>
              <a:buSzPts val="3000"/>
              <a:buFont typeface="Roboto Serif"/>
              <a:buNone/>
              <a:defRPr>
                <a:latin typeface="Roboto Serif"/>
                <a:ea typeface="Roboto Serif"/>
                <a:cs typeface="Roboto Serif"/>
                <a:sym typeface="Roboto Serif"/>
              </a:defRPr>
            </a:lvl8pPr>
            <a:lvl9pPr lvl="8">
              <a:spcBef>
                <a:spcPts val="0"/>
              </a:spcBef>
              <a:spcAft>
                <a:spcPts val="0"/>
              </a:spcAft>
              <a:buSzPts val="3000"/>
              <a:buFont typeface="Roboto Serif"/>
              <a:buNone/>
              <a:defRPr>
                <a:latin typeface="Roboto Serif"/>
                <a:ea typeface="Roboto Serif"/>
                <a:cs typeface="Roboto Serif"/>
                <a:sym typeface="Roboto Serif"/>
              </a:defRPr>
            </a:lvl9pPr>
          </a:lstStyle>
          <a:p/>
        </p:txBody>
      </p:sp>
      <p:sp>
        <p:nvSpPr>
          <p:cNvPr id="39" name="Google Shape;39;p5"/>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lvl1pPr indent="-342900" lvl="0" marL="45720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sp>
        <p:nvSpPr>
          <p:cNvPr id="40" name="Google Shape;40;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atin typeface="Roboto Serif"/>
                <a:ea typeface="Roboto Serif"/>
                <a:cs typeface="Roboto Serif"/>
                <a:sym typeface="Roboto Serif"/>
              </a:defRPr>
            </a:lvl1pPr>
            <a:lvl2pPr lvl="1">
              <a:buNone/>
              <a:defRPr>
                <a:latin typeface="Roboto Serif"/>
                <a:ea typeface="Roboto Serif"/>
                <a:cs typeface="Roboto Serif"/>
                <a:sym typeface="Roboto Serif"/>
              </a:defRPr>
            </a:lvl2pPr>
            <a:lvl3pPr lvl="2">
              <a:buNone/>
              <a:defRPr>
                <a:latin typeface="Roboto Serif"/>
                <a:ea typeface="Roboto Serif"/>
                <a:cs typeface="Roboto Serif"/>
                <a:sym typeface="Roboto Serif"/>
              </a:defRPr>
            </a:lvl3pPr>
            <a:lvl4pPr lvl="3">
              <a:buNone/>
              <a:defRPr>
                <a:latin typeface="Roboto Serif"/>
                <a:ea typeface="Roboto Serif"/>
                <a:cs typeface="Roboto Serif"/>
                <a:sym typeface="Roboto Serif"/>
              </a:defRPr>
            </a:lvl4pPr>
            <a:lvl5pPr lvl="4">
              <a:buNone/>
              <a:defRPr>
                <a:latin typeface="Roboto Serif"/>
                <a:ea typeface="Roboto Serif"/>
                <a:cs typeface="Roboto Serif"/>
                <a:sym typeface="Roboto Serif"/>
              </a:defRPr>
            </a:lvl5pPr>
            <a:lvl6pPr lvl="5">
              <a:buNone/>
              <a:defRPr>
                <a:latin typeface="Roboto Serif"/>
                <a:ea typeface="Roboto Serif"/>
                <a:cs typeface="Roboto Serif"/>
                <a:sym typeface="Roboto Serif"/>
              </a:defRPr>
            </a:lvl6pPr>
            <a:lvl7pPr lvl="6">
              <a:buNone/>
              <a:defRPr>
                <a:latin typeface="Roboto Serif"/>
                <a:ea typeface="Roboto Serif"/>
                <a:cs typeface="Roboto Serif"/>
                <a:sym typeface="Roboto Serif"/>
              </a:defRPr>
            </a:lvl7pPr>
            <a:lvl8pPr lvl="7">
              <a:buNone/>
              <a:defRPr>
                <a:latin typeface="Roboto Serif"/>
                <a:ea typeface="Roboto Serif"/>
                <a:cs typeface="Roboto Serif"/>
                <a:sym typeface="Roboto Serif"/>
              </a:defRPr>
            </a:lvl8pPr>
            <a:lvl9pPr lvl="8">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41" name="Google Shape;41;p5"/>
          <p:cNvPicPr preferRelativeResize="0"/>
          <p:nvPr/>
        </p:nvPicPr>
        <p:blipFill>
          <a:blip r:embed="rId2">
            <a:alphaModFix/>
          </a:blip>
          <a:stretch>
            <a:fillRect/>
          </a:stretch>
        </p:blipFill>
        <p:spPr>
          <a:xfrm>
            <a:off x="0" y="4383974"/>
            <a:ext cx="1473226" cy="55865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2" name="Shape 42"/>
        <p:cNvGrpSpPr/>
        <p:nvPr/>
      </p:nvGrpSpPr>
      <p:grpSpPr>
        <a:xfrm>
          <a:off x="0" y="0"/>
          <a:ext cx="0" cy="0"/>
          <a:chOff x="0" y="0"/>
          <a:chExt cx="0" cy="0"/>
        </a:xfrm>
      </p:grpSpPr>
      <p:sp>
        <p:nvSpPr>
          <p:cNvPr id="43" name="Google Shape;43;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a:solidFill>
                  <a:srgbClr val="0C9AFF"/>
                </a:solidFill>
                <a:latin typeface="Roboto Serif"/>
                <a:ea typeface="Roboto Serif"/>
                <a:cs typeface="Roboto Serif"/>
                <a:sym typeface="Roboto Serif"/>
              </a:defRPr>
            </a:lvl1pPr>
            <a:lvl2pPr lvl="1">
              <a:spcBef>
                <a:spcPts val="0"/>
              </a:spcBef>
              <a:spcAft>
                <a:spcPts val="0"/>
              </a:spcAft>
              <a:buSzPts val="3000"/>
              <a:buFont typeface="Roboto Serif"/>
              <a:buNone/>
              <a:defRPr>
                <a:latin typeface="Roboto Serif"/>
                <a:ea typeface="Roboto Serif"/>
                <a:cs typeface="Roboto Serif"/>
                <a:sym typeface="Roboto Serif"/>
              </a:defRPr>
            </a:lvl2pPr>
            <a:lvl3pPr lvl="2">
              <a:spcBef>
                <a:spcPts val="0"/>
              </a:spcBef>
              <a:spcAft>
                <a:spcPts val="0"/>
              </a:spcAft>
              <a:buSzPts val="3000"/>
              <a:buFont typeface="Roboto Serif"/>
              <a:buNone/>
              <a:defRPr>
                <a:latin typeface="Roboto Serif"/>
                <a:ea typeface="Roboto Serif"/>
                <a:cs typeface="Roboto Serif"/>
                <a:sym typeface="Roboto Serif"/>
              </a:defRPr>
            </a:lvl3pPr>
            <a:lvl4pPr lvl="3">
              <a:spcBef>
                <a:spcPts val="0"/>
              </a:spcBef>
              <a:spcAft>
                <a:spcPts val="0"/>
              </a:spcAft>
              <a:buSzPts val="3000"/>
              <a:buFont typeface="Roboto Serif"/>
              <a:buNone/>
              <a:defRPr>
                <a:latin typeface="Roboto Serif"/>
                <a:ea typeface="Roboto Serif"/>
                <a:cs typeface="Roboto Serif"/>
                <a:sym typeface="Roboto Serif"/>
              </a:defRPr>
            </a:lvl4pPr>
            <a:lvl5pPr lvl="4">
              <a:spcBef>
                <a:spcPts val="0"/>
              </a:spcBef>
              <a:spcAft>
                <a:spcPts val="0"/>
              </a:spcAft>
              <a:buSzPts val="3000"/>
              <a:buFont typeface="Roboto Serif"/>
              <a:buNone/>
              <a:defRPr>
                <a:latin typeface="Roboto Serif"/>
                <a:ea typeface="Roboto Serif"/>
                <a:cs typeface="Roboto Serif"/>
                <a:sym typeface="Roboto Serif"/>
              </a:defRPr>
            </a:lvl5pPr>
            <a:lvl6pPr lvl="5">
              <a:spcBef>
                <a:spcPts val="0"/>
              </a:spcBef>
              <a:spcAft>
                <a:spcPts val="0"/>
              </a:spcAft>
              <a:buSzPts val="3000"/>
              <a:buFont typeface="Roboto Serif"/>
              <a:buNone/>
              <a:defRPr>
                <a:latin typeface="Roboto Serif"/>
                <a:ea typeface="Roboto Serif"/>
                <a:cs typeface="Roboto Serif"/>
                <a:sym typeface="Roboto Serif"/>
              </a:defRPr>
            </a:lvl6pPr>
            <a:lvl7pPr lvl="6">
              <a:spcBef>
                <a:spcPts val="0"/>
              </a:spcBef>
              <a:spcAft>
                <a:spcPts val="0"/>
              </a:spcAft>
              <a:buSzPts val="3000"/>
              <a:buFont typeface="Roboto Serif"/>
              <a:buNone/>
              <a:defRPr>
                <a:latin typeface="Roboto Serif"/>
                <a:ea typeface="Roboto Serif"/>
                <a:cs typeface="Roboto Serif"/>
                <a:sym typeface="Roboto Serif"/>
              </a:defRPr>
            </a:lvl7pPr>
            <a:lvl8pPr lvl="7">
              <a:spcBef>
                <a:spcPts val="0"/>
              </a:spcBef>
              <a:spcAft>
                <a:spcPts val="0"/>
              </a:spcAft>
              <a:buSzPts val="3000"/>
              <a:buFont typeface="Roboto Serif"/>
              <a:buNone/>
              <a:defRPr>
                <a:latin typeface="Roboto Serif"/>
                <a:ea typeface="Roboto Serif"/>
                <a:cs typeface="Roboto Serif"/>
                <a:sym typeface="Roboto Serif"/>
              </a:defRPr>
            </a:lvl8pPr>
            <a:lvl9pPr lvl="8">
              <a:spcBef>
                <a:spcPts val="0"/>
              </a:spcBef>
              <a:spcAft>
                <a:spcPts val="0"/>
              </a:spcAft>
              <a:buSzPts val="3000"/>
              <a:buFont typeface="Roboto Serif"/>
              <a:buNone/>
              <a:defRPr>
                <a:latin typeface="Roboto Serif"/>
                <a:ea typeface="Roboto Serif"/>
                <a:cs typeface="Roboto Serif"/>
                <a:sym typeface="Roboto Serif"/>
              </a:defRPr>
            </a:lvl9pPr>
          </a:lstStyle>
          <a:p/>
        </p:txBody>
      </p:sp>
      <p:sp>
        <p:nvSpPr>
          <p:cNvPr id="44" name="Google Shape;44;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sp>
        <p:nvSpPr>
          <p:cNvPr id="45" name="Google Shape;45;p6"/>
          <p:cNvSpPr txBox="1"/>
          <p:nvPr>
            <p:ph idx="1" type="body"/>
          </p:nvPr>
        </p:nvSpPr>
        <p:spPr>
          <a:xfrm>
            <a:off x="311700" y="1017800"/>
            <a:ext cx="4150500" cy="3339000"/>
          </a:xfrm>
          <a:prstGeom prst="rect">
            <a:avLst/>
          </a:prstGeom>
        </p:spPr>
        <p:txBody>
          <a:bodyPr anchorCtr="0" anchor="t" bIns="91425" lIns="91425" spcFirstLastPara="1" rIns="91425" wrap="square" tIns="91425">
            <a:normAutofit/>
          </a:bodyPr>
          <a:lstStyle>
            <a:lvl1pPr indent="-342900" lvl="0" marL="457200" rtl="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sp>
        <p:nvSpPr>
          <p:cNvPr id="46" name="Google Shape;46;p6"/>
          <p:cNvSpPr txBox="1"/>
          <p:nvPr>
            <p:ph idx="2" type="body"/>
          </p:nvPr>
        </p:nvSpPr>
        <p:spPr>
          <a:xfrm>
            <a:off x="4681800" y="1017800"/>
            <a:ext cx="4150500" cy="3339000"/>
          </a:xfrm>
          <a:prstGeom prst="rect">
            <a:avLst/>
          </a:prstGeom>
        </p:spPr>
        <p:txBody>
          <a:bodyPr anchorCtr="0" anchor="t" bIns="91425" lIns="91425" spcFirstLastPara="1" rIns="91425" wrap="square" tIns="91425">
            <a:normAutofit/>
          </a:bodyPr>
          <a:lstStyle>
            <a:lvl1pPr indent="-342900" lvl="0" marL="457200" rtl="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pic>
        <p:nvPicPr>
          <p:cNvPr id="47" name="Google Shape;47;p6"/>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7"/>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a:solidFill>
                  <a:srgbClr val="0C9AFF"/>
                </a:solidFill>
                <a:latin typeface="Roboto Serif"/>
                <a:ea typeface="Roboto Serif"/>
                <a:cs typeface="Roboto Serif"/>
                <a:sym typeface="Roboto Serif"/>
              </a:defRPr>
            </a:lvl1pPr>
            <a:lvl2pPr lvl="1">
              <a:spcBef>
                <a:spcPts val="0"/>
              </a:spcBef>
              <a:spcAft>
                <a:spcPts val="0"/>
              </a:spcAft>
              <a:buSzPts val="3000"/>
              <a:buFont typeface="Roboto Serif"/>
              <a:buNone/>
              <a:defRPr>
                <a:latin typeface="Roboto Serif"/>
                <a:ea typeface="Roboto Serif"/>
                <a:cs typeface="Roboto Serif"/>
                <a:sym typeface="Roboto Serif"/>
              </a:defRPr>
            </a:lvl2pPr>
            <a:lvl3pPr lvl="2">
              <a:spcBef>
                <a:spcPts val="0"/>
              </a:spcBef>
              <a:spcAft>
                <a:spcPts val="0"/>
              </a:spcAft>
              <a:buSzPts val="3000"/>
              <a:buFont typeface="Roboto Serif"/>
              <a:buNone/>
              <a:defRPr>
                <a:latin typeface="Roboto Serif"/>
                <a:ea typeface="Roboto Serif"/>
                <a:cs typeface="Roboto Serif"/>
                <a:sym typeface="Roboto Serif"/>
              </a:defRPr>
            </a:lvl3pPr>
            <a:lvl4pPr lvl="3">
              <a:spcBef>
                <a:spcPts val="0"/>
              </a:spcBef>
              <a:spcAft>
                <a:spcPts val="0"/>
              </a:spcAft>
              <a:buSzPts val="3000"/>
              <a:buFont typeface="Roboto Serif"/>
              <a:buNone/>
              <a:defRPr>
                <a:latin typeface="Roboto Serif"/>
                <a:ea typeface="Roboto Serif"/>
                <a:cs typeface="Roboto Serif"/>
                <a:sym typeface="Roboto Serif"/>
              </a:defRPr>
            </a:lvl4pPr>
            <a:lvl5pPr lvl="4">
              <a:spcBef>
                <a:spcPts val="0"/>
              </a:spcBef>
              <a:spcAft>
                <a:spcPts val="0"/>
              </a:spcAft>
              <a:buSzPts val="3000"/>
              <a:buFont typeface="Roboto Serif"/>
              <a:buNone/>
              <a:defRPr>
                <a:latin typeface="Roboto Serif"/>
                <a:ea typeface="Roboto Serif"/>
                <a:cs typeface="Roboto Serif"/>
                <a:sym typeface="Roboto Serif"/>
              </a:defRPr>
            </a:lvl5pPr>
            <a:lvl6pPr lvl="5">
              <a:spcBef>
                <a:spcPts val="0"/>
              </a:spcBef>
              <a:spcAft>
                <a:spcPts val="0"/>
              </a:spcAft>
              <a:buSzPts val="3000"/>
              <a:buFont typeface="Roboto Serif"/>
              <a:buNone/>
              <a:defRPr>
                <a:latin typeface="Roboto Serif"/>
                <a:ea typeface="Roboto Serif"/>
                <a:cs typeface="Roboto Serif"/>
                <a:sym typeface="Roboto Serif"/>
              </a:defRPr>
            </a:lvl6pPr>
            <a:lvl7pPr lvl="6">
              <a:spcBef>
                <a:spcPts val="0"/>
              </a:spcBef>
              <a:spcAft>
                <a:spcPts val="0"/>
              </a:spcAft>
              <a:buSzPts val="3000"/>
              <a:buFont typeface="Roboto Serif"/>
              <a:buNone/>
              <a:defRPr>
                <a:latin typeface="Roboto Serif"/>
                <a:ea typeface="Roboto Serif"/>
                <a:cs typeface="Roboto Serif"/>
                <a:sym typeface="Roboto Serif"/>
              </a:defRPr>
            </a:lvl7pPr>
            <a:lvl8pPr lvl="7">
              <a:spcBef>
                <a:spcPts val="0"/>
              </a:spcBef>
              <a:spcAft>
                <a:spcPts val="0"/>
              </a:spcAft>
              <a:buSzPts val="3000"/>
              <a:buFont typeface="Roboto Serif"/>
              <a:buNone/>
              <a:defRPr>
                <a:latin typeface="Roboto Serif"/>
                <a:ea typeface="Roboto Serif"/>
                <a:cs typeface="Roboto Serif"/>
                <a:sym typeface="Roboto Serif"/>
              </a:defRPr>
            </a:lvl8pPr>
            <a:lvl9pPr lvl="8">
              <a:spcBef>
                <a:spcPts val="0"/>
              </a:spcBef>
              <a:spcAft>
                <a:spcPts val="0"/>
              </a:spcAft>
              <a:buSzPts val="3000"/>
              <a:buFont typeface="Roboto Serif"/>
              <a:buNone/>
              <a:defRPr>
                <a:latin typeface="Roboto Serif"/>
                <a:ea typeface="Roboto Serif"/>
                <a:cs typeface="Roboto Serif"/>
                <a:sym typeface="Roboto Serif"/>
              </a:defRPr>
            </a:lvl9pPr>
          </a:lstStyle>
          <a:p/>
        </p:txBody>
      </p:sp>
      <p:sp>
        <p:nvSpPr>
          <p:cNvPr id="50" name="Google Shape;50;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51" name="Google Shape;51;p7"/>
          <p:cNvPicPr preferRelativeResize="0"/>
          <p:nvPr/>
        </p:nvPicPr>
        <p:blipFill>
          <a:blip r:embed="rId2">
            <a:alphaModFix/>
          </a:blip>
          <a:stretch>
            <a:fillRect/>
          </a:stretch>
        </p:blipFill>
        <p:spPr>
          <a:xfrm>
            <a:off x="0" y="4594299"/>
            <a:ext cx="1473226" cy="558651"/>
          </a:xfrm>
          <a:prstGeom prst="rect">
            <a:avLst/>
          </a:prstGeom>
          <a:noFill/>
          <a:ln>
            <a:noFill/>
          </a:ln>
        </p:spPr>
      </p:pic>
      <p:sp>
        <p:nvSpPr>
          <p:cNvPr id="52" name="Google Shape;52;p7"/>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lvl1pPr indent="-342900" lvl="0" marL="457200" rtl="0">
              <a:lnSpc>
                <a:spcPct val="200000"/>
              </a:lnSpc>
              <a:spcBef>
                <a:spcPts val="0"/>
              </a:spcBef>
              <a:spcAft>
                <a:spcPts val="0"/>
              </a:spcAft>
              <a:buSzPts val="1800"/>
              <a:buFont typeface="Roboto Serif"/>
              <a:buChar char="●"/>
              <a:defRPr>
                <a:latin typeface="Roboto Serif"/>
                <a:ea typeface="Roboto Serif"/>
                <a:cs typeface="Roboto Serif"/>
                <a:sym typeface="Roboto Serif"/>
              </a:defRPr>
            </a:lvl1pPr>
            <a:lvl2pPr indent="-317500" lvl="1" marL="914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2pPr>
            <a:lvl3pPr indent="-317500" lvl="2" marL="1371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3pPr>
            <a:lvl4pPr indent="-317500" lvl="3" marL="1828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4pPr>
            <a:lvl5pPr indent="-317500" lvl="4" marL="22860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5pPr>
            <a:lvl6pPr indent="-317500" lvl="5" marL="27432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6pPr>
            <a:lvl7pPr indent="-317500" lvl="6" marL="32004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7pPr>
            <a:lvl8pPr indent="-317500" lvl="7" marL="36576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8pPr>
            <a:lvl9pPr indent="-317500" lvl="8" marL="4114800" rtl="0">
              <a:lnSpc>
                <a:spcPct val="200000"/>
              </a:lnSpc>
              <a:spcBef>
                <a:spcPts val="0"/>
              </a:spcBef>
              <a:spcAft>
                <a:spcPts val="0"/>
              </a:spcAft>
              <a:buSzPts val="1400"/>
              <a:buFont typeface="Roboto Serif"/>
              <a:buChar char="■"/>
              <a:defRPr>
                <a:latin typeface="Roboto Serif"/>
                <a:ea typeface="Roboto Serif"/>
                <a:cs typeface="Roboto Serif"/>
                <a:sym typeface="Roboto Serif"/>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Clr>
                <a:srgbClr val="0C9AFF"/>
              </a:buClr>
              <a:buSzPts val="2400"/>
              <a:buFont typeface="Roboto Serif"/>
              <a:buNone/>
              <a:defRPr sz="2400">
                <a:solidFill>
                  <a:srgbClr val="0C9AFF"/>
                </a:solidFill>
                <a:latin typeface="Roboto Serif"/>
                <a:ea typeface="Roboto Serif"/>
                <a:cs typeface="Roboto Serif"/>
                <a:sym typeface="Roboto Serif"/>
              </a:defRPr>
            </a:lvl1pPr>
            <a:lvl2pPr lvl="1">
              <a:spcBef>
                <a:spcPts val="0"/>
              </a:spcBef>
              <a:spcAft>
                <a:spcPts val="0"/>
              </a:spcAft>
              <a:buSzPts val="2400"/>
              <a:buFont typeface="Roboto Serif"/>
              <a:buNone/>
              <a:defRPr sz="2400">
                <a:latin typeface="Roboto Serif"/>
                <a:ea typeface="Roboto Serif"/>
                <a:cs typeface="Roboto Serif"/>
                <a:sym typeface="Roboto Serif"/>
              </a:defRPr>
            </a:lvl2pPr>
            <a:lvl3pPr lvl="2">
              <a:spcBef>
                <a:spcPts val="0"/>
              </a:spcBef>
              <a:spcAft>
                <a:spcPts val="0"/>
              </a:spcAft>
              <a:buSzPts val="2400"/>
              <a:buFont typeface="Roboto Serif"/>
              <a:buNone/>
              <a:defRPr sz="2400">
                <a:latin typeface="Roboto Serif"/>
                <a:ea typeface="Roboto Serif"/>
                <a:cs typeface="Roboto Serif"/>
                <a:sym typeface="Roboto Serif"/>
              </a:defRPr>
            </a:lvl3pPr>
            <a:lvl4pPr lvl="3">
              <a:spcBef>
                <a:spcPts val="0"/>
              </a:spcBef>
              <a:spcAft>
                <a:spcPts val="0"/>
              </a:spcAft>
              <a:buSzPts val="2400"/>
              <a:buFont typeface="Roboto Serif"/>
              <a:buNone/>
              <a:defRPr sz="2400">
                <a:latin typeface="Roboto Serif"/>
                <a:ea typeface="Roboto Serif"/>
                <a:cs typeface="Roboto Serif"/>
                <a:sym typeface="Roboto Serif"/>
              </a:defRPr>
            </a:lvl4pPr>
            <a:lvl5pPr lvl="4">
              <a:spcBef>
                <a:spcPts val="0"/>
              </a:spcBef>
              <a:spcAft>
                <a:spcPts val="0"/>
              </a:spcAft>
              <a:buSzPts val="2400"/>
              <a:buFont typeface="Roboto Serif"/>
              <a:buNone/>
              <a:defRPr sz="2400">
                <a:latin typeface="Roboto Serif"/>
                <a:ea typeface="Roboto Serif"/>
                <a:cs typeface="Roboto Serif"/>
                <a:sym typeface="Roboto Serif"/>
              </a:defRPr>
            </a:lvl5pPr>
            <a:lvl6pPr lvl="5">
              <a:spcBef>
                <a:spcPts val="0"/>
              </a:spcBef>
              <a:spcAft>
                <a:spcPts val="0"/>
              </a:spcAft>
              <a:buSzPts val="2400"/>
              <a:buFont typeface="Roboto Serif"/>
              <a:buNone/>
              <a:defRPr sz="2400">
                <a:latin typeface="Roboto Serif"/>
                <a:ea typeface="Roboto Serif"/>
                <a:cs typeface="Roboto Serif"/>
                <a:sym typeface="Roboto Serif"/>
              </a:defRPr>
            </a:lvl6pPr>
            <a:lvl7pPr lvl="6">
              <a:spcBef>
                <a:spcPts val="0"/>
              </a:spcBef>
              <a:spcAft>
                <a:spcPts val="0"/>
              </a:spcAft>
              <a:buSzPts val="2400"/>
              <a:buFont typeface="Roboto Serif"/>
              <a:buNone/>
              <a:defRPr sz="2400">
                <a:latin typeface="Roboto Serif"/>
                <a:ea typeface="Roboto Serif"/>
                <a:cs typeface="Roboto Serif"/>
                <a:sym typeface="Roboto Serif"/>
              </a:defRPr>
            </a:lvl7pPr>
            <a:lvl8pPr lvl="7">
              <a:spcBef>
                <a:spcPts val="0"/>
              </a:spcBef>
              <a:spcAft>
                <a:spcPts val="0"/>
              </a:spcAft>
              <a:buSzPts val="2400"/>
              <a:buFont typeface="Roboto Serif"/>
              <a:buNone/>
              <a:defRPr sz="2400">
                <a:latin typeface="Roboto Serif"/>
                <a:ea typeface="Roboto Serif"/>
                <a:cs typeface="Roboto Serif"/>
                <a:sym typeface="Roboto Serif"/>
              </a:defRPr>
            </a:lvl8pPr>
            <a:lvl9pPr lvl="8">
              <a:spcBef>
                <a:spcPts val="0"/>
              </a:spcBef>
              <a:spcAft>
                <a:spcPts val="0"/>
              </a:spcAft>
              <a:buSzPts val="2400"/>
              <a:buFont typeface="Roboto Serif"/>
              <a:buNone/>
              <a:defRPr sz="2400">
                <a:latin typeface="Roboto Serif"/>
                <a:ea typeface="Roboto Serif"/>
                <a:cs typeface="Roboto Serif"/>
                <a:sym typeface="Roboto Serif"/>
              </a:defRPr>
            </a:lvl9pPr>
          </a:lstStyle>
          <a:p/>
        </p:txBody>
      </p:sp>
      <p:sp>
        <p:nvSpPr>
          <p:cNvPr id="55" name="Google Shape;55;p8"/>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1pPr>
            <a:lvl2pPr indent="-304800" lvl="1" marL="9144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2pPr>
            <a:lvl3pPr indent="-304800" lvl="2" marL="13716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3pPr>
            <a:lvl4pPr indent="-304800" lvl="3" marL="18288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4pPr>
            <a:lvl5pPr indent="-304800" lvl="4" marL="22860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5pPr>
            <a:lvl6pPr indent="-304800" lvl="5" marL="27432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6pPr>
            <a:lvl7pPr indent="-304800" lvl="6" marL="32004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7pPr>
            <a:lvl8pPr indent="-304800" lvl="7" marL="36576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8pPr>
            <a:lvl9pPr indent="-304800" lvl="8" marL="4114800">
              <a:lnSpc>
                <a:spcPct val="200000"/>
              </a:lnSpc>
              <a:spcBef>
                <a:spcPts val="0"/>
              </a:spcBef>
              <a:spcAft>
                <a:spcPts val="0"/>
              </a:spcAft>
              <a:buSzPts val="1200"/>
              <a:buFont typeface="Roboto Serif"/>
              <a:buChar char="■"/>
              <a:defRPr sz="1200">
                <a:latin typeface="Roboto Serif"/>
                <a:ea typeface="Roboto Serif"/>
                <a:cs typeface="Roboto Serif"/>
                <a:sym typeface="Roboto Serif"/>
              </a:defRPr>
            </a:lvl9pPr>
          </a:lstStyle>
          <a:p/>
        </p:txBody>
      </p:sp>
      <p:sp>
        <p:nvSpPr>
          <p:cNvPr id="56" name="Google Shape;56;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57" name="Google Shape;57;p8"/>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A4DCEF"/>
        </a:solidFill>
      </p:bgPr>
    </p:bg>
    <p:spTree>
      <p:nvGrpSpPr>
        <p:cNvPr id="58" name="Shape 58"/>
        <p:cNvGrpSpPr/>
        <p:nvPr/>
      </p:nvGrpSpPr>
      <p:grpSpPr>
        <a:xfrm>
          <a:off x="0" y="0"/>
          <a:ext cx="0" cy="0"/>
          <a:chOff x="0" y="0"/>
          <a:chExt cx="0" cy="0"/>
        </a:xfrm>
      </p:grpSpPr>
      <p:grpSp>
        <p:nvGrpSpPr>
          <p:cNvPr id="59" name="Google Shape;59;p9"/>
          <p:cNvGrpSpPr/>
          <p:nvPr/>
        </p:nvGrpSpPr>
        <p:grpSpPr>
          <a:xfrm>
            <a:off x="6098378" y="5"/>
            <a:ext cx="3045625" cy="2030570"/>
            <a:chOff x="6098378" y="5"/>
            <a:chExt cx="3045625" cy="2030570"/>
          </a:xfrm>
        </p:grpSpPr>
        <p:sp>
          <p:nvSpPr>
            <p:cNvPr id="60" name="Google Shape;60;p9"/>
            <p:cNvSpPr/>
            <p:nvPr/>
          </p:nvSpPr>
          <p:spPr>
            <a:xfrm>
              <a:off x="8128803" y="16"/>
              <a:ext cx="1015200" cy="1015200"/>
            </a:xfrm>
            <a:prstGeom prst="rect">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1" name="Google Shape;61;p9"/>
            <p:cNvSpPr/>
            <p:nvPr/>
          </p:nvSpPr>
          <p:spPr>
            <a:xfrm flipH="1">
              <a:off x="7113463" y="5"/>
              <a:ext cx="1015200" cy="1015200"/>
            </a:xfrm>
            <a:prstGeom prst="rtTriangle">
              <a:avLst/>
            </a:prstGeom>
            <a:solidFill>
              <a:srgbClr val="003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2" name="Google Shape;62;p9"/>
            <p:cNvSpPr/>
            <p:nvPr/>
          </p:nvSpPr>
          <p:spPr>
            <a:xfrm flipH="1" rot="10800000">
              <a:off x="7113588" y="107"/>
              <a:ext cx="1015200" cy="10152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3" name="Google Shape;63;p9"/>
            <p:cNvSpPr/>
            <p:nvPr/>
          </p:nvSpPr>
          <p:spPr>
            <a:xfrm rot="10800000">
              <a:off x="6098378" y="97"/>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64" name="Google Shape;64;p9"/>
            <p:cNvSpPr/>
            <p:nvPr/>
          </p:nvSpPr>
          <p:spPr>
            <a:xfrm rot="10800000">
              <a:off x="8128789" y="1015375"/>
              <a:ext cx="1015200" cy="1015200"/>
            </a:xfrm>
            <a:prstGeom prst="rtTriangle">
              <a:avLst/>
            </a:prstGeom>
            <a:solidFill>
              <a:srgbClr val="5FC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grpSp>
      <p:sp>
        <p:nvSpPr>
          <p:cNvPr id="65" name="Google Shape;65;p9"/>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rgbClr val="003E6A"/>
              </a:buClr>
              <a:buSzPts val="4800"/>
              <a:buFont typeface="Roboto Serif"/>
              <a:buNone/>
              <a:defRPr sz="4800">
                <a:solidFill>
                  <a:srgbClr val="003E6A"/>
                </a:solidFill>
                <a:latin typeface="Roboto Serif"/>
                <a:ea typeface="Roboto Serif"/>
                <a:cs typeface="Roboto Serif"/>
                <a:sym typeface="Roboto Serif"/>
              </a:defRPr>
            </a:lvl1pPr>
            <a:lvl2pPr lvl="1">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2pPr>
            <a:lvl3pPr lvl="2">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3pPr>
            <a:lvl4pPr lvl="3">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4pPr>
            <a:lvl5pPr lvl="4">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5pPr>
            <a:lvl6pPr lvl="5">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6pPr>
            <a:lvl7pPr lvl="6">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7pPr>
            <a:lvl8pPr lvl="7">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8pPr>
            <a:lvl9pPr lvl="8">
              <a:spcBef>
                <a:spcPts val="0"/>
              </a:spcBef>
              <a:spcAft>
                <a:spcPts val="0"/>
              </a:spcAft>
              <a:buClr>
                <a:schemeClr val="lt1"/>
              </a:buClr>
              <a:buSzPts val="4800"/>
              <a:buFont typeface="Roboto Serif"/>
              <a:buNone/>
              <a:defRPr sz="4800">
                <a:solidFill>
                  <a:schemeClr val="lt1"/>
                </a:solidFill>
                <a:latin typeface="Roboto Serif"/>
                <a:ea typeface="Roboto Serif"/>
                <a:cs typeface="Roboto Serif"/>
                <a:sym typeface="Roboto Serif"/>
              </a:defRPr>
            </a:lvl9pPr>
          </a:lstStyle>
          <a:p/>
        </p:txBody>
      </p:sp>
      <p:sp>
        <p:nvSpPr>
          <p:cNvPr id="66" name="Google Shape;66;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atin typeface="Roboto Serif"/>
                <a:ea typeface="Roboto Serif"/>
                <a:cs typeface="Roboto Serif"/>
                <a:sym typeface="Roboto Serif"/>
              </a:defRPr>
            </a:lvl1pPr>
            <a:lvl2pPr lvl="1">
              <a:buNone/>
              <a:defRPr>
                <a:latin typeface="Roboto Serif"/>
                <a:ea typeface="Roboto Serif"/>
                <a:cs typeface="Roboto Serif"/>
                <a:sym typeface="Roboto Serif"/>
              </a:defRPr>
            </a:lvl2pPr>
            <a:lvl3pPr lvl="2">
              <a:buNone/>
              <a:defRPr>
                <a:latin typeface="Roboto Serif"/>
                <a:ea typeface="Roboto Serif"/>
                <a:cs typeface="Roboto Serif"/>
                <a:sym typeface="Roboto Serif"/>
              </a:defRPr>
            </a:lvl3pPr>
            <a:lvl4pPr lvl="3">
              <a:buNone/>
              <a:defRPr>
                <a:latin typeface="Roboto Serif"/>
                <a:ea typeface="Roboto Serif"/>
                <a:cs typeface="Roboto Serif"/>
                <a:sym typeface="Roboto Serif"/>
              </a:defRPr>
            </a:lvl4pPr>
            <a:lvl5pPr lvl="4">
              <a:buNone/>
              <a:defRPr>
                <a:latin typeface="Roboto Serif"/>
                <a:ea typeface="Roboto Serif"/>
                <a:cs typeface="Roboto Serif"/>
                <a:sym typeface="Roboto Serif"/>
              </a:defRPr>
            </a:lvl5pPr>
            <a:lvl6pPr lvl="5">
              <a:buNone/>
              <a:defRPr>
                <a:latin typeface="Roboto Serif"/>
                <a:ea typeface="Roboto Serif"/>
                <a:cs typeface="Roboto Serif"/>
                <a:sym typeface="Roboto Serif"/>
              </a:defRPr>
            </a:lvl6pPr>
            <a:lvl7pPr lvl="6">
              <a:buNone/>
              <a:defRPr>
                <a:latin typeface="Roboto Serif"/>
                <a:ea typeface="Roboto Serif"/>
                <a:cs typeface="Roboto Serif"/>
                <a:sym typeface="Roboto Serif"/>
              </a:defRPr>
            </a:lvl7pPr>
            <a:lvl8pPr lvl="7">
              <a:buNone/>
              <a:defRPr>
                <a:latin typeface="Roboto Serif"/>
                <a:ea typeface="Roboto Serif"/>
                <a:cs typeface="Roboto Serif"/>
                <a:sym typeface="Roboto Serif"/>
              </a:defRPr>
            </a:lvl8pPr>
            <a:lvl9pPr lvl="8">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67" name="Google Shape;67;p9"/>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SECTION_TITLE_AND_DESCRIPTION">
    <p:spTree>
      <p:nvGrpSpPr>
        <p:cNvPr id="68" name="Shape 68"/>
        <p:cNvGrpSpPr/>
        <p:nvPr/>
      </p:nvGrpSpPr>
      <p:grpSpPr>
        <a:xfrm>
          <a:off x="0" y="0"/>
          <a:ext cx="0" cy="0"/>
          <a:chOff x="0" y="0"/>
          <a:chExt cx="0" cy="0"/>
        </a:xfrm>
      </p:grpSpPr>
      <p:sp>
        <p:nvSpPr>
          <p:cNvPr id="69" name="Google Shape;69;p10"/>
          <p:cNvSpPr/>
          <p:nvPr/>
        </p:nvSpPr>
        <p:spPr>
          <a:xfrm>
            <a:off x="4572000" y="-175"/>
            <a:ext cx="4572000" cy="5143500"/>
          </a:xfrm>
          <a:prstGeom prst="rect">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 name="Google Shape;70;p10"/>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71" name="Google Shape;71;p10"/>
          <p:cNvSpPr txBox="1"/>
          <p:nvPr>
            <p:ph type="title"/>
          </p:nvPr>
        </p:nvSpPr>
        <p:spPr>
          <a:xfrm>
            <a:off x="215725" y="2064450"/>
            <a:ext cx="4045200" cy="10146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rgbClr val="0C9AFF"/>
              </a:buClr>
              <a:buSzPts val="4200"/>
              <a:buFont typeface="Roboto Serif"/>
              <a:buNone/>
              <a:defRPr sz="4200">
                <a:solidFill>
                  <a:srgbClr val="0C9AFF"/>
                </a:solidFill>
                <a:latin typeface="Roboto Serif"/>
                <a:ea typeface="Roboto Serif"/>
                <a:cs typeface="Roboto Serif"/>
                <a:sym typeface="Roboto Serif"/>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72" name="Google Shape;72;p10"/>
          <p:cNvSpPr txBox="1"/>
          <p:nvPr>
            <p:ph idx="1"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9250" lvl="0" marL="457200" rtl="0">
              <a:lnSpc>
                <a:spcPct val="200000"/>
              </a:lnSpc>
              <a:spcBef>
                <a:spcPts val="0"/>
              </a:spcBef>
              <a:spcAft>
                <a:spcPts val="0"/>
              </a:spcAft>
              <a:buClr>
                <a:schemeClr val="lt1"/>
              </a:buClr>
              <a:buSzPts val="1900"/>
              <a:buFont typeface="Roboto Serif"/>
              <a:buChar char="●"/>
              <a:defRPr sz="1900">
                <a:solidFill>
                  <a:schemeClr val="lt1"/>
                </a:solidFill>
                <a:latin typeface="Roboto Serif"/>
                <a:ea typeface="Roboto Serif"/>
                <a:cs typeface="Roboto Serif"/>
                <a:sym typeface="Roboto Serif"/>
              </a:defRPr>
            </a:lvl1pPr>
            <a:lvl2pPr indent="-323850" lvl="1" marL="9144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2pPr>
            <a:lvl3pPr indent="-323850" lvl="2" marL="13716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3pPr>
            <a:lvl4pPr indent="-323850" lvl="3" marL="18288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4pPr>
            <a:lvl5pPr indent="-323850" lvl="4" marL="22860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5pPr>
            <a:lvl6pPr indent="-323850" lvl="5" marL="27432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6pPr>
            <a:lvl7pPr indent="-323850" lvl="6" marL="32004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7pPr>
            <a:lvl8pPr indent="-323850" lvl="7" marL="36576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8pPr>
            <a:lvl9pPr indent="-323850" lvl="8" marL="4114800" rtl="0">
              <a:lnSpc>
                <a:spcPct val="200000"/>
              </a:lnSpc>
              <a:spcBef>
                <a:spcPts val="0"/>
              </a:spcBef>
              <a:spcAft>
                <a:spcPts val="0"/>
              </a:spcAft>
              <a:buClr>
                <a:schemeClr val="lt1"/>
              </a:buClr>
              <a:buSzPts val="1500"/>
              <a:buFont typeface="Roboto Serif"/>
              <a:buChar char="■"/>
              <a:defRPr sz="1500">
                <a:solidFill>
                  <a:schemeClr val="lt1"/>
                </a:solidFill>
                <a:latin typeface="Roboto Serif"/>
                <a:ea typeface="Roboto Serif"/>
                <a:cs typeface="Roboto Serif"/>
                <a:sym typeface="Roboto Serif"/>
              </a:defRPr>
            </a:lvl9pPr>
          </a:lstStyle>
          <a:p/>
        </p:txBody>
      </p:sp>
      <p:sp>
        <p:nvSpPr>
          <p:cNvPr id="73" name="Google Shape;73;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rtl="0">
              <a:buNone/>
              <a:defRPr>
                <a:latin typeface="Roboto Serif"/>
                <a:ea typeface="Roboto Serif"/>
                <a:cs typeface="Roboto Serif"/>
                <a:sym typeface="Roboto Serif"/>
              </a:defRPr>
            </a:lvl1pPr>
            <a:lvl2pPr lvl="1" rtl="0">
              <a:buNone/>
              <a:defRPr>
                <a:latin typeface="Roboto Serif"/>
                <a:ea typeface="Roboto Serif"/>
                <a:cs typeface="Roboto Serif"/>
                <a:sym typeface="Roboto Serif"/>
              </a:defRPr>
            </a:lvl2pPr>
            <a:lvl3pPr lvl="2" rtl="0">
              <a:buNone/>
              <a:defRPr>
                <a:latin typeface="Roboto Serif"/>
                <a:ea typeface="Roboto Serif"/>
                <a:cs typeface="Roboto Serif"/>
                <a:sym typeface="Roboto Serif"/>
              </a:defRPr>
            </a:lvl3pPr>
            <a:lvl4pPr lvl="3" rtl="0">
              <a:buNone/>
              <a:defRPr>
                <a:latin typeface="Roboto Serif"/>
                <a:ea typeface="Roboto Serif"/>
                <a:cs typeface="Roboto Serif"/>
                <a:sym typeface="Roboto Serif"/>
              </a:defRPr>
            </a:lvl4pPr>
            <a:lvl5pPr lvl="4" rtl="0">
              <a:buNone/>
              <a:defRPr>
                <a:latin typeface="Roboto Serif"/>
                <a:ea typeface="Roboto Serif"/>
                <a:cs typeface="Roboto Serif"/>
                <a:sym typeface="Roboto Serif"/>
              </a:defRPr>
            </a:lvl5pPr>
            <a:lvl6pPr lvl="5" rtl="0">
              <a:buNone/>
              <a:defRPr>
                <a:latin typeface="Roboto Serif"/>
                <a:ea typeface="Roboto Serif"/>
                <a:cs typeface="Roboto Serif"/>
                <a:sym typeface="Roboto Serif"/>
              </a:defRPr>
            </a:lvl6pPr>
            <a:lvl7pPr lvl="6" rtl="0">
              <a:buNone/>
              <a:defRPr>
                <a:latin typeface="Roboto Serif"/>
                <a:ea typeface="Roboto Serif"/>
                <a:cs typeface="Roboto Serif"/>
                <a:sym typeface="Roboto Serif"/>
              </a:defRPr>
            </a:lvl7pPr>
            <a:lvl8pPr lvl="7" rtl="0">
              <a:buNone/>
              <a:defRPr>
                <a:latin typeface="Roboto Serif"/>
                <a:ea typeface="Roboto Serif"/>
                <a:cs typeface="Roboto Serif"/>
                <a:sym typeface="Roboto Serif"/>
              </a:defRPr>
            </a:lvl8pPr>
            <a:lvl9pPr lvl="8" rtl="0">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74" name="Google Shape;74;p10"/>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5" name="Shape 75"/>
        <p:cNvGrpSpPr/>
        <p:nvPr/>
      </p:nvGrpSpPr>
      <p:grpSpPr>
        <a:xfrm>
          <a:off x="0" y="0"/>
          <a:ext cx="0" cy="0"/>
          <a:chOff x="0" y="0"/>
          <a:chExt cx="0" cy="0"/>
        </a:xfrm>
      </p:grpSpPr>
      <p:sp>
        <p:nvSpPr>
          <p:cNvPr id="76" name="Google Shape;76;p11"/>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erif"/>
              <a:buNone/>
              <a:defRPr>
                <a:latin typeface="Roboto Serif"/>
                <a:ea typeface="Roboto Serif"/>
                <a:cs typeface="Roboto Serif"/>
                <a:sym typeface="Roboto Serif"/>
              </a:defRPr>
            </a:lvl1pPr>
          </a:lstStyle>
          <a:p/>
        </p:txBody>
      </p:sp>
      <p:sp>
        <p:nvSpPr>
          <p:cNvPr id="77" name="Google Shape;77;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78" name="Google Shape;78;p11"/>
          <p:cNvPicPr preferRelativeResize="0"/>
          <p:nvPr/>
        </p:nvPicPr>
        <p:blipFill>
          <a:blip r:embed="rId2">
            <a:alphaModFix/>
          </a:blip>
          <a:stretch>
            <a:fillRect/>
          </a:stretch>
        </p:blipFill>
        <p:spPr>
          <a:xfrm>
            <a:off x="7670775" y="-1"/>
            <a:ext cx="1473226" cy="55865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5FCBEF"/>
        </a:solidFill>
      </p:bgPr>
    </p:bg>
    <p:spTree>
      <p:nvGrpSpPr>
        <p:cNvPr id="79" name="Shape 79"/>
        <p:cNvGrpSpPr/>
        <p:nvPr/>
      </p:nvGrpSpPr>
      <p:grpSpPr>
        <a:xfrm>
          <a:off x="0" y="0"/>
          <a:ext cx="0" cy="0"/>
          <a:chOff x="0" y="0"/>
          <a:chExt cx="0" cy="0"/>
        </a:xfrm>
      </p:grpSpPr>
      <p:grpSp>
        <p:nvGrpSpPr>
          <p:cNvPr id="80" name="Google Shape;80;p12"/>
          <p:cNvGrpSpPr/>
          <p:nvPr/>
        </p:nvGrpSpPr>
        <p:grpSpPr>
          <a:xfrm>
            <a:off x="6098378" y="5"/>
            <a:ext cx="3045625" cy="2030570"/>
            <a:chOff x="6098378" y="5"/>
            <a:chExt cx="3045625" cy="2030570"/>
          </a:xfrm>
        </p:grpSpPr>
        <p:sp>
          <p:nvSpPr>
            <p:cNvPr id="81" name="Google Shape;81;p12"/>
            <p:cNvSpPr/>
            <p:nvPr/>
          </p:nvSpPr>
          <p:spPr>
            <a:xfrm>
              <a:off x="8128803" y="16"/>
              <a:ext cx="1015200" cy="1015200"/>
            </a:xfrm>
            <a:prstGeom prst="rect">
              <a:avLst/>
            </a:prstGeom>
            <a:solidFill>
              <a:srgbClr val="0C9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2" name="Google Shape;82;p12"/>
            <p:cNvSpPr/>
            <p:nvPr/>
          </p:nvSpPr>
          <p:spPr>
            <a:xfrm flipH="1">
              <a:off x="7113463" y="5"/>
              <a:ext cx="1015200" cy="1015200"/>
            </a:xfrm>
            <a:prstGeom prst="rtTriangle">
              <a:avLst/>
            </a:prstGeom>
            <a:solidFill>
              <a:srgbClr val="A4D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3" name="Google Shape;83;p12"/>
            <p:cNvSpPr/>
            <p:nvPr/>
          </p:nvSpPr>
          <p:spPr>
            <a:xfrm flipH="1" rot="10800000">
              <a:off x="7113588" y="107"/>
              <a:ext cx="1015200" cy="10152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4" name="Google Shape;84;p12"/>
            <p:cNvSpPr/>
            <p:nvPr/>
          </p:nvSpPr>
          <p:spPr>
            <a:xfrm rot="10800000">
              <a:off x="6098378" y="97"/>
              <a:ext cx="1015200" cy="1015200"/>
            </a:xfrm>
            <a:prstGeom prst="rtTriangle">
              <a:avLst/>
            </a:prstGeom>
            <a:solidFill>
              <a:srgbClr val="0C9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sp>
          <p:nvSpPr>
            <p:cNvPr id="85" name="Google Shape;85;p12"/>
            <p:cNvSpPr/>
            <p:nvPr/>
          </p:nvSpPr>
          <p:spPr>
            <a:xfrm rot="10800000">
              <a:off x="8128789" y="1015375"/>
              <a:ext cx="1015200" cy="1015200"/>
            </a:xfrm>
            <a:prstGeom prst="rtTriangle">
              <a:avLst/>
            </a:prstGeom>
            <a:solidFill>
              <a:srgbClr val="479F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Serif"/>
                <a:ea typeface="Roboto Serif"/>
                <a:cs typeface="Roboto Serif"/>
                <a:sym typeface="Roboto Serif"/>
              </a:endParaRPr>
            </a:p>
          </p:txBody>
        </p:sp>
      </p:grpSp>
      <p:sp>
        <p:nvSpPr>
          <p:cNvPr id="86" name="Google Shape;86;p12"/>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1pPr>
            <a:lvl2pPr lvl="1"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2pPr>
            <a:lvl3pPr lvl="2"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3pPr>
            <a:lvl4pPr lvl="3"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4pPr>
            <a:lvl5pPr lvl="4"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5pPr>
            <a:lvl6pPr lvl="5"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6pPr>
            <a:lvl7pPr lvl="6"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7pPr>
            <a:lvl8pPr lvl="7"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8pPr>
            <a:lvl9pPr lvl="8" algn="ctr">
              <a:spcBef>
                <a:spcPts val="0"/>
              </a:spcBef>
              <a:spcAft>
                <a:spcPts val="0"/>
              </a:spcAft>
              <a:buClr>
                <a:schemeClr val="lt1"/>
              </a:buClr>
              <a:buSzPts val="12000"/>
              <a:buFont typeface="Roboto Serif"/>
              <a:buNone/>
              <a:defRPr sz="12000">
                <a:solidFill>
                  <a:schemeClr val="lt1"/>
                </a:solidFill>
                <a:latin typeface="Roboto Serif"/>
                <a:ea typeface="Roboto Serif"/>
                <a:cs typeface="Roboto Serif"/>
                <a:sym typeface="Roboto Serif"/>
              </a:defRPr>
            </a:lvl9pPr>
          </a:lstStyle>
          <a:p>
            <a:r>
              <a:t>xx%</a:t>
            </a:r>
          </a:p>
        </p:txBody>
      </p:sp>
      <p:sp>
        <p:nvSpPr>
          <p:cNvPr id="87" name="Google Shape;87;p12"/>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lnSpc>
                <a:spcPct val="200000"/>
              </a:lnSpc>
              <a:spcBef>
                <a:spcPts val="0"/>
              </a:spcBef>
              <a:spcAft>
                <a:spcPts val="0"/>
              </a:spcAft>
              <a:buClr>
                <a:schemeClr val="lt1"/>
              </a:buClr>
              <a:buSzPts val="1800"/>
              <a:buFont typeface="Roboto Serif"/>
              <a:buChar char="●"/>
              <a:defRPr>
                <a:solidFill>
                  <a:schemeClr val="lt1"/>
                </a:solidFill>
                <a:latin typeface="Roboto Serif"/>
                <a:ea typeface="Roboto Serif"/>
                <a:cs typeface="Roboto Serif"/>
                <a:sym typeface="Roboto Serif"/>
              </a:defRPr>
            </a:lvl1pPr>
            <a:lvl2pPr indent="-317500" lvl="1" marL="9144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2pPr>
            <a:lvl3pPr indent="-317500" lvl="2" marL="13716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3pPr>
            <a:lvl4pPr indent="-317500" lvl="3" marL="18288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4pPr>
            <a:lvl5pPr indent="-317500" lvl="4" marL="22860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5pPr>
            <a:lvl6pPr indent="-317500" lvl="5" marL="27432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6pPr>
            <a:lvl7pPr indent="-317500" lvl="6" marL="32004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7pPr>
            <a:lvl8pPr indent="-317500" lvl="7" marL="36576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8pPr>
            <a:lvl9pPr indent="-317500" lvl="8" marL="4114800" algn="ctr">
              <a:lnSpc>
                <a:spcPct val="200000"/>
              </a:lnSpc>
              <a:spcBef>
                <a:spcPts val="0"/>
              </a:spcBef>
              <a:spcAft>
                <a:spcPts val="0"/>
              </a:spcAft>
              <a:buClr>
                <a:schemeClr val="lt1"/>
              </a:buClr>
              <a:buSzPts val="1400"/>
              <a:buFont typeface="Roboto Serif"/>
              <a:buChar char="■"/>
              <a:defRPr>
                <a:solidFill>
                  <a:schemeClr val="lt1"/>
                </a:solidFill>
                <a:latin typeface="Roboto Serif"/>
                <a:ea typeface="Roboto Serif"/>
                <a:cs typeface="Roboto Serif"/>
                <a:sym typeface="Roboto Serif"/>
              </a:defRPr>
            </a:lvl9pPr>
          </a:lstStyle>
          <a:p/>
        </p:txBody>
      </p:sp>
      <p:sp>
        <p:nvSpPr>
          <p:cNvPr id="88" name="Google Shape;88;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atin typeface="Roboto Serif"/>
                <a:ea typeface="Roboto Serif"/>
                <a:cs typeface="Roboto Serif"/>
                <a:sym typeface="Roboto Serif"/>
              </a:defRPr>
            </a:lvl1pPr>
            <a:lvl2pPr lvl="1">
              <a:buNone/>
              <a:defRPr>
                <a:latin typeface="Roboto Serif"/>
                <a:ea typeface="Roboto Serif"/>
                <a:cs typeface="Roboto Serif"/>
                <a:sym typeface="Roboto Serif"/>
              </a:defRPr>
            </a:lvl2pPr>
            <a:lvl3pPr lvl="2">
              <a:buNone/>
              <a:defRPr>
                <a:latin typeface="Roboto Serif"/>
                <a:ea typeface="Roboto Serif"/>
                <a:cs typeface="Roboto Serif"/>
                <a:sym typeface="Roboto Serif"/>
              </a:defRPr>
            </a:lvl3pPr>
            <a:lvl4pPr lvl="3">
              <a:buNone/>
              <a:defRPr>
                <a:latin typeface="Roboto Serif"/>
                <a:ea typeface="Roboto Serif"/>
                <a:cs typeface="Roboto Serif"/>
                <a:sym typeface="Roboto Serif"/>
              </a:defRPr>
            </a:lvl4pPr>
            <a:lvl5pPr lvl="4">
              <a:buNone/>
              <a:defRPr>
                <a:latin typeface="Roboto Serif"/>
                <a:ea typeface="Roboto Serif"/>
                <a:cs typeface="Roboto Serif"/>
                <a:sym typeface="Roboto Serif"/>
              </a:defRPr>
            </a:lvl5pPr>
            <a:lvl6pPr lvl="5">
              <a:buNone/>
              <a:defRPr>
                <a:latin typeface="Roboto Serif"/>
                <a:ea typeface="Roboto Serif"/>
                <a:cs typeface="Roboto Serif"/>
                <a:sym typeface="Roboto Serif"/>
              </a:defRPr>
            </a:lvl6pPr>
            <a:lvl7pPr lvl="6">
              <a:buNone/>
              <a:defRPr>
                <a:latin typeface="Roboto Serif"/>
                <a:ea typeface="Roboto Serif"/>
                <a:cs typeface="Roboto Serif"/>
                <a:sym typeface="Roboto Serif"/>
              </a:defRPr>
            </a:lvl7pPr>
            <a:lvl8pPr lvl="7">
              <a:buNone/>
              <a:defRPr>
                <a:latin typeface="Roboto Serif"/>
                <a:ea typeface="Roboto Serif"/>
                <a:cs typeface="Roboto Serif"/>
                <a:sym typeface="Roboto Serif"/>
              </a:defRPr>
            </a:lvl8pPr>
            <a:lvl9pPr lvl="8">
              <a:buNone/>
              <a:defRPr>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89" name="Google Shape;89;p12"/>
          <p:cNvPicPr preferRelativeResize="0"/>
          <p:nvPr/>
        </p:nvPicPr>
        <p:blipFill>
          <a:blip r:embed="rId2">
            <a:alphaModFix/>
          </a:blip>
          <a:stretch>
            <a:fillRect/>
          </a:stretch>
        </p:blipFill>
        <p:spPr>
          <a:xfrm>
            <a:off x="0" y="4569262"/>
            <a:ext cx="1473224" cy="5574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1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latin typeface="Roboto Serif"/>
                <a:ea typeface="Roboto Serif"/>
                <a:cs typeface="Roboto Serif"/>
                <a:sym typeface="Roboto Serif"/>
              </a:defRPr>
            </a:lvl1pPr>
            <a:lvl2pPr lvl="1">
              <a:buNone/>
              <a:defRPr>
                <a:solidFill>
                  <a:schemeClr val="dk2"/>
                </a:solidFill>
                <a:latin typeface="Roboto Serif"/>
                <a:ea typeface="Roboto Serif"/>
                <a:cs typeface="Roboto Serif"/>
                <a:sym typeface="Roboto Serif"/>
              </a:defRPr>
            </a:lvl2pPr>
            <a:lvl3pPr lvl="2">
              <a:buNone/>
              <a:defRPr>
                <a:solidFill>
                  <a:schemeClr val="dk2"/>
                </a:solidFill>
                <a:latin typeface="Roboto Serif"/>
                <a:ea typeface="Roboto Serif"/>
                <a:cs typeface="Roboto Serif"/>
                <a:sym typeface="Roboto Serif"/>
              </a:defRPr>
            </a:lvl3pPr>
            <a:lvl4pPr lvl="3">
              <a:buNone/>
              <a:defRPr>
                <a:solidFill>
                  <a:schemeClr val="dk2"/>
                </a:solidFill>
                <a:latin typeface="Roboto Serif"/>
                <a:ea typeface="Roboto Serif"/>
                <a:cs typeface="Roboto Serif"/>
                <a:sym typeface="Roboto Serif"/>
              </a:defRPr>
            </a:lvl4pPr>
            <a:lvl5pPr lvl="4">
              <a:buNone/>
              <a:defRPr>
                <a:solidFill>
                  <a:schemeClr val="dk2"/>
                </a:solidFill>
                <a:latin typeface="Roboto Serif"/>
                <a:ea typeface="Roboto Serif"/>
                <a:cs typeface="Roboto Serif"/>
                <a:sym typeface="Roboto Serif"/>
              </a:defRPr>
            </a:lvl5pPr>
            <a:lvl6pPr lvl="5">
              <a:buNone/>
              <a:defRPr>
                <a:solidFill>
                  <a:schemeClr val="dk2"/>
                </a:solidFill>
                <a:latin typeface="Roboto Serif"/>
                <a:ea typeface="Roboto Serif"/>
                <a:cs typeface="Roboto Serif"/>
                <a:sym typeface="Roboto Serif"/>
              </a:defRPr>
            </a:lvl6pPr>
            <a:lvl7pPr lvl="6">
              <a:buNone/>
              <a:defRPr>
                <a:solidFill>
                  <a:schemeClr val="dk2"/>
                </a:solidFill>
                <a:latin typeface="Roboto Serif"/>
                <a:ea typeface="Roboto Serif"/>
                <a:cs typeface="Roboto Serif"/>
                <a:sym typeface="Roboto Serif"/>
              </a:defRPr>
            </a:lvl7pPr>
            <a:lvl8pPr lvl="7">
              <a:buNone/>
              <a:defRPr>
                <a:solidFill>
                  <a:schemeClr val="dk2"/>
                </a:solidFill>
                <a:latin typeface="Roboto Serif"/>
                <a:ea typeface="Roboto Serif"/>
                <a:cs typeface="Roboto Serif"/>
                <a:sym typeface="Roboto Serif"/>
              </a:defRPr>
            </a:lvl8pPr>
            <a:lvl9pPr lvl="8">
              <a:buNone/>
              <a:defRPr>
                <a:solidFill>
                  <a:schemeClr val="dk2"/>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pic>
        <p:nvPicPr>
          <p:cNvPr id="92" name="Google Shape;92;p13"/>
          <p:cNvPicPr preferRelativeResize="0"/>
          <p:nvPr/>
        </p:nvPicPr>
        <p:blipFill>
          <a:blip r:embed="rId2">
            <a:alphaModFix/>
          </a:blip>
          <a:stretch>
            <a:fillRect/>
          </a:stretch>
        </p:blipFill>
        <p:spPr>
          <a:xfrm>
            <a:off x="0" y="4594299"/>
            <a:ext cx="1473226" cy="55865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1pPr>
            <a:lvl2pPr lvl="1">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2pPr>
            <a:lvl3pPr lvl="2">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3pPr>
            <a:lvl4pPr lvl="3">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4pPr>
            <a:lvl5pPr lvl="4">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5pPr>
            <a:lvl6pPr lvl="5">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6pPr>
            <a:lvl7pPr lvl="6">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7pPr>
            <a:lvl8pPr lvl="7">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8pPr>
            <a:lvl9pPr lvl="8">
              <a:spcBef>
                <a:spcPts val="0"/>
              </a:spcBef>
              <a:spcAft>
                <a:spcPts val="0"/>
              </a:spcAft>
              <a:buClr>
                <a:srgbClr val="0C9AFF"/>
              </a:buClr>
              <a:buSzPts val="3000"/>
              <a:buFont typeface="Roboto Serif"/>
              <a:buNone/>
              <a:defRPr sz="3000">
                <a:solidFill>
                  <a:srgbClr val="0C9AFF"/>
                </a:solidFill>
                <a:latin typeface="Roboto Serif"/>
                <a:ea typeface="Roboto Serif"/>
                <a:cs typeface="Roboto Serif"/>
                <a:sym typeface="Roboto Serif"/>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Serif"/>
              <a:buChar char="●"/>
              <a:defRPr sz="1800">
                <a:solidFill>
                  <a:schemeClr val="dk2"/>
                </a:solidFill>
                <a:latin typeface="Roboto Serif"/>
                <a:ea typeface="Roboto Serif"/>
                <a:cs typeface="Roboto Serif"/>
                <a:sym typeface="Roboto Serif"/>
              </a:defRPr>
            </a:lvl1pPr>
            <a:lvl2pPr indent="-317500" lvl="1" marL="9144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2pPr>
            <a:lvl3pPr indent="-317500" lvl="2" marL="13716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3pPr>
            <a:lvl4pPr indent="-317500" lvl="3" marL="18288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4pPr>
            <a:lvl5pPr indent="-317500" lvl="4" marL="22860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5pPr>
            <a:lvl6pPr indent="-317500" lvl="5" marL="27432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6pPr>
            <a:lvl7pPr indent="-317500" lvl="6" marL="32004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7pPr>
            <a:lvl8pPr indent="-317500" lvl="7" marL="36576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8pPr>
            <a:lvl9pPr indent="-317500" lvl="8" marL="4114800">
              <a:lnSpc>
                <a:spcPct val="115000"/>
              </a:lnSpc>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Serif"/>
                <a:ea typeface="Roboto Serif"/>
                <a:cs typeface="Roboto Serif"/>
                <a:sym typeface="Roboto Serif"/>
              </a:defRPr>
            </a:lvl1pPr>
            <a:lvl2pPr lvl="1" algn="r">
              <a:buNone/>
              <a:defRPr sz="1000">
                <a:solidFill>
                  <a:schemeClr val="lt1"/>
                </a:solidFill>
                <a:latin typeface="Roboto Serif"/>
                <a:ea typeface="Roboto Serif"/>
                <a:cs typeface="Roboto Serif"/>
                <a:sym typeface="Roboto Serif"/>
              </a:defRPr>
            </a:lvl2pPr>
            <a:lvl3pPr lvl="2" algn="r">
              <a:buNone/>
              <a:defRPr sz="1000">
                <a:solidFill>
                  <a:schemeClr val="lt1"/>
                </a:solidFill>
                <a:latin typeface="Roboto Serif"/>
                <a:ea typeface="Roboto Serif"/>
                <a:cs typeface="Roboto Serif"/>
                <a:sym typeface="Roboto Serif"/>
              </a:defRPr>
            </a:lvl3pPr>
            <a:lvl4pPr lvl="3" algn="r">
              <a:buNone/>
              <a:defRPr sz="1000">
                <a:solidFill>
                  <a:schemeClr val="lt1"/>
                </a:solidFill>
                <a:latin typeface="Roboto Serif"/>
                <a:ea typeface="Roboto Serif"/>
                <a:cs typeface="Roboto Serif"/>
                <a:sym typeface="Roboto Serif"/>
              </a:defRPr>
            </a:lvl4pPr>
            <a:lvl5pPr lvl="4" algn="r">
              <a:buNone/>
              <a:defRPr sz="1000">
                <a:solidFill>
                  <a:schemeClr val="lt1"/>
                </a:solidFill>
                <a:latin typeface="Roboto Serif"/>
                <a:ea typeface="Roboto Serif"/>
                <a:cs typeface="Roboto Serif"/>
                <a:sym typeface="Roboto Serif"/>
              </a:defRPr>
            </a:lvl5pPr>
            <a:lvl6pPr lvl="5" algn="r">
              <a:buNone/>
              <a:defRPr sz="1000">
                <a:solidFill>
                  <a:schemeClr val="lt1"/>
                </a:solidFill>
                <a:latin typeface="Roboto Serif"/>
                <a:ea typeface="Roboto Serif"/>
                <a:cs typeface="Roboto Serif"/>
                <a:sym typeface="Roboto Serif"/>
              </a:defRPr>
            </a:lvl6pPr>
            <a:lvl7pPr lvl="6" algn="r">
              <a:buNone/>
              <a:defRPr sz="1000">
                <a:solidFill>
                  <a:schemeClr val="lt1"/>
                </a:solidFill>
                <a:latin typeface="Roboto Serif"/>
                <a:ea typeface="Roboto Serif"/>
                <a:cs typeface="Roboto Serif"/>
                <a:sym typeface="Roboto Serif"/>
              </a:defRPr>
            </a:lvl7pPr>
            <a:lvl8pPr lvl="7" algn="r">
              <a:buNone/>
              <a:defRPr sz="1000">
                <a:solidFill>
                  <a:schemeClr val="lt1"/>
                </a:solidFill>
                <a:latin typeface="Roboto Serif"/>
                <a:ea typeface="Roboto Serif"/>
                <a:cs typeface="Roboto Serif"/>
                <a:sym typeface="Roboto Serif"/>
              </a:defRPr>
            </a:lvl8pPr>
            <a:lvl9pPr lvl="8" algn="r">
              <a:buNone/>
              <a:defRPr sz="1000">
                <a:solidFill>
                  <a:schemeClr val="lt1"/>
                </a:solidFill>
                <a:latin typeface="Roboto Serif"/>
                <a:ea typeface="Roboto Serif"/>
                <a:cs typeface="Roboto Serif"/>
                <a:sym typeface="Roboto Serif"/>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5.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s://www.w3schools.com/js/js_reserved.as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 Id="rId3" Type="http://schemas.openxmlformats.org/officeDocument/2006/relationships/image" Target="../media/image15.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4"/>
          <p:cNvSpPr txBox="1"/>
          <p:nvPr>
            <p:ph type="ctrTitle"/>
          </p:nvPr>
        </p:nvSpPr>
        <p:spPr>
          <a:xfrm>
            <a:off x="460950" y="1053440"/>
            <a:ext cx="8222100" cy="159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Introducción al Desarrollo de Software I - Lanzillotta</a:t>
            </a:r>
            <a:endParaRPr/>
          </a:p>
        </p:txBody>
      </p:sp>
      <p:sp>
        <p:nvSpPr>
          <p:cNvPr id="98" name="Google Shape;98;p14"/>
          <p:cNvSpPr txBox="1"/>
          <p:nvPr>
            <p:ph idx="1" type="subTitle"/>
          </p:nvPr>
        </p:nvSpPr>
        <p:spPr>
          <a:xfrm>
            <a:off x="460938" y="29287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Capra - Chaves - Di Matteo - Sosa - Villegas - Palavecino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215725" y="2064450"/>
            <a:ext cx="4045200" cy="1014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Agenda</a:t>
            </a:r>
            <a:endParaRPr/>
          </a:p>
        </p:txBody>
      </p:sp>
      <p:sp>
        <p:nvSpPr>
          <p:cNvPr id="104" name="Google Shape;104;p15"/>
          <p:cNvSpPr txBox="1"/>
          <p:nvPr>
            <p:ph idx="1"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9250" lvl="0" marL="457200" rtl="0" algn="l">
              <a:spcBef>
                <a:spcPts val="0"/>
              </a:spcBef>
              <a:spcAft>
                <a:spcPts val="0"/>
              </a:spcAft>
              <a:buSzPts val="1900"/>
              <a:buChar char="●"/>
            </a:pPr>
            <a:r>
              <a:rPr lang="es"/>
              <a:t>JavaScript</a:t>
            </a:r>
            <a:endParaRPr/>
          </a:p>
          <a:p>
            <a:pPr indent="-349250" lvl="0" marL="457200" rtl="0" algn="l">
              <a:lnSpc>
                <a:spcPct val="115000"/>
              </a:lnSpc>
              <a:spcBef>
                <a:spcPts val="0"/>
              </a:spcBef>
              <a:spcAft>
                <a:spcPts val="0"/>
              </a:spcAft>
              <a:buSzPts val="1900"/>
              <a:buChar char="●"/>
            </a:pPr>
            <a:r>
              <a:rPr lang="es"/>
              <a:t>Integración con HTML y CSS</a:t>
            </a:r>
            <a:endParaRPr/>
          </a:p>
          <a:p>
            <a:pPr indent="-349250" lvl="0" marL="457200" rtl="0" algn="l">
              <a:spcBef>
                <a:spcPts val="1000"/>
              </a:spcBef>
              <a:spcAft>
                <a:spcPts val="0"/>
              </a:spcAft>
              <a:buSzPts val="1900"/>
              <a:buChar char="●"/>
            </a:pPr>
            <a:r>
              <a:rPr lang="es"/>
              <a:t>Ejemplo con Flask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JavaScript</a:t>
            </a:r>
            <a:endParaRPr/>
          </a:p>
        </p:txBody>
      </p:sp>
      <p:pic>
        <p:nvPicPr>
          <p:cNvPr id="110" name="Google Shape;110;p16"/>
          <p:cNvPicPr preferRelativeResize="0"/>
          <p:nvPr/>
        </p:nvPicPr>
        <p:blipFill>
          <a:blip r:embed="rId3">
            <a:alphaModFix/>
          </a:blip>
          <a:stretch>
            <a:fillRect/>
          </a:stretch>
        </p:blipFill>
        <p:spPr>
          <a:xfrm>
            <a:off x="6858000" y="2825325"/>
            <a:ext cx="2023500" cy="202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¿Qué es JavaScript? ¿Para qué se usa?</a:t>
            </a:r>
            <a:endParaRPr/>
          </a:p>
        </p:txBody>
      </p:sp>
      <p:sp>
        <p:nvSpPr>
          <p:cNvPr id="116" name="Google Shape;116;p17"/>
          <p:cNvSpPr txBox="1"/>
          <p:nvPr>
            <p:ph idx="1" type="body"/>
          </p:nvPr>
        </p:nvSpPr>
        <p:spPr>
          <a:xfrm>
            <a:off x="311700" y="1279500"/>
            <a:ext cx="8520600" cy="315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400"/>
              <a:t>JavaScript es un </a:t>
            </a:r>
            <a:r>
              <a:rPr b="1" lang="es" sz="1400"/>
              <a:t>lenguaje de programación</a:t>
            </a:r>
            <a:r>
              <a:rPr lang="es" sz="1400"/>
              <a:t> que se utiliza para </a:t>
            </a:r>
            <a:r>
              <a:rPr lang="es" sz="1400" u="sng"/>
              <a:t>añadir interactividad a las páginas web</a:t>
            </a:r>
            <a:r>
              <a:rPr lang="es" sz="1400"/>
              <a:t>. Permite crear animaciones, juegos, formularios dinámicos y mucho más. Es uno de los lenguajes de programación más populares del mundo y se utiliza en millones de sitios web.</a:t>
            </a:r>
            <a:endParaRPr sz="1400"/>
          </a:p>
          <a:p>
            <a:pPr indent="0" lvl="0" marL="0" rtl="0" algn="l">
              <a:spcBef>
                <a:spcPts val="1200"/>
              </a:spcBef>
              <a:spcAft>
                <a:spcPts val="1200"/>
              </a:spcAft>
              <a:buNone/>
            </a:pPr>
            <a:r>
              <a:rPr lang="es" sz="1400"/>
              <a:t>A su vez, también es utilizado como lenguaje para el </a:t>
            </a:r>
            <a:r>
              <a:rPr i="1" lang="es" sz="1400"/>
              <a:t>backend</a:t>
            </a:r>
            <a:r>
              <a:rPr lang="es" sz="1400"/>
              <a:t>, a través de aplicaciones de servidor como por ejemplo </a:t>
            </a:r>
            <a:r>
              <a:rPr i="1" lang="es" sz="1400"/>
              <a:t>Node.js</a:t>
            </a:r>
            <a:endParaRPr i="1"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¡Antes de arrancar!</a:t>
            </a:r>
            <a:endParaRPr/>
          </a:p>
        </p:txBody>
      </p:sp>
      <p:sp>
        <p:nvSpPr>
          <p:cNvPr id="122" name="Google Shape;122;p18"/>
          <p:cNvSpPr txBox="1"/>
          <p:nvPr>
            <p:ph idx="1" type="body"/>
          </p:nvPr>
        </p:nvSpPr>
        <p:spPr>
          <a:xfrm>
            <a:off x="311700" y="1203300"/>
            <a:ext cx="8520600" cy="3153300"/>
          </a:xfrm>
          <a:prstGeom prst="rect">
            <a:avLst/>
          </a:prstGeom>
        </p:spPr>
        <p:txBody>
          <a:bodyPr anchorCtr="0" anchor="t" bIns="91425" lIns="91425" spcFirstLastPara="1" rIns="91425" wrap="square" tIns="91425">
            <a:normAutofit/>
          </a:bodyPr>
          <a:lstStyle/>
          <a:p>
            <a:pPr indent="-336550" lvl="0" marL="457200" rtl="0" algn="l">
              <a:lnSpc>
                <a:spcPct val="130000"/>
              </a:lnSpc>
              <a:spcBef>
                <a:spcPts val="0"/>
              </a:spcBef>
              <a:spcAft>
                <a:spcPts val="0"/>
              </a:spcAft>
              <a:buSzPts val="1700"/>
              <a:buChar char="●"/>
            </a:pPr>
            <a:r>
              <a:rPr lang="es" sz="1700"/>
              <a:t>Pueden utilizar </a:t>
            </a:r>
            <a:r>
              <a:rPr b="1" lang="es" sz="1700"/>
              <a:t>Visual Studio Code</a:t>
            </a:r>
            <a:r>
              <a:rPr lang="es" sz="1700"/>
              <a:t> para practicar con JavaScript, instalando </a:t>
            </a:r>
            <a:r>
              <a:rPr i="1" lang="es" sz="1700"/>
              <a:t>Node.js</a:t>
            </a:r>
            <a:r>
              <a:rPr lang="es" sz="1700"/>
              <a:t> y la extensión </a:t>
            </a:r>
            <a:r>
              <a:rPr i="1" lang="es" sz="1700"/>
              <a:t>Code Runner</a:t>
            </a:r>
            <a:r>
              <a:rPr lang="es" sz="1700"/>
              <a:t>. </a:t>
            </a:r>
            <a:r>
              <a:rPr lang="es" sz="1700" u="sng"/>
              <a:t>Otra opción es desde la consola de Chrome pulsando Ctrl+Shift+I</a:t>
            </a:r>
            <a:endParaRPr sz="1700" u="sng"/>
          </a:p>
          <a:p>
            <a:pPr indent="-336550" lvl="0" marL="457200" rtl="0" algn="l">
              <a:lnSpc>
                <a:spcPct val="130000"/>
              </a:lnSpc>
              <a:spcBef>
                <a:spcPts val="1000"/>
              </a:spcBef>
              <a:spcAft>
                <a:spcPts val="0"/>
              </a:spcAft>
              <a:buSzPts val="1700"/>
              <a:buChar char="●"/>
            </a:pPr>
            <a:r>
              <a:rPr lang="es" sz="1700"/>
              <a:t>Nos basaremos en el estándar </a:t>
            </a:r>
            <a:r>
              <a:rPr b="1" lang="es" sz="1700"/>
              <a:t>EcmaScript 2015 (ES6)</a:t>
            </a:r>
            <a:r>
              <a:rPr lang="es" sz="1700"/>
              <a:t> para explicar el lenguaje</a:t>
            </a:r>
            <a:endParaRPr sz="1700"/>
          </a:p>
          <a:p>
            <a:pPr indent="-336550" lvl="0" marL="457200" rtl="0" algn="l">
              <a:lnSpc>
                <a:spcPct val="130000"/>
              </a:lnSpc>
              <a:spcBef>
                <a:spcPts val="1000"/>
              </a:spcBef>
              <a:spcAft>
                <a:spcPts val="1000"/>
              </a:spcAft>
              <a:buSzPts val="1700"/>
              <a:buChar char="●"/>
            </a:pPr>
            <a:r>
              <a:rPr lang="es" sz="1700"/>
              <a:t>El punto y coma (;) al final de cada instrucción es </a:t>
            </a:r>
            <a:r>
              <a:rPr lang="es" sz="1700" u="sng"/>
              <a:t>optativo</a:t>
            </a:r>
            <a:r>
              <a:rPr lang="es" sz="1700"/>
              <a:t>. Usarlo o no queda a su criterio, pero sean consistentes con su elección.</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Instalación de Node.js (Ubuntu)</a:t>
            </a:r>
            <a:endParaRPr/>
          </a:p>
        </p:txBody>
      </p:sp>
      <p:sp>
        <p:nvSpPr>
          <p:cNvPr id="128" name="Google Shape;128;p19"/>
          <p:cNvSpPr txBox="1"/>
          <p:nvPr/>
        </p:nvSpPr>
        <p:spPr>
          <a:xfrm>
            <a:off x="311700" y="1182950"/>
            <a:ext cx="8871300" cy="333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2"/>
                </a:solidFill>
                <a:latin typeface="Roboto Serif"/>
                <a:ea typeface="Roboto Serif"/>
                <a:cs typeface="Roboto Serif"/>
                <a:sym typeface="Roboto Serif"/>
              </a:rPr>
              <a:t>Ejecutar los comandos en </a:t>
            </a:r>
            <a:r>
              <a:rPr b="1" lang="es" sz="1700">
                <a:solidFill>
                  <a:srgbClr val="6A9955"/>
                </a:solidFill>
                <a:latin typeface="Roboto Serif"/>
                <a:ea typeface="Roboto Serif"/>
                <a:cs typeface="Roboto Serif"/>
                <a:sym typeface="Roboto Serif"/>
              </a:rPr>
              <a:t>verde</a:t>
            </a:r>
            <a:r>
              <a:rPr lang="es" sz="1700">
                <a:solidFill>
                  <a:schemeClr val="dk2"/>
                </a:solidFill>
                <a:latin typeface="Roboto Serif"/>
                <a:ea typeface="Roboto Serif"/>
                <a:cs typeface="Roboto Serif"/>
                <a:sym typeface="Roboto Serif"/>
              </a:rPr>
              <a:t>. Si les arroja error arranquen desde el principio.</a:t>
            </a:r>
            <a:endParaRPr sz="1700">
              <a:solidFill>
                <a:schemeClr val="dk2"/>
              </a:solidFill>
              <a:latin typeface="Roboto Serif"/>
              <a:ea typeface="Roboto Serif"/>
              <a:cs typeface="Roboto Serif"/>
              <a:sym typeface="Roboto Serif"/>
            </a:endParaRPr>
          </a:p>
          <a:p>
            <a:pPr indent="0" lvl="0" marL="0" rtl="0" algn="l">
              <a:spcBef>
                <a:spcPts val="0"/>
              </a:spcBef>
              <a:spcAft>
                <a:spcPts val="0"/>
              </a:spcAft>
              <a:buNone/>
            </a:pPr>
            <a:r>
              <a:t/>
            </a:r>
            <a:endParaRPr sz="900">
              <a:solidFill>
                <a:schemeClr val="dk2"/>
              </a:solidFill>
              <a:latin typeface="Roboto Serif"/>
              <a:ea typeface="Roboto Serif"/>
              <a:cs typeface="Roboto Serif"/>
              <a:sym typeface="Roboto Serif"/>
            </a:endParaRPr>
          </a:p>
          <a:p>
            <a:pPr indent="0" lvl="0" marL="0" rtl="0" algn="l">
              <a:spcBef>
                <a:spcPts val="0"/>
              </a:spcBef>
              <a:spcAft>
                <a:spcPts val="0"/>
              </a:spcAft>
              <a:buNone/>
            </a:pPr>
            <a:r>
              <a:t/>
            </a:r>
            <a:endParaRPr sz="1200">
              <a:solidFill>
                <a:schemeClr val="dk2"/>
              </a:solidFill>
              <a:latin typeface="Roboto Serif"/>
              <a:ea typeface="Roboto Serif"/>
              <a:cs typeface="Roboto Serif"/>
              <a:sym typeface="Roboto Serif"/>
            </a:endParaRPr>
          </a:p>
          <a:p>
            <a:pPr indent="0" lvl="0" marL="0" rtl="0" algn="l">
              <a:lnSpc>
                <a:spcPct val="150000"/>
              </a:lnSpc>
              <a:spcBef>
                <a:spcPts val="0"/>
              </a:spcBef>
              <a:spcAft>
                <a:spcPts val="0"/>
              </a:spcAft>
              <a:buNone/>
            </a:pPr>
            <a:r>
              <a:rPr lang="es" sz="1300">
                <a:solidFill>
                  <a:schemeClr val="dk2"/>
                </a:solidFill>
                <a:latin typeface="Roboto Mono"/>
                <a:ea typeface="Roboto Mono"/>
                <a:cs typeface="Roboto Mono"/>
                <a:sym typeface="Roboto Mono"/>
              </a:rPr>
              <a:t>sudo apt update</a:t>
            </a:r>
            <a:endParaRPr sz="1300">
              <a:solidFill>
                <a:schemeClr val="dk2"/>
              </a:solidFill>
              <a:latin typeface="Roboto Mono"/>
              <a:ea typeface="Roboto Mono"/>
              <a:cs typeface="Roboto Mono"/>
              <a:sym typeface="Roboto Mono"/>
            </a:endParaRPr>
          </a:p>
          <a:p>
            <a:pPr indent="0" lvl="0" marL="0" rtl="0" algn="l">
              <a:lnSpc>
                <a:spcPct val="150000"/>
              </a:lnSpc>
              <a:spcBef>
                <a:spcPts val="0"/>
              </a:spcBef>
              <a:spcAft>
                <a:spcPts val="0"/>
              </a:spcAft>
              <a:buNone/>
            </a:pPr>
            <a:r>
              <a:rPr lang="es" sz="1300">
                <a:solidFill>
                  <a:srgbClr val="1F1F1F"/>
                </a:solidFill>
                <a:latin typeface="Roboto Mono"/>
                <a:ea typeface="Roboto Mono"/>
                <a:cs typeface="Roboto Mono"/>
                <a:sym typeface="Roboto Mono"/>
              </a:rPr>
              <a:t>sudo apt upgrade -y</a:t>
            </a:r>
            <a:r>
              <a:rPr b="1" lang="es" sz="1300">
                <a:solidFill>
                  <a:srgbClr val="1F1F1F"/>
                </a:solidFill>
                <a:latin typeface="Roboto Mono"/>
                <a:ea typeface="Roboto Mono"/>
                <a:cs typeface="Roboto Mono"/>
                <a:sym typeface="Roboto Mono"/>
              </a:rPr>
              <a:t> </a:t>
            </a:r>
            <a:r>
              <a:rPr b="1" lang="es" sz="1300">
                <a:solidFill>
                  <a:srgbClr val="FF9900"/>
                </a:solidFill>
                <a:latin typeface="Roboto Mono"/>
                <a:ea typeface="Roboto Mono"/>
                <a:cs typeface="Roboto Mono"/>
                <a:sym typeface="Roboto Mono"/>
              </a:rPr>
              <a:t>     —-------&gt;  OJO: tarda mucho     </a:t>
            </a:r>
            <a:endParaRPr b="1" sz="1300">
              <a:solidFill>
                <a:srgbClr val="FF9900"/>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s" sz="1300">
                <a:solidFill>
                  <a:srgbClr val="6A9955"/>
                </a:solidFill>
                <a:latin typeface="Roboto Mono"/>
                <a:ea typeface="Roboto Mono"/>
                <a:cs typeface="Roboto Mono"/>
                <a:sym typeface="Roboto Mono"/>
              </a:rPr>
              <a:t>sudo apt install curl -y</a:t>
            </a:r>
            <a:endParaRPr b="1" sz="1300">
              <a:solidFill>
                <a:srgbClr val="6A9955"/>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s" sz="1300">
                <a:solidFill>
                  <a:srgbClr val="6A9955"/>
                </a:solidFill>
                <a:latin typeface="Roboto Mono"/>
                <a:ea typeface="Roboto Mono"/>
                <a:cs typeface="Roboto Mono"/>
                <a:sym typeface="Roboto Mono"/>
              </a:rPr>
              <a:t>curl -o- https://raw.githubusercontent.com/nvm-sh/nvm/v0.39.0/install.sh | bash</a:t>
            </a:r>
            <a:endParaRPr b="1" sz="1300">
              <a:solidFill>
                <a:srgbClr val="6A9955"/>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s" sz="1300">
                <a:solidFill>
                  <a:srgbClr val="6A9955"/>
                </a:solidFill>
                <a:latin typeface="Roboto Mono"/>
                <a:ea typeface="Roboto Mono"/>
                <a:cs typeface="Roboto Mono"/>
                <a:sym typeface="Roboto Mono"/>
              </a:rPr>
              <a:t>source ~/.bashrc</a:t>
            </a:r>
            <a:endParaRPr b="1" sz="1300">
              <a:solidFill>
                <a:srgbClr val="6A9955"/>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s" sz="1300">
                <a:solidFill>
                  <a:srgbClr val="6A9955"/>
                </a:solidFill>
                <a:latin typeface="Roboto Mono"/>
                <a:ea typeface="Roboto Mono"/>
                <a:cs typeface="Roboto Mono"/>
                <a:sym typeface="Roboto Mono"/>
              </a:rPr>
              <a:t>nvm install --lts</a:t>
            </a:r>
            <a:endParaRPr b="1" sz="1300">
              <a:solidFill>
                <a:srgbClr val="6A9955"/>
              </a:solidFill>
              <a:latin typeface="Roboto Mono"/>
              <a:ea typeface="Roboto Mono"/>
              <a:cs typeface="Roboto Mono"/>
              <a:sym typeface="Roboto Mono"/>
            </a:endParaRPr>
          </a:p>
          <a:p>
            <a:pPr indent="0" lvl="0" marL="0" rtl="0" algn="l">
              <a:lnSpc>
                <a:spcPct val="150000"/>
              </a:lnSpc>
              <a:spcBef>
                <a:spcPts val="0"/>
              </a:spcBef>
              <a:spcAft>
                <a:spcPts val="0"/>
              </a:spcAft>
              <a:buNone/>
            </a:pPr>
            <a:r>
              <a:rPr b="1" lang="es" sz="1300">
                <a:solidFill>
                  <a:srgbClr val="6A9955"/>
                </a:solidFill>
                <a:latin typeface="Roboto Mono"/>
                <a:ea typeface="Roboto Mono"/>
                <a:cs typeface="Roboto Mono"/>
                <a:sym typeface="Roboto Mono"/>
              </a:rPr>
              <a:t>nvm alias default </a:t>
            </a:r>
            <a:r>
              <a:rPr b="1" lang="es" sz="1300">
                <a:solidFill>
                  <a:srgbClr val="6A9955"/>
                </a:solidFill>
                <a:latin typeface="Roboto Mono"/>
                <a:ea typeface="Roboto Mono"/>
                <a:cs typeface="Roboto Mono"/>
                <a:sym typeface="Roboto Mono"/>
              </a:rPr>
              <a:t>22.14.0</a:t>
            </a:r>
            <a:endParaRPr b="1" sz="1300">
              <a:solidFill>
                <a:srgbClr val="6A9955"/>
              </a:solidFill>
              <a:latin typeface="Roboto Mono"/>
              <a:ea typeface="Roboto Mono"/>
              <a:cs typeface="Roboto Mono"/>
              <a:sym typeface="Roboto Mono"/>
            </a:endParaRPr>
          </a:p>
          <a:p>
            <a:pPr indent="0" lvl="0" marL="0" rtl="0" algn="l">
              <a:lnSpc>
                <a:spcPct val="150000"/>
              </a:lnSpc>
              <a:spcBef>
                <a:spcPts val="0"/>
              </a:spcBef>
              <a:spcAft>
                <a:spcPts val="0"/>
              </a:spcAft>
              <a:buNone/>
            </a:pPr>
            <a:r>
              <a:rPr lang="es" sz="1300">
                <a:solidFill>
                  <a:srgbClr val="1F1F1F"/>
                </a:solidFill>
                <a:latin typeface="Roboto Mono"/>
                <a:ea typeface="Roboto Mono"/>
                <a:cs typeface="Roboto Mono"/>
                <a:sym typeface="Roboto Mono"/>
              </a:rPr>
              <a:t>node -v</a:t>
            </a:r>
            <a:r>
              <a:rPr b="1" lang="es" sz="1300">
                <a:solidFill>
                  <a:srgbClr val="1F1F1F"/>
                </a:solidFill>
                <a:latin typeface="Roboto Mono"/>
                <a:ea typeface="Roboto Mono"/>
                <a:cs typeface="Roboto Mono"/>
                <a:sym typeface="Roboto Mono"/>
              </a:rPr>
              <a:t> </a:t>
            </a:r>
            <a:r>
              <a:rPr b="1" lang="es" sz="1300">
                <a:solidFill>
                  <a:srgbClr val="FF9900"/>
                </a:solidFill>
                <a:latin typeface="Roboto Mono"/>
                <a:ea typeface="Roboto Mono"/>
                <a:cs typeface="Roboto Mono"/>
                <a:sym typeface="Roboto Mono"/>
              </a:rPr>
              <a:t>     			  —-------&gt;  Chequear que esté instalado</a:t>
            </a:r>
            <a:endParaRPr sz="1700">
              <a:solidFill>
                <a:srgbClr val="1F1F1F"/>
              </a:solidFill>
              <a:latin typeface="Roboto Mono"/>
              <a:ea typeface="Roboto Mono"/>
              <a:cs typeface="Roboto Mono"/>
              <a:sym typeface="Roboto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Consola de desarrollador de Chrome</a:t>
            </a:r>
            <a:endParaRPr/>
          </a:p>
        </p:txBody>
      </p:sp>
      <p:sp>
        <p:nvSpPr>
          <p:cNvPr id="134" name="Google Shape;134;p20"/>
          <p:cNvSpPr txBox="1"/>
          <p:nvPr>
            <p:ph idx="1" type="body"/>
          </p:nvPr>
        </p:nvSpPr>
        <p:spPr>
          <a:xfrm>
            <a:off x="311700" y="1017800"/>
            <a:ext cx="8520600" cy="1514700"/>
          </a:xfrm>
          <a:prstGeom prst="rect">
            <a:avLst/>
          </a:prstGeom>
        </p:spPr>
        <p:txBody>
          <a:bodyPr anchorCtr="0" anchor="t" bIns="91425" lIns="91425" spcFirstLastPara="1" rIns="91425" wrap="square" tIns="91425">
            <a:normAutofit lnSpcReduction="10000"/>
          </a:bodyPr>
          <a:lstStyle/>
          <a:p>
            <a:pPr indent="0" lvl="0" marL="0" rtl="0" algn="l">
              <a:lnSpc>
                <a:spcPct val="150000"/>
              </a:lnSpc>
              <a:spcBef>
                <a:spcPts val="0"/>
              </a:spcBef>
              <a:spcAft>
                <a:spcPts val="1200"/>
              </a:spcAft>
              <a:buNone/>
            </a:pPr>
            <a:r>
              <a:rPr lang="es" sz="1600"/>
              <a:t>Podemos escribir código JavaScript sin instalar nada. Lo único que tenemos que hacer es pulsar </a:t>
            </a:r>
            <a:r>
              <a:rPr b="1" lang="es" sz="1600"/>
              <a:t>Ctrl+Shift+I</a:t>
            </a:r>
            <a:r>
              <a:rPr lang="es" sz="1600"/>
              <a:t> o </a:t>
            </a:r>
            <a:r>
              <a:rPr b="1" lang="es" sz="1600"/>
              <a:t>F12</a:t>
            </a:r>
            <a:r>
              <a:rPr lang="es" sz="1600"/>
              <a:t> para abrir la consola de desarrollador de nuestro navegador, o haciendo </a:t>
            </a:r>
            <a:r>
              <a:rPr b="1" lang="es" sz="1600"/>
              <a:t>click derecho en la página -&gt; Inspeccionar -&gt; console</a:t>
            </a:r>
            <a:endParaRPr b="1" sz="1600"/>
          </a:p>
        </p:txBody>
      </p:sp>
      <p:pic>
        <p:nvPicPr>
          <p:cNvPr id="135" name="Google Shape;135;p20"/>
          <p:cNvPicPr preferRelativeResize="0"/>
          <p:nvPr/>
        </p:nvPicPr>
        <p:blipFill>
          <a:blip r:embed="rId3">
            <a:alphaModFix/>
          </a:blip>
          <a:stretch>
            <a:fillRect/>
          </a:stretch>
        </p:blipFill>
        <p:spPr>
          <a:xfrm>
            <a:off x="2535975" y="2272950"/>
            <a:ext cx="4072051" cy="2406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Variables y constantes</a:t>
            </a:r>
            <a:endParaRPr/>
          </a:p>
        </p:txBody>
      </p:sp>
      <p:sp>
        <p:nvSpPr>
          <p:cNvPr id="141" name="Google Shape;141;p21"/>
          <p:cNvSpPr txBox="1"/>
          <p:nvPr>
            <p:ph idx="1" type="body"/>
          </p:nvPr>
        </p:nvSpPr>
        <p:spPr>
          <a:xfrm>
            <a:off x="311700" y="1200850"/>
            <a:ext cx="4454400" cy="10875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s" sz="2200">
                <a:highlight>
                  <a:srgbClr val="66D9EF"/>
                </a:highlight>
                <a:latin typeface="Roboto Mono"/>
                <a:ea typeface="Roboto Mono"/>
                <a:cs typeface="Roboto Mono"/>
                <a:sym typeface="Roboto Mono"/>
              </a:rPr>
              <a:t>const</a:t>
            </a:r>
            <a:r>
              <a:rPr lang="es" sz="2200">
                <a:latin typeface="Roboto Mono"/>
                <a:ea typeface="Roboto Mono"/>
                <a:cs typeface="Roboto Mono"/>
                <a:sym typeface="Roboto Mono"/>
              </a:rPr>
              <a:t> PI = 3.14159265359</a:t>
            </a:r>
            <a:endParaRPr sz="2200">
              <a:latin typeface="Roboto Mono"/>
              <a:ea typeface="Roboto Mono"/>
              <a:cs typeface="Roboto Mono"/>
              <a:sym typeface="Roboto Mono"/>
            </a:endParaRPr>
          </a:p>
          <a:p>
            <a:pPr indent="0" lvl="0" marL="0" rtl="0" algn="l">
              <a:lnSpc>
                <a:spcPct val="150000"/>
              </a:lnSpc>
              <a:spcBef>
                <a:spcPts val="0"/>
              </a:spcBef>
              <a:spcAft>
                <a:spcPts val="0"/>
              </a:spcAft>
              <a:buNone/>
            </a:pPr>
            <a:r>
              <a:rPr lang="es" sz="2200">
                <a:highlight>
                  <a:srgbClr val="A6E22E"/>
                </a:highlight>
                <a:latin typeface="Roboto Mono"/>
                <a:ea typeface="Roboto Mono"/>
                <a:cs typeface="Roboto Mono"/>
                <a:sym typeface="Roboto Mono"/>
              </a:rPr>
              <a:t>let</a:t>
            </a:r>
            <a:r>
              <a:rPr lang="es" sz="2200">
                <a:latin typeface="Roboto Mono"/>
                <a:ea typeface="Roboto Mono"/>
                <a:cs typeface="Roboto Mono"/>
                <a:sym typeface="Roboto Mono"/>
              </a:rPr>
              <a:t> alumnosCursando = 237</a:t>
            </a:r>
            <a:endParaRPr sz="2200">
              <a:latin typeface="Roboto Mono"/>
              <a:ea typeface="Roboto Mono"/>
              <a:cs typeface="Roboto Mono"/>
              <a:sym typeface="Roboto Mono"/>
            </a:endParaRPr>
          </a:p>
        </p:txBody>
      </p:sp>
      <p:cxnSp>
        <p:nvCxnSpPr>
          <p:cNvPr id="142" name="Google Shape;142;p21"/>
          <p:cNvCxnSpPr>
            <a:stCxn id="143" idx="1"/>
          </p:cNvCxnSpPr>
          <p:nvPr/>
        </p:nvCxnSpPr>
        <p:spPr>
          <a:xfrm flipH="1">
            <a:off x="4572025" y="1431700"/>
            <a:ext cx="1523100" cy="14400"/>
          </a:xfrm>
          <a:prstGeom prst="straightConnector1">
            <a:avLst/>
          </a:prstGeom>
          <a:noFill/>
          <a:ln cap="flat" cmpd="sng" w="9525">
            <a:solidFill>
              <a:schemeClr val="dk2"/>
            </a:solidFill>
            <a:prstDash val="solid"/>
            <a:round/>
            <a:headEnd len="med" w="med" type="none"/>
            <a:tailEnd len="med" w="med" type="triangle"/>
          </a:ln>
        </p:spPr>
      </p:cxnSp>
      <p:sp>
        <p:nvSpPr>
          <p:cNvPr id="143" name="Google Shape;143;p21"/>
          <p:cNvSpPr txBox="1"/>
          <p:nvPr/>
        </p:nvSpPr>
        <p:spPr>
          <a:xfrm>
            <a:off x="6095125" y="1200850"/>
            <a:ext cx="279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479FDE"/>
                </a:solidFill>
                <a:latin typeface="Roboto Serif"/>
                <a:ea typeface="Roboto Serif"/>
                <a:cs typeface="Roboto Serif"/>
                <a:sym typeface="Roboto Serif"/>
              </a:rPr>
              <a:t>constante</a:t>
            </a:r>
            <a:endParaRPr b="1" sz="1800">
              <a:solidFill>
                <a:srgbClr val="479FDE"/>
              </a:solidFill>
              <a:latin typeface="Roboto Serif"/>
              <a:ea typeface="Roboto Serif"/>
              <a:cs typeface="Roboto Serif"/>
              <a:sym typeface="Roboto Serif"/>
            </a:endParaRPr>
          </a:p>
        </p:txBody>
      </p:sp>
      <p:cxnSp>
        <p:nvCxnSpPr>
          <p:cNvPr id="144" name="Google Shape;144;p21"/>
          <p:cNvCxnSpPr/>
          <p:nvPr/>
        </p:nvCxnSpPr>
        <p:spPr>
          <a:xfrm rot="10800000">
            <a:off x="4679575" y="1948125"/>
            <a:ext cx="1370400" cy="125100"/>
          </a:xfrm>
          <a:prstGeom prst="straightConnector1">
            <a:avLst/>
          </a:prstGeom>
          <a:noFill/>
          <a:ln cap="flat" cmpd="sng" w="9525">
            <a:solidFill>
              <a:schemeClr val="dk2"/>
            </a:solidFill>
            <a:prstDash val="solid"/>
            <a:round/>
            <a:headEnd len="med" w="med" type="none"/>
            <a:tailEnd len="med" w="med" type="triangle"/>
          </a:ln>
        </p:spPr>
      </p:cxnSp>
      <p:sp>
        <p:nvSpPr>
          <p:cNvPr id="145" name="Google Shape;145;p21"/>
          <p:cNvSpPr txBox="1"/>
          <p:nvPr/>
        </p:nvSpPr>
        <p:spPr>
          <a:xfrm>
            <a:off x="6162000" y="1826650"/>
            <a:ext cx="283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6AA84F"/>
                </a:solidFill>
                <a:latin typeface="Roboto Serif"/>
                <a:ea typeface="Roboto Serif"/>
                <a:cs typeface="Roboto Serif"/>
                <a:sym typeface="Roboto Serif"/>
              </a:rPr>
              <a:t>variable</a:t>
            </a:r>
            <a:endParaRPr b="1" sz="1800">
              <a:solidFill>
                <a:srgbClr val="6AA84F"/>
              </a:solidFill>
              <a:latin typeface="Roboto Serif"/>
              <a:ea typeface="Roboto Serif"/>
              <a:cs typeface="Roboto Serif"/>
              <a:sym typeface="Roboto Serif"/>
            </a:endParaRPr>
          </a:p>
        </p:txBody>
      </p:sp>
      <p:sp>
        <p:nvSpPr>
          <p:cNvPr id="146" name="Google Shape;146;p21"/>
          <p:cNvSpPr txBox="1"/>
          <p:nvPr/>
        </p:nvSpPr>
        <p:spPr>
          <a:xfrm>
            <a:off x="2351775" y="2650388"/>
            <a:ext cx="5544300" cy="4311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s" sz="1600">
                <a:solidFill>
                  <a:srgbClr val="FF0000"/>
                </a:solidFill>
                <a:latin typeface="Roboto Mono"/>
                <a:ea typeface="Roboto Mono"/>
                <a:cs typeface="Roboto Mono"/>
                <a:sym typeface="Roboto Mono"/>
              </a:rPr>
              <a:t>TypeError: Assignment to constant variable.</a:t>
            </a:r>
            <a:endParaRPr b="1" sz="1600">
              <a:solidFill>
                <a:srgbClr val="FF0000"/>
              </a:solidFill>
              <a:latin typeface="Roboto Mono"/>
              <a:ea typeface="Roboto Mono"/>
              <a:cs typeface="Roboto Mono"/>
              <a:sym typeface="Roboto Mono"/>
            </a:endParaRPr>
          </a:p>
        </p:txBody>
      </p:sp>
      <p:cxnSp>
        <p:nvCxnSpPr>
          <p:cNvPr id="147" name="Google Shape;147;p21"/>
          <p:cNvCxnSpPr>
            <a:stCxn id="146" idx="1"/>
          </p:cNvCxnSpPr>
          <p:nvPr/>
        </p:nvCxnSpPr>
        <p:spPr>
          <a:xfrm flipH="1">
            <a:off x="1572975" y="2865938"/>
            <a:ext cx="778800" cy="230400"/>
          </a:xfrm>
          <a:prstGeom prst="straightConnector1">
            <a:avLst/>
          </a:prstGeom>
          <a:noFill/>
          <a:ln cap="flat" cmpd="sng" w="28575">
            <a:solidFill>
              <a:srgbClr val="FF0000"/>
            </a:solidFill>
            <a:prstDash val="solid"/>
            <a:round/>
            <a:headEnd len="med" w="med" type="none"/>
            <a:tailEnd len="med" w="med" type="triangle"/>
          </a:ln>
        </p:spPr>
      </p:cxnSp>
      <p:pic>
        <p:nvPicPr>
          <p:cNvPr id="148" name="Google Shape;148;p21"/>
          <p:cNvPicPr preferRelativeResize="0"/>
          <p:nvPr/>
        </p:nvPicPr>
        <p:blipFill>
          <a:blip r:embed="rId3">
            <a:alphaModFix/>
          </a:blip>
          <a:stretch>
            <a:fillRect/>
          </a:stretch>
        </p:blipFill>
        <p:spPr>
          <a:xfrm>
            <a:off x="5205825" y="3519175"/>
            <a:ext cx="1449000" cy="971525"/>
          </a:xfrm>
          <a:prstGeom prst="rect">
            <a:avLst/>
          </a:prstGeom>
          <a:noFill/>
          <a:ln>
            <a:noFill/>
          </a:ln>
        </p:spPr>
      </p:pic>
      <p:sp>
        <p:nvSpPr>
          <p:cNvPr id="149" name="Google Shape;149;p21"/>
          <p:cNvSpPr txBox="1"/>
          <p:nvPr/>
        </p:nvSpPr>
        <p:spPr>
          <a:xfrm>
            <a:off x="393900" y="2865950"/>
            <a:ext cx="13704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2200">
                <a:solidFill>
                  <a:schemeClr val="dk2"/>
                </a:solidFill>
                <a:latin typeface="Roboto Mono"/>
                <a:ea typeface="Roboto Mono"/>
                <a:cs typeface="Roboto Mono"/>
                <a:sym typeface="Roboto Mono"/>
              </a:rPr>
              <a:t>PI = 3</a:t>
            </a:r>
            <a:endParaRPr sz="1800">
              <a:solidFill>
                <a:schemeClr val="dk2"/>
              </a:solidFill>
              <a:latin typeface="Roboto Serif"/>
              <a:ea typeface="Roboto Serif"/>
              <a:cs typeface="Roboto Serif"/>
              <a:sym typeface="Roboto Serif"/>
            </a:endParaRPr>
          </a:p>
        </p:txBody>
      </p:sp>
      <p:sp>
        <p:nvSpPr>
          <p:cNvPr id="150" name="Google Shape;150;p21"/>
          <p:cNvSpPr txBox="1"/>
          <p:nvPr/>
        </p:nvSpPr>
        <p:spPr>
          <a:xfrm>
            <a:off x="393900" y="3891675"/>
            <a:ext cx="38043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2200">
                <a:solidFill>
                  <a:schemeClr val="dk2"/>
                </a:solidFill>
                <a:latin typeface="Roboto Mono"/>
                <a:ea typeface="Roboto Mono"/>
                <a:cs typeface="Roboto Mono"/>
                <a:sym typeface="Roboto Mono"/>
              </a:rPr>
              <a:t>alumnosCursando = 122</a:t>
            </a:r>
            <a:endParaRPr sz="1800">
              <a:solidFill>
                <a:schemeClr val="dk2"/>
              </a:solidFill>
              <a:latin typeface="Roboto Serif"/>
              <a:ea typeface="Roboto Serif"/>
              <a:cs typeface="Roboto Serif"/>
              <a:sym typeface="Roboto Serif"/>
            </a:endParaRPr>
          </a:p>
        </p:txBody>
      </p:sp>
      <p:cxnSp>
        <p:nvCxnSpPr>
          <p:cNvPr id="151" name="Google Shape;151;p21"/>
          <p:cNvCxnSpPr>
            <a:stCxn id="148" idx="1"/>
            <a:endCxn id="150" idx="3"/>
          </p:cNvCxnSpPr>
          <p:nvPr/>
        </p:nvCxnSpPr>
        <p:spPr>
          <a:xfrm flipH="1">
            <a:off x="4198125" y="4004938"/>
            <a:ext cx="1007700" cy="1482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Tipos de datos</a:t>
            </a:r>
            <a:endParaRPr/>
          </a:p>
        </p:txBody>
      </p:sp>
      <p:sp>
        <p:nvSpPr>
          <p:cNvPr id="157" name="Google Shape;157;p22"/>
          <p:cNvSpPr txBox="1"/>
          <p:nvPr>
            <p:ph idx="1" type="body"/>
          </p:nvPr>
        </p:nvSpPr>
        <p:spPr>
          <a:xfrm>
            <a:off x="311700" y="1061725"/>
            <a:ext cx="8520600" cy="3680700"/>
          </a:xfrm>
          <a:prstGeom prst="rect">
            <a:avLst/>
          </a:prstGeom>
        </p:spPr>
        <p:txBody>
          <a:bodyPr anchorCtr="0" anchor="t" bIns="91425" lIns="91425" spcFirstLastPara="1" rIns="91425" wrap="square" tIns="91425">
            <a:normAutofit fontScale="85000" lnSpcReduction="10000"/>
          </a:bodyPr>
          <a:lstStyle/>
          <a:p>
            <a:pPr indent="0" lvl="0" marL="0" rtl="0" algn="l">
              <a:lnSpc>
                <a:spcPct val="150000"/>
              </a:lnSpc>
              <a:spcBef>
                <a:spcPts val="0"/>
              </a:spcBef>
              <a:spcAft>
                <a:spcPts val="0"/>
              </a:spcAft>
              <a:buNone/>
            </a:pPr>
            <a:r>
              <a:rPr i="1" lang="es">
                <a:latin typeface="Roboto Mono"/>
                <a:ea typeface="Roboto Mono"/>
                <a:cs typeface="Roboto Mono"/>
                <a:sym typeface="Roboto Mono"/>
              </a:rPr>
              <a:t>const </a:t>
            </a:r>
            <a:r>
              <a:rPr lang="es">
                <a:latin typeface="Roboto Mono"/>
                <a:ea typeface="Roboto Mono"/>
                <a:cs typeface="Roboto Mono"/>
                <a:sym typeface="Roboto Mono"/>
              </a:rPr>
              <a:t>alumnos = </a:t>
            </a:r>
            <a:r>
              <a:rPr b="1" lang="es">
                <a:solidFill>
                  <a:srgbClr val="FF00FF"/>
                </a:solidFill>
                <a:latin typeface="Roboto Mono"/>
                <a:ea typeface="Roboto Mono"/>
                <a:cs typeface="Roboto Mono"/>
                <a:sym typeface="Roboto Mono"/>
              </a:rPr>
              <a:t>237</a:t>
            </a:r>
            <a:r>
              <a:rPr b="1" lang="es">
                <a:latin typeface="Roboto Mono"/>
                <a:ea typeface="Roboto Mono"/>
                <a:cs typeface="Roboto Mono"/>
                <a:sym typeface="Roboto Mono"/>
              </a:rPr>
              <a:t>	</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a:t>
            </a:r>
            <a:r>
              <a:rPr lang="es">
                <a:solidFill>
                  <a:srgbClr val="FF00FF"/>
                </a:solidFill>
                <a:latin typeface="Roboto Mono"/>
                <a:ea typeface="Roboto Mono"/>
                <a:cs typeface="Roboto Mono"/>
                <a:sym typeface="Roboto Mono"/>
              </a:rPr>
              <a:t> </a:t>
            </a:r>
            <a:r>
              <a:rPr b="1" lang="es">
                <a:solidFill>
                  <a:srgbClr val="FF00FF"/>
                </a:solidFill>
              </a:rPr>
              <a:t>number</a:t>
            </a:r>
            <a:endParaRPr b="1">
              <a:solidFill>
                <a:srgbClr val="FF00FF"/>
              </a:solidFill>
            </a:endParaRPr>
          </a:p>
          <a:p>
            <a:pPr indent="0" lvl="0" marL="0" rtl="0" algn="l">
              <a:lnSpc>
                <a:spcPct val="150000"/>
              </a:lnSpc>
              <a:spcBef>
                <a:spcPts val="0"/>
              </a:spcBef>
              <a:spcAft>
                <a:spcPts val="0"/>
              </a:spcAft>
              <a:buNone/>
            </a:pPr>
            <a:r>
              <a:rPr i="1" lang="es">
                <a:latin typeface="Roboto Mono"/>
                <a:ea typeface="Roboto Mono"/>
                <a:cs typeface="Roboto Mono"/>
                <a:sym typeface="Roboto Mono"/>
              </a:rPr>
              <a:t>const </a:t>
            </a:r>
            <a:r>
              <a:rPr lang="es">
                <a:latin typeface="Roboto Mono"/>
                <a:ea typeface="Roboto Mono"/>
                <a:cs typeface="Roboto Mono"/>
                <a:sym typeface="Roboto Mono"/>
              </a:rPr>
              <a:t>precio = </a:t>
            </a:r>
            <a:r>
              <a:rPr b="1" lang="es">
                <a:solidFill>
                  <a:srgbClr val="FF00FF"/>
                </a:solidFill>
                <a:latin typeface="Roboto Mono"/>
                <a:ea typeface="Roboto Mono"/>
                <a:cs typeface="Roboto Mono"/>
                <a:sym typeface="Roboto Mono"/>
              </a:rPr>
              <a:t>1392.50</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 </a:t>
            </a:r>
            <a:r>
              <a:rPr b="1" lang="es">
                <a:solidFill>
                  <a:srgbClr val="FF00FF"/>
                </a:solidFill>
              </a:rPr>
              <a:t>number</a:t>
            </a:r>
            <a:endParaRPr b="1">
              <a:solidFill>
                <a:srgbClr val="FF00FF"/>
              </a:solidFill>
            </a:endParaRPr>
          </a:p>
          <a:p>
            <a:pPr indent="0" lvl="0" marL="0" rtl="0" algn="l">
              <a:lnSpc>
                <a:spcPct val="150000"/>
              </a:lnSpc>
              <a:spcBef>
                <a:spcPts val="0"/>
              </a:spcBef>
              <a:spcAft>
                <a:spcPts val="0"/>
              </a:spcAft>
              <a:buNone/>
            </a:pPr>
            <a:r>
              <a:rPr i="1" lang="es">
                <a:latin typeface="Roboto Mono"/>
                <a:ea typeface="Roboto Mono"/>
                <a:cs typeface="Roboto Mono"/>
                <a:sym typeface="Roboto Mono"/>
              </a:rPr>
              <a:t>const </a:t>
            </a:r>
            <a:r>
              <a:rPr lang="es">
                <a:latin typeface="Roboto Mono"/>
                <a:ea typeface="Roboto Mono"/>
                <a:cs typeface="Roboto Mono"/>
                <a:sym typeface="Roboto Mono"/>
              </a:rPr>
              <a:t>nombre = </a:t>
            </a:r>
            <a:r>
              <a:rPr b="1" lang="es">
                <a:solidFill>
                  <a:srgbClr val="FD971F"/>
                </a:solidFill>
                <a:latin typeface="Roboto Mono"/>
                <a:ea typeface="Roboto Mono"/>
                <a:cs typeface="Roboto Mono"/>
                <a:sym typeface="Roboto Mono"/>
              </a:rPr>
              <a:t>“Bruno”</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a:t>
            </a:r>
            <a:r>
              <a:rPr lang="es">
                <a:solidFill>
                  <a:srgbClr val="1F1F1F"/>
                </a:solidFill>
                <a:latin typeface="Roboto Mono"/>
                <a:ea typeface="Roboto Mono"/>
                <a:cs typeface="Roboto Mono"/>
                <a:sym typeface="Roboto Mono"/>
              </a:rPr>
              <a:t>/ </a:t>
            </a:r>
            <a:r>
              <a:rPr b="1" lang="es">
                <a:solidFill>
                  <a:srgbClr val="FD971F"/>
                </a:solidFill>
              </a:rPr>
              <a:t>string</a:t>
            </a:r>
            <a:endParaRPr b="1">
              <a:solidFill>
                <a:srgbClr val="FD971F"/>
              </a:solidFill>
            </a:endParaRPr>
          </a:p>
          <a:p>
            <a:pPr indent="0" lvl="0" marL="0" rtl="0" algn="l">
              <a:lnSpc>
                <a:spcPct val="150000"/>
              </a:lnSpc>
              <a:spcBef>
                <a:spcPts val="0"/>
              </a:spcBef>
              <a:spcAft>
                <a:spcPts val="0"/>
              </a:spcAft>
              <a:buNone/>
            </a:pPr>
            <a:r>
              <a:rPr i="1" lang="es">
                <a:latin typeface="Roboto Mono"/>
                <a:ea typeface="Roboto Mono"/>
                <a:cs typeface="Roboto Mono"/>
                <a:sym typeface="Roboto Mono"/>
              </a:rPr>
              <a:t>const </a:t>
            </a:r>
            <a:r>
              <a:rPr lang="es">
                <a:latin typeface="Roboto Mono"/>
                <a:ea typeface="Roboto Mono"/>
                <a:cs typeface="Roboto Mono"/>
                <a:sym typeface="Roboto Mono"/>
              </a:rPr>
              <a:t>esDomingo = </a:t>
            </a:r>
            <a:r>
              <a:rPr b="1" lang="es">
                <a:solidFill>
                  <a:srgbClr val="0C9AFF"/>
                </a:solidFill>
                <a:latin typeface="Roboto Mono"/>
                <a:ea typeface="Roboto Mono"/>
                <a:cs typeface="Roboto Mono"/>
                <a:sym typeface="Roboto Mono"/>
              </a:rPr>
              <a:t>false</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 </a:t>
            </a:r>
            <a:r>
              <a:rPr b="1" lang="es">
                <a:solidFill>
                  <a:srgbClr val="0C9AFF"/>
                </a:solidFill>
              </a:rPr>
              <a:t>boolean</a:t>
            </a:r>
            <a:endParaRPr b="1">
              <a:solidFill>
                <a:srgbClr val="0C9AFF"/>
              </a:solidFill>
            </a:endParaRPr>
          </a:p>
          <a:p>
            <a:pPr indent="0" lvl="0" marL="0" rtl="0" algn="l">
              <a:lnSpc>
                <a:spcPct val="150000"/>
              </a:lnSpc>
              <a:spcBef>
                <a:spcPts val="0"/>
              </a:spcBef>
              <a:spcAft>
                <a:spcPts val="0"/>
              </a:spcAft>
              <a:buNone/>
            </a:pPr>
            <a:r>
              <a:t/>
            </a:r>
            <a:endParaRPr>
              <a:latin typeface="Roboto Mono"/>
              <a:ea typeface="Roboto Mono"/>
              <a:cs typeface="Roboto Mono"/>
              <a:sym typeface="Roboto Mono"/>
            </a:endParaRPr>
          </a:p>
          <a:p>
            <a:pPr indent="0" lvl="0" marL="0" rtl="0" algn="l">
              <a:lnSpc>
                <a:spcPct val="150000"/>
              </a:lnSpc>
              <a:spcBef>
                <a:spcPts val="0"/>
              </a:spcBef>
              <a:spcAft>
                <a:spcPts val="0"/>
              </a:spcAft>
              <a:buNone/>
            </a:pPr>
            <a:r>
              <a:rPr i="1" lang="es">
                <a:latin typeface="Roboto Mono"/>
                <a:ea typeface="Roboto Mono"/>
                <a:cs typeface="Roboto Mono"/>
                <a:sym typeface="Roboto Mono"/>
              </a:rPr>
              <a:t>const </a:t>
            </a:r>
            <a:r>
              <a:rPr lang="es">
                <a:latin typeface="Roboto Mono"/>
                <a:ea typeface="Roboto Mono"/>
                <a:cs typeface="Roboto Mono"/>
                <a:sym typeface="Roboto Mono"/>
              </a:rPr>
              <a:t>persona = </a:t>
            </a:r>
            <a:r>
              <a:rPr b="1" lang="es">
                <a:solidFill>
                  <a:srgbClr val="70CA48"/>
                </a:solidFill>
                <a:latin typeface="Roboto Mono"/>
                <a:ea typeface="Roboto Mono"/>
                <a:cs typeface="Roboto Mono"/>
                <a:sym typeface="Roboto Mono"/>
              </a:rPr>
              <a:t>{nombre: “pepe”, edad: 26}</a:t>
            </a:r>
            <a:r>
              <a:rPr lang="es">
                <a:solidFill>
                  <a:srgbClr val="70CA48"/>
                </a:solidFill>
                <a:latin typeface="Roboto Mono"/>
                <a:ea typeface="Roboto Mono"/>
                <a:cs typeface="Roboto Mono"/>
                <a:sym typeface="Roboto Mono"/>
              </a:rPr>
              <a:t>	</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a:t>
            </a:r>
            <a:r>
              <a:rPr lang="es">
                <a:solidFill>
                  <a:srgbClr val="70CA48"/>
                </a:solidFill>
                <a:latin typeface="Roboto Mono"/>
                <a:ea typeface="Roboto Mono"/>
                <a:cs typeface="Roboto Mono"/>
                <a:sym typeface="Roboto Mono"/>
              </a:rPr>
              <a:t> </a:t>
            </a:r>
            <a:r>
              <a:rPr b="1" lang="es">
                <a:solidFill>
                  <a:srgbClr val="70CA48"/>
                </a:solidFill>
              </a:rPr>
              <a:t>object</a:t>
            </a:r>
            <a:endParaRPr b="1">
              <a:solidFill>
                <a:srgbClr val="70CA48"/>
              </a:solidFill>
            </a:endParaRPr>
          </a:p>
          <a:p>
            <a:pPr indent="0" lvl="0" marL="0" rtl="0" algn="l">
              <a:lnSpc>
                <a:spcPct val="150000"/>
              </a:lnSpc>
              <a:spcBef>
                <a:spcPts val="0"/>
              </a:spcBef>
              <a:spcAft>
                <a:spcPts val="0"/>
              </a:spcAft>
              <a:buNone/>
            </a:pPr>
            <a:r>
              <a:rPr i="1" lang="es">
                <a:latin typeface="Roboto Mono"/>
                <a:ea typeface="Roboto Mono"/>
                <a:cs typeface="Roboto Mono"/>
                <a:sym typeface="Roboto Mono"/>
              </a:rPr>
              <a:t>const </a:t>
            </a:r>
            <a:r>
              <a:rPr lang="es">
                <a:latin typeface="Roboto Mono"/>
                <a:ea typeface="Roboto Mono"/>
                <a:cs typeface="Roboto Mono"/>
                <a:sym typeface="Roboto Mono"/>
              </a:rPr>
              <a:t>numeros = </a:t>
            </a:r>
            <a:r>
              <a:rPr b="1" lang="es">
                <a:solidFill>
                  <a:srgbClr val="70CA48"/>
                </a:solidFill>
                <a:latin typeface="Roboto Mono"/>
                <a:ea typeface="Roboto Mono"/>
                <a:cs typeface="Roboto Mono"/>
                <a:sym typeface="Roboto Mono"/>
              </a:rPr>
              <a:t>[1, 2, 3]</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a:t>
            </a:r>
            <a:r>
              <a:rPr lang="es">
                <a:solidFill>
                  <a:srgbClr val="70CA48"/>
                </a:solidFill>
                <a:latin typeface="Roboto Mono"/>
                <a:ea typeface="Roboto Mono"/>
                <a:cs typeface="Roboto Mono"/>
                <a:sym typeface="Roboto Mono"/>
              </a:rPr>
              <a:t> </a:t>
            </a:r>
            <a:r>
              <a:rPr b="1" lang="es">
                <a:solidFill>
                  <a:srgbClr val="70CA48"/>
                </a:solidFill>
              </a:rPr>
              <a:t>object</a:t>
            </a:r>
            <a:endParaRPr b="1">
              <a:solidFill>
                <a:srgbClr val="70CA48"/>
              </a:solidFill>
            </a:endParaRPr>
          </a:p>
          <a:p>
            <a:pPr indent="0" lvl="0" marL="0" rtl="0" algn="l">
              <a:lnSpc>
                <a:spcPct val="150000"/>
              </a:lnSpc>
              <a:spcBef>
                <a:spcPts val="0"/>
              </a:spcBef>
              <a:spcAft>
                <a:spcPts val="0"/>
              </a:spcAft>
              <a:buNone/>
            </a:pPr>
            <a:r>
              <a:rPr i="1" lang="es">
                <a:latin typeface="Roboto Mono"/>
                <a:ea typeface="Roboto Mono"/>
                <a:cs typeface="Roboto Mono"/>
                <a:sym typeface="Roboto Mono"/>
              </a:rPr>
              <a:t>let </a:t>
            </a:r>
            <a:r>
              <a:rPr lang="es">
                <a:latin typeface="Roboto Mono"/>
                <a:ea typeface="Roboto Mono"/>
                <a:cs typeface="Roboto Mono"/>
                <a:sym typeface="Roboto Mono"/>
              </a:rPr>
              <a:t>valorInicial = </a:t>
            </a:r>
            <a:r>
              <a:rPr b="1" lang="es">
                <a:solidFill>
                  <a:srgbClr val="70CA48"/>
                </a:solidFill>
                <a:latin typeface="Roboto Mono"/>
                <a:ea typeface="Roboto Mono"/>
                <a:cs typeface="Roboto Mono"/>
                <a:sym typeface="Roboto Mono"/>
              </a:rPr>
              <a:t>null</a:t>
            </a:r>
            <a:r>
              <a:rPr lang="es">
                <a:solidFill>
                  <a:srgbClr val="70CA48"/>
                </a:solidFill>
                <a:latin typeface="Roboto Mono"/>
                <a:ea typeface="Roboto Mono"/>
                <a:cs typeface="Roboto Mono"/>
                <a:sym typeface="Roboto Mono"/>
              </a:rPr>
              <a:t>	</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 </a:t>
            </a:r>
            <a:r>
              <a:rPr b="1" lang="es">
                <a:solidFill>
                  <a:srgbClr val="70CA48"/>
                </a:solidFill>
              </a:rPr>
              <a:t>object</a:t>
            </a:r>
            <a:endParaRPr b="1">
              <a:solidFill>
                <a:srgbClr val="70CA48"/>
              </a:solidFill>
            </a:endParaRPr>
          </a:p>
          <a:p>
            <a:pPr indent="0" lvl="0" marL="0" rtl="0" algn="l">
              <a:lnSpc>
                <a:spcPct val="150000"/>
              </a:lnSpc>
              <a:spcBef>
                <a:spcPts val="0"/>
              </a:spcBef>
              <a:spcAft>
                <a:spcPts val="0"/>
              </a:spcAft>
              <a:buNone/>
            </a:pPr>
            <a:r>
              <a:t/>
            </a:r>
            <a:endParaRPr>
              <a:latin typeface="Roboto Mono"/>
              <a:ea typeface="Roboto Mono"/>
              <a:cs typeface="Roboto Mono"/>
              <a:sym typeface="Roboto Mono"/>
            </a:endParaRPr>
          </a:p>
          <a:p>
            <a:pPr indent="0" lvl="0" marL="0" rtl="0" algn="l">
              <a:lnSpc>
                <a:spcPct val="150000"/>
              </a:lnSpc>
              <a:spcBef>
                <a:spcPts val="0"/>
              </a:spcBef>
              <a:spcAft>
                <a:spcPts val="0"/>
              </a:spcAft>
              <a:buNone/>
            </a:pPr>
            <a:r>
              <a:rPr i="1" lang="es">
                <a:latin typeface="Roboto Mono"/>
                <a:ea typeface="Roboto Mono"/>
                <a:cs typeface="Roboto Mono"/>
                <a:sym typeface="Roboto Mono"/>
              </a:rPr>
              <a:t>const </a:t>
            </a:r>
            <a:r>
              <a:rPr lang="es">
                <a:latin typeface="Roboto Mono"/>
                <a:ea typeface="Roboto Mono"/>
                <a:cs typeface="Roboto Mono"/>
                <a:sym typeface="Roboto Mono"/>
              </a:rPr>
              <a:t>ultimoDigitoDePI = </a:t>
            </a:r>
            <a:r>
              <a:rPr b="1" lang="es">
                <a:solidFill>
                  <a:srgbClr val="CC4125"/>
                </a:solidFill>
                <a:latin typeface="Roboto Mono"/>
                <a:ea typeface="Roboto Mono"/>
                <a:cs typeface="Roboto Mono"/>
                <a:sym typeface="Roboto Mono"/>
              </a:rPr>
              <a:t>undefined</a:t>
            </a:r>
            <a:r>
              <a:rPr lang="es">
                <a:latin typeface="Roboto Mono"/>
                <a:ea typeface="Roboto Mono"/>
                <a:cs typeface="Roboto Mono"/>
                <a:sym typeface="Roboto Mono"/>
              </a:rPr>
              <a:t>		</a:t>
            </a:r>
            <a:r>
              <a:rPr lang="es">
                <a:solidFill>
                  <a:srgbClr val="1F1F1F"/>
                </a:solidFill>
                <a:latin typeface="Roboto Mono"/>
                <a:ea typeface="Roboto Mono"/>
                <a:cs typeface="Roboto Mono"/>
                <a:sym typeface="Roboto Mono"/>
              </a:rPr>
              <a:t>//</a:t>
            </a:r>
            <a:r>
              <a:rPr lang="es">
                <a:solidFill>
                  <a:srgbClr val="CC0000"/>
                </a:solidFill>
                <a:latin typeface="Roboto Mono"/>
                <a:ea typeface="Roboto Mono"/>
                <a:cs typeface="Roboto Mono"/>
                <a:sym typeface="Roboto Mono"/>
              </a:rPr>
              <a:t> </a:t>
            </a:r>
            <a:r>
              <a:rPr b="1" lang="es">
                <a:solidFill>
                  <a:srgbClr val="CC0000"/>
                </a:solidFill>
              </a:rPr>
              <a:t>undefined</a:t>
            </a:r>
            <a:endParaRPr b="1">
              <a:solidFill>
                <a:srgbClr val="CC0000"/>
              </a:solidFill>
            </a:endParaRPr>
          </a:p>
          <a:p>
            <a:pPr indent="0" lvl="0" marL="0" rtl="0" algn="l">
              <a:lnSpc>
                <a:spcPct val="115000"/>
              </a:lnSpc>
              <a:spcBef>
                <a:spcPts val="0"/>
              </a:spcBef>
              <a:spcAft>
                <a:spcPts val="0"/>
              </a:spcAft>
              <a:buNone/>
            </a:pPr>
            <a:r>
              <a:t/>
            </a:r>
            <a:endParaRPr>
              <a:latin typeface="Roboto Mono"/>
              <a:ea typeface="Roboto Mono"/>
              <a:cs typeface="Roboto Mono"/>
              <a:sym typeface="Roboto Mono"/>
            </a:endParaRPr>
          </a:p>
        </p:txBody>
      </p:sp>
      <p:sp>
        <p:nvSpPr>
          <p:cNvPr id="158" name="Google Shape;158;p22"/>
          <p:cNvSpPr txBox="1"/>
          <p:nvPr/>
        </p:nvSpPr>
        <p:spPr>
          <a:xfrm>
            <a:off x="5638975" y="975225"/>
            <a:ext cx="3114300" cy="9234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2"/>
                </a:solidFill>
                <a:latin typeface="Roboto Serif"/>
                <a:ea typeface="Roboto Serif"/>
                <a:cs typeface="Roboto Serif"/>
                <a:sym typeface="Roboto Serif"/>
              </a:rPr>
              <a:t>podemos preguntar el tipo de dato usando el operador </a:t>
            </a:r>
            <a:r>
              <a:rPr b="1" lang="es" sz="1600">
                <a:solidFill>
                  <a:schemeClr val="dk2"/>
                </a:solidFill>
                <a:latin typeface="Roboto Mono"/>
                <a:ea typeface="Roboto Mono"/>
                <a:cs typeface="Roboto Mono"/>
                <a:sym typeface="Roboto Mono"/>
              </a:rPr>
              <a:t>typeof</a:t>
            </a:r>
            <a:endParaRPr b="1" sz="1600">
              <a:solidFill>
                <a:schemeClr val="dk2"/>
              </a:solidFill>
              <a:latin typeface="Roboto Mono"/>
              <a:ea typeface="Roboto Mono"/>
              <a:cs typeface="Roboto Mono"/>
              <a:sym typeface="Roboto Mono"/>
            </a:endParaRPr>
          </a:p>
        </p:txBody>
      </p:sp>
      <p:pic>
        <p:nvPicPr>
          <p:cNvPr id="159" name="Google Shape;159;p22" title="kRt0jItRkbMkJLfQRXpAc_oj-9O9nlVMsYCMWZmgedE.jpg"/>
          <p:cNvPicPr preferRelativeResize="0"/>
          <p:nvPr/>
        </p:nvPicPr>
        <p:blipFill>
          <a:blip r:embed="rId3">
            <a:alphaModFix/>
          </a:blip>
          <a:stretch>
            <a:fillRect/>
          </a:stretch>
        </p:blipFill>
        <p:spPr>
          <a:xfrm>
            <a:off x="6765075" y="3419400"/>
            <a:ext cx="2260917" cy="1653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311700" y="1814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Estructuras de control</a:t>
            </a:r>
            <a:endParaRPr/>
          </a:p>
        </p:txBody>
      </p:sp>
      <p:sp>
        <p:nvSpPr>
          <p:cNvPr id="165" name="Google Shape;165;p23"/>
          <p:cNvSpPr txBox="1"/>
          <p:nvPr>
            <p:ph idx="1" type="body"/>
          </p:nvPr>
        </p:nvSpPr>
        <p:spPr>
          <a:xfrm>
            <a:off x="526175" y="789200"/>
            <a:ext cx="4407000" cy="3685200"/>
          </a:xfrm>
          <a:prstGeom prst="rect">
            <a:avLst/>
          </a:prstGeom>
          <a:solidFill>
            <a:srgbClr val="1F1F1F"/>
          </a:solidFill>
        </p:spPr>
        <p:txBody>
          <a:bodyPr anchorCtr="0" anchor="t" bIns="91425" lIns="91425" spcFirstLastPara="1" rIns="91425" wrap="square" tIns="91425">
            <a:noAutofit/>
          </a:bodyPr>
          <a:lstStyle/>
          <a:p>
            <a:pPr indent="0" lvl="0" marL="0" rtl="0" algn="l">
              <a:lnSpc>
                <a:spcPct val="130434"/>
              </a:lnSpc>
              <a:spcBef>
                <a:spcPts val="0"/>
              </a:spcBef>
              <a:spcAft>
                <a:spcPts val="0"/>
              </a:spcAft>
              <a:buNone/>
            </a:pPr>
            <a:r>
              <a:rPr i="1" lang="es" sz="1000">
                <a:solidFill>
                  <a:srgbClr val="66D9EF"/>
                </a:solidFill>
                <a:highlight>
                  <a:srgbClr val="1F1F1F"/>
                </a:highlight>
                <a:latin typeface="Roboto Mono"/>
                <a:ea typeface="Roboto Mono"/>
                <a:cs typeface="Roboto Mono"/>
                <a:sym typeface="Roboto Mono"/>
              </a:rPr>
              <a:t>let</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numero</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a:t>
            </a:r>
            <a:r>
              <a:rPr lang="es" sz="1000">
                <a:solidFill>
                  <a:srgbClr val="DDDDDD"/>
                </a:solidFill>
                <a:highlight>
                  <a:srgbClr val="1F1F1F"/>
                </a:highlight>
                <a:latin typeface="Roboto Mono"/>
                <a:ea typeface="Roboto Mono"/>
                <a:cs typeface="Roboto Mono"/>
                <a:sym typeface="Roboto Mono"/>
              </a:rPr>
              <a:t> </a:t>
            </a:r>
            <a:r>
              <a:rPr lang="es" sz="1000">
                <a:solidFill>
                  <a:srgbClr val="AE81FF"/>
                </a:solidFill>
                <a:highlight>
                  <a:srgbClr val="1F1F1F"/>
                </a:highlight>
                <a:latin typeface="Roboto Mono"/>
                <a:ea typeface="Roboto Mono"/>
                <a:cs typeface="Roboto Mono"/>
                <a:sym typeface="Roboto Mono"/>
              </a:rPr>
              <a:t>8</a:t>
            </a:r>
            <a:endParaRPr sz="1000">
              <a:solidFill>
                <a:srgbClr val="AE81FF"/>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F92672"/>
                </a:solidFill>
                <a:highlight>
                  <a:srgbClr val="1F1F1F"/>
                </a:highlight>
                <a:latin typeface="Roboto Mono"/>
                <a:ea typeface="Roboto Mono"/>
                <a:cs typeface="Roboto Mono"/>
                <a:sym typeface="Roboto Mono"/>
              </a:rPr>
              <a:t>if</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numero</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&lt;</a:t>
            </a:r>
            <a:r>
              <a:rPr lang="es" sz="1000">
                <a:solidFill>
                  <a:srgbClr val="DDDDDD"/>
                </a:solidFill>
                <a:highlight>
                  <a:srgbClr val="1F1F1F"/>
                </a:highlight>
                <a:latin typeface="Roboto Mono"/>
                <a:ea typeface="Roboto Mono"/>
                <a:cs typeface="Roboto Mono"/>
                <a:sym typeface="Roboto Mono"/>
              </a:rPr>
              <a:t> </a:t>
            </a:r>
            <a:r>
              <a:rPr lang="es" sz="1000">
                <a:solidFill>
                  <a:srgbClr val="AE81FF"/>
                </a:solidFill>
                <a:highlight>
                  <a:srgbClr val="1F1F1F"/>
                </a:highlight>
                <a:latin typeface="Roboto Mono"/>
                <a:ea typeface="Roboto Mono"/>
                <a:cs typeface="Roboto Mono"/>
                <a:sym typeface="Roboto Mono"/>
              </a:rPr>
              <a:t>20</a:t>
            </a:r>
            <a:r>
              <a:rPr lang="es" sz="1000">
                <a:solidFill>
                  <a:srgbClr val="DDDDDD"/>
                </a:solidFill>
                <a:highlight>
                  <a:srgbClr val="1F1F1F"/>
                </a:highlight>
                <a:latin typeface="Roboto Mono"/>
                <a:ea typeface="Roboto Mono"/>
                <a:cs typeface="Roboto Mono"/>
                <a:sym typeface="Roboto Mono"/>
              </a:rPr>
              <a:t>)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console</a:t>
            </a:r>
            <a:r>
              <a:rPr lang="es" sz="1000">
                <a:solidFill>
                  <a:srgbClr val="DDDDDD"/>
                </a:solidFill>
                <a:highlight>
                  <a:srgbClr val="1F1F1F"/>
                </a:highlight>
                <a:latin typeface="Roboto Mono"/>
                <a:ea typeface="Roboto Mono"/>
                <a:cs typeface="Roboto Mono"/>
                <a:sym typeface="Roboto Mono"/>
              </a:rPr>
              <a:t>.</a:t>
            </a:r>
            <a:r>
              <a:rPr lang="es" sz="1000">
                <a:solidFill>
                  <a:srgbClr val="A6E22E"/>
                </a:solidFill>
                <a:highlight>
                  <a:srgbClr val="1F1F1F"/>
                </a:highlight>
                <a:latin typeface="Roboto Mono"/>
                <a:ea typeface="Roboto Mono"/>
                <a:cs typeface="Roboto Mono"/>
                <a:sym typeface="Roboto Mono"/>
              </a:rPr>
              <a:t>log</a:t>
            </a:r>
            <a:r>
              <a:rPr lang="es" sz="1000">
                <a:solidFill>
                  <a:srgbClr val="DDDDDD"/>
                </a:solidFill>
                <a:highlight>
                  <a:srgbClr val="1F1F1F"/>
                </a:highlight>
                <a:latin typeface="Roboto Mono"/>
                <a:ea typeface="Roboto Mono"/>
                <a:cs typeface="Roboto Mono"/>
                <a:sym typeface="Roboto Mono"/>
              </a:rPr>
              <a:t>(</a:t>
            </a:r>
            <a:r>
              <a:rPr lang="es" sz="1000">
                <a:solidFill>
                  <a:srgbClr val="E6DB74"/>
                </a:solidFill>
                <a:highlight>
                  <a:srgbClr val="1F1F1F"/>
                </a:highlight>
                <a:latin typeface="Roboto Mono"/>
                <a:ea typeface="Roboto Mono"/>
                <a:cs typeface="Roboto Mono"/>
                <a:sym typeface="Roboto Mono"/>
              </a:rPr>
              <a:t>"El número es menor a 20"</a:t>
            </a:r>
            <a:r>
              <a:rPr lang="es" sz="1000">
                <a:solidFill>
                  <a:srgbClr val="DDDDDD"/>
                </a:solidFill>
                <a:highlight>
                  <a:srgbClr val="1F1F1F"/>
                </a:highlight>
                <a:latin typeface="Roboto Mono"/>
                <a:ea typeface="Roboto Mono"/>
                <a:cs typeface="Roboto Mono"/>
                <a:sym typeface="Roboto Mono"/>
              </a:rPr>
              <a: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else</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if</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numero</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a:t>
            </a:r>
            <a:r>
              <a:rPr lang="es" sz="1000">
                <a:solidFill>
                  <a:srgbClr val="DDDDDD"/>
                </a:solidFill>
                <a:highlight>
                  <a:srgbClr val="1F1F1F"/>
                </a:highlight>
                <a:latin typeface="Roboto Mono"/>
                <a:ea typeface="Roboto Mono"/>
                <a:cs typeface="Roboto Mono"/>
                <a:sym typeface="Roboto Mono"/>
              </a:rPr>
              <a:t> </a:t>
            </a:r>
            <a:r>
              <a:rPr lang="es" sz="1000">
                <a:solidFill>
                  <a:srgbClr val="AE81FF"/>
                </a:solidFill>
                <a:highlight>
                  <a:srgbClr val="1F1F1F"/>
                </a:highlight>
                <a:latin typeface="Roboto Mono"/>
                <a:ea typeface="Roboto Mono"/>
                <a:cs typeface="Roboto Mono"/>
                <a:sym typeface="Roboto Mono"/>
              </a:rPr>
              <a:t>20</a:t>
            </a:r>
            <a:r>
              <a:rPr lang="es" sz="1000">
                <a:solidFill>
                  <a:srgbClr val="DDDDDD"/>
                </a:solidFill>
                <a:highlight>
                  <a:srgbClr val="1F1F1F"/>
                </a:highlight>
                <a:latin typeface="Roboto Mono"/>
                <a:ea typeface="Roboto Mono"/>
                <a:cs typeface="Roboto Mono"/>
                <a:sym typeface="Roboto Mono"/>
              </a:rPr>
              <a:t>)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console</a:t>
            </a:r>
            <a:r>
              <a:rPr lang="es" sz="1000">
                <a:solidFill>
                  <a:srgbClr val="DDDDDD"/>
                </a:solidFill>
                <a:highlight>
                  <a:srgbClr val="1F1F1F"/>
                </a:highlight>
                <a:latin typeface="Roboto Mono"/>
                <a:ea typeface="Roboto Mono"/>
                <a:cs typeface="Roboto Mono"/>
                <a:sym typeface="Roboto Mono"/>
              </a:rPr>
              <a:t>.</a:t>
            </a:r>
            <a:r>
              <a:rPr lang="es" sz="1000">
                <a:solidFill>
                  <a:srgbClr val="A6E22E"/>
                </a:solidFill>
                <a:highlight>
                  <a:srgbClr val="1F1F1F"/>
                </a:highlight>
                <a:latin typeface="Roboto Mono"/>
                <a:ea typeface="Roboto Mono"/>
                <a:cs typeface="Roboto Mono"/>
                <a:sym typeface="Roboto Mono"/>
              </a:rPr>
              <a:t>log</a:t>
            </a:r>
            <a:r>
              <a:rPr lang="es" sz="1000">
                <a:solidFill>
                  <a:srgbClr val="DDDDDD"/>
                </a:solidFill>
                <a:highlight>
                  <a:srgbClr val="1F1F1F"/>
                </a:highlight>
                <a:latin typeface="Roboto Mono"/>
                <a:ea typeface="Roboto Mono"/>
                <a:cs typeface="Roboto Mono"/>
                <a:sym typeface="Roboto Mono"/>
              </a:rPr>
              <a:t>(</a:t>
            </a:r>
            <a:r>
              <a:rPr lang="es" sz="1000">
                <a:solidFill>
                  <a:srgbClr val="E6DB74"/>
                </a:solidFill>
                <a:highlight>
                  <a:srgbClr val="1F1F1F"/>
                </a:highlight>
                <a:latin typeface="Roboto Mono"/>
                <a:ea typeface="Roboto Mono"/>
                <a:cs typeface="Roboto Mono"/>
                <a:sym typeface="Roboto Mono"/>
              </a:rPr>
              <a:t>"El número es igual a 20"</a:t>
            </a:r>
            <a:r>
              <a:rPr lang="es" sz="1000">
                <a:solidFill>
                  <a:srgbClr val="DDDDDD"/>
                </a:solidFill>
                <a:highlight>
                  <a:srgbClr val="1F1F1F"/>
                </a:highlight>
                <a:latin typeface="Roboto Mono"/>
                <a:ea typeface="Roboto Mono"/>
                <a:cs typeface="Roboto Mono"/>
                <a:sym typeface="Roboto Mono"/>
              </a:rPr>
              <a: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else</a:t>
            </a:r>
            <a:r>
              <a:rPr lang="es" sz="1000">
                <a:solidFill>
                  <a:srgbClr val="DDDDDD"/>
                </a:solidFill>
                <a:highlight>
                  <a:srgbClr val="1F1F1F"/>
                </a:highlight>
                <a:latin typeface="Roboto Mono"/>
                <a:ea typeface="Roboto Mono"/>
                <a:cs typeface="Roboto Mono"/>
                <a:sym typeface="Roboto Mono"/>
              </a:rPr>
              <a:t>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console</a:t>
            </a:r>
            <a:r>
              <a:rPr lang="es" sz="1000">
                <a:solidFill>
                  <a:srgbClr val="DDDDDD"/>
                </a:solidFill>
                <a:highlight>
                  <a:srgbClr val="1F1F1F"/>
                </a:highlight>
                <a:latin typeface="Roboto Mono"/>
                <a:ea typeface="Roboto Mono"/>
                <a:cs typeface="Roboto Mono"/>
                <a:sym typeface="Roboto Mono"/>
              </a:rPr>
              <a:t>.</a:t>
            </a:r>
            <a:r>
              <a:rPr lang="es" sz="1000">
                <a:solidFill>
                  <a:srgbClr val="A6E22E"/>
                </a:solidFill>
                <a:highlight>
                  <a:srgbClr val="1F1F1F"/>
                </a:highlight>
                <a:latin typeface="Roboto Mono"/>
                <a:ea typeface="Roboto Mono"/>
                <a:cs typeface="Roboto Mono"/>
                <a:sym typeface="Roboto Mono"/>
              </a:rPr>
              <a:t>log</a:t>
            </a:r>
            <a:r>
              <a:rPr lang="es" sz="1000">
                <a:solidFill>
                  <a:srgbClr val="DDDDDD"/>
                </a:solidFill>
                <a:highlight>
                  <a:srgbClr val="1F1F1F"/>
                </a:highlight>
                <a:latin typeface="Roboto Mono"/>
                <a:ea typeface="Roboto Mono"/>
                <a:cs typeface="Roboto Mono"/>
                <a:sym typeface="Roboto Mono"/>
              </a:rPr>
              <a:t>(</a:t>
            </a:r>
            <a:r>
              <a:rPr lang="es" sz="1000">
                <a:solidFill>
                  <a:srgbClr val="E6DB74"/>
                </a:solidFill>
                <a:highlight>
                  <a:srgbClr val="1F1F1F"/>
                </a:highlight>
                <a:latin typeface="Roboto Mono"/>
                <a:ea typeface="Roboto Mono"/>
                <a:cs typeface="Roboto Mono"/>
                <a:sym typeface="Roboto Mono"/>
              </a:rPr>
              <a:t>"El número es mayor a 20"</a:t>
            </a:r>
            <a:r>
              <a:rPr lang="es" sz="1000">
                <a:solidFill>
                  <a:srgbClr val="DDDDDD"/>
                </a:solidFill>
                <a:highlight>
                  <a:srgbClr val="1F1F1F"/>
                </a:highlight>
                <a:latin typeface="Roboto Mono"/>
                <a:ea typeface="Roboto Mono"/>
                <a:cs typeface="Roboto Mono"/>
                <a:sym typeface="Roboto Mono"/>
              </a:rPr>
              <a: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F92672"/>
                </a:solidFill>
                <a:highlight>
                  <a:srgbClr val="1F1F1F"/>
                </a:highlight>
                <a:latin typeface="Roboto Mono"/>
                <a:ea typeface="Roboto Mono"/>
                <a:cs typeface="Roboto Mono"/>
                <a:sym typeface="Roboto Mono"/>
              </a:rPr>
              <a:t>while</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numero</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&lt;</a:t>
            </a:r>
            <a:r>
              <a:rPr lang="es" sz="1000">
                <a:solidFill>
                  <a:srgbClr val="DDDDDD"/>
                </a:solidFill>
                <a:highlight>
                  <a:srgbClr val="1F1F1F"/>
                </a:highlight>
                <a:latin typeface="Roboto Mono"/>
                <a:ea typeface="Roboto Mono"/>
                <a:cs typeface="Roboto Mono"/>
                <a:sym typeface="Roboto Mono"/>
              </a:rPr>
              <a:t> </a:t>
            </a:r>
            <a:r>
              <a:rPr lang="es" sz="1000">
                <a:solidFill>
                  <a:srgbClr val="AE81FF"/>
                </a:solidFill>
                <a:highlight>
                  <a:srgbClr val="1F1F1F"/>
                </a:highlight>
                <a:latin typeface="Roboto Mono"/>
                <a:ea typeface="Roboto Mono"/>
                <a:cs typeface="Roboto Mono"/>
                <a:sym typeface="Roboto Mono"/>
              </a:rPr>
              <a:t>20</a:t>
            </a:r>
            <a:r>
              <a:rPr lang="es" sz="1000">
                <a:solidFill>
                  <a:srgbClr val="DDDDDD"/>
                </a:solidFill>
                <a:highlight>
                  <a:srgbClr val="1F1F1F"/>
                </a:highlight>
                <a:latin typeface="Roboto Mono"/>
                <a:ea typeface="Roboto Mono"/>
                <a:cs typeface="Roboto Mono"/>
                <a:sym typeface="Roboto Mono"/>
              </a:rPr>
              <a:t>)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numero</a:t>
            </a:r>
            <a:r>
              <a:rPr lang="es" sz="1000">
                <a:solidFill>
                  <a:srgbClr val="F92672"/>
                </a:solidFill>
                <a:highlight>
                  <a:srgbClr val="1F1F1F"/>
                </a:highlight>
                <a:latin typeface="Roboto Mono"/>
                <a:ea typeface="Roboto Mono"/>
                <a:cs typeface="Roboto Mono"/>
                <a:sym typeface="Roboto Mono"/>
              </a:rPr>
              <a:t>++</a:t>
            </a:r>
            <a:r>
              <a:rPr lang="es" sz="1000">
                <a:solidFill>
                  <a:srgbClr val="DDDDDD"/>
                </a:solidFill>
                <a:highlight>
                  <a:srgbClr val="1F1F1F"/>
                </a:highlight>
                <a:latin typeface="Roboto Mono"/>
                <a:ea typeface="Roboto Mono"/>
                <a:cs typeface="Roboto Mono"/>
                <a:sym typeface="Roboto Mono"/>
              </a:rPr>
              <a:t>  </a:t>
            </a:r>
            <a:r>
              <a:rPr lang="es" sz="1000">
                <a:solidFill>
                  <a:srgbClr val="75715E"/>
                </a:solidFill>
                <a:highlight>
                  <a:srgbClr val="1F1F1F"/>
                </a:highlight>
                <a:latin typeface="Roboto Mono"/>
                <a:ea typeface="Roboto Mono"/>
                <a:cs typeface="Roboto Mono"/>
                <a:sym typeface="Roboto Mono"/>
              </a:rPr>
              <a:t>// numero = numero + 1</a:t>
            </a:r>
            <a:endParaRPr sz="100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F92672"/>
                </a:solidFill>
                <a:highlight>
                  <a:srgbClr val="1F1F1F"/>
                </a:highlight>
                <a:latin typeface="Roboto Mono"/>
                <a:ea typeface="Roboto Mono"/>
                <a:cs typeface="Roboto Mono"/>
                <a:sym typeface="Roboto Mono"/>
              </a:rPr>
              <a:t>for</a:t>
            </a:r>
            <a:r>
              <a:rPr lang="es" sz="1000">
                <a:solidFill>
                  <a:srgbClr val="DDDDDD"/>
                </a:solidFill>
                <a:highlight>
                  <a:srgbClr val="1F1F1F"/>
                </a:highlight>
                <a:latin typeface="Roboto Mono"/>
                <a:ea typeface="Roboto Mono"/>
                <a:cs typeface="Roboto Mono"/>
                <a:sym typeface="Roboto Mono"/>
              </a:rPr>
              <a:t> (</a:t>
            </a:r>
            <a:r>
              <a:rPr i="1" lang="es" sz="1000">
                <a:solidFill>
                  <a:srgbClr val="66D9EF"/>
                </a:solidFill>
                <a:highlight>
                  <a:srgbClr val="1F1F1F"/>
                </a:highlight>
                <a:latin typeface="Roboto Mono"/>
                <a:ea typeface="Roboto Mono"/>
                <a:cs typeface="Roboto Mono"/>
                <a:sym typeface="Roboto Mono"/>
              </a:rPr>
              <a:t>let</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i</a:t>
            </a:r>
            <a:r>
              <a:rPr lang="es" sz="1000">
                <a:solidFill>
                  <a:srgbClr val="F92672"/>
                </a:solidFill>
                <a:highlight>
                  <a:srgbClr val="1F1F1F"/>
                </a:highlight>
                <a:latin typeface="Roboto Mono"/>
                <a:ea typeface="Roboto Mono"/>
                <a:cs typeface="Roboto Mono"/>
                <a:sym typeface="Roboto Mono"/>
              </a:rPr>
              <a:t>=</a:t>
            </a:r>
            <a:r>
              <a:rPr lang="es" sz="1000">
                <a:solidFill>
                  <a:srgbClr val="AE81FF"/>
                </a:solidFill>
                <a:highlight>
                  <a:srgbClr val="1F1F1F"/>
                </a:highlight>
                <a:latin typeface="Roboto Mono"/>
                <a:ea typeface="Roboto Mono"/>
                <a:cs typeface="Roboto Mono"/>
                <a:sym typeface="Roboto Mono"/>
              </a:rPr>
              <a:t>1</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i</a:t>
            </a:r>
            <a:r>
              <a:rPr lang="es" sz="1000">
                <a:solidFill>
                  <a:srgbClr val="F92672"/>
                </a:solidFill>
                <a:highlight>
                  <a:srgbClr val="1F1F1F"/>
                </a:highlight>
                <a:latin typeface="Roboto Mono"/>
                <a:ea typeface="Roboto Mono"/>
                <a:cs typeface="Roboto Mono"/>
                <a:sym typeface="Roboto Mono"/>
              </a:rPr>
              <a:t>&lt;</a:t>
            </a:r>
            <a:r>
              <a:rPr lang="es" sz="1000">
                <a:solidFill>
                  <a:srgbClr val="AE81FF"/>
                </a:solidFill>
                <a:highlight>
                  <a:srgbClr val="1F1F1F"/>
                </a:highlight>
                <a:latin typeface="Roboto Mono"/>
                <a:ea typeface="Roboto Mono"/>
                <a:cs typeface="Roboto Mono"/>
                <a:sym typeface="Roboto Mono"/>
              </a:rPr>
              <a:t>5</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i</a:t>
            </a:r>
            <a:r>
              <a:rPr lang="es" sz="1000">
                <a:solidFill>
                  <a:srgbClr val="F92672"/>
                </a:solidFill>
                <a:highlight>
                  <a:srgbClr val="1F1F1F"/>
                </a:highlight>
                <a:latin typeface="Roboto Mono"/>
                <a:ea typeface="Roboto Mono"/>
                <a:cs typeface="Roboto Mono"/>
                <a:sym typeface="Roboto Mono"/>
              </a:rPr>
              <a:t>++</a:t>
            </a:r>
            <a:r>
              <a:rPr lang="es" sz="1000">
                <a:solidFill>
                  <a:srgbClr val="DDDDDD"/>
                </a:solidFill>
                <a:highlight>
                  <a:srgbClr val="1F1F1F"/>
                </a:highlight>
                <a:latin typeface="Roboto Mono"/>
                <a:ea typeface="Roboto Mono"/>
                <a:cs typeface="Roboto Mono"/>
                <a:sym typeface="Roboto Mono"/>
              </a:rPr>
              <a:t>) {</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i="1" lang="es" sz="1000">
                <a:solidFill>
                  <a:srgbClr val="66D9EF"/>
                </a:solidFill>
                <a:highlight>
                  <a:srgbClr val="1F1F1F"/>
                </a:highlight>
                <a:latin typeface="Roboto Mono"/>
                <a:ea typeface="Roboto Mono"/>
                <a:cs typeface="Roboto Mono"/>
                <a:sym typeface="Roboto Mono"/>
              </a:rPr>
              <a:t>const</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nuevoValor</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numero</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i</a:t>
            </a:r>
            <a:endParaRPr sz="1000">
              <a:solidFill>
                <a:srgbClr val="F8F8F2"/>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console</a:t>
            </a:r>
            <a:r>
              <a:rPr lang="es" sz="1000">
                <a:solidFill>
                  <a:srgbClr val="DDDDDD"/>
                </a:solidFill>
                <a:highlight>
                  <a:srgbClr val="1F1F1F"/>
                </a:highlight>
                <a:latin typeface="Roboto Mono"/>
                <a:ea typeface="Roboto Mono"/>
                <a:cs typeface="Roboto Mono"/>
                <a:sym typeface="Roboto Mono"/>
              </a:rPr>
              <a:t>.</a:t>
            </a:r>
            <a:r>
              <a:rPr lang="es" sz="1000">
                <a:solidFill>
                  <a:srgbClr val="A6E22E"/>
                </a:solidFill>
                <a:highlight>
                  <a:srgbClr val="1F1F1F"/>
                </a:highlight>
                <a:latin typeface="Roboto Mono"/>
                <a:ea typeface="Roboto Mono"/>
                <a:cs typeface="Roboto Mono"/>
                <a:sym typeface="Roboto Mono"/>
              </a:rPr>
              <a:t>log</a:t>
            </a:r>
            <a:r>
              <a:rPr lang="es" sz="1000">
                <a:solidFill>
                  <a:srgbClr val="DDDDDD"/>
                </a:solidFill>
                <a:highlight>
                  <a:srgbClr val="1F1F1F"/>
                </a:highlight>
                <a:latin typeface="Roboto Mono"/>
                <a:ea typeface="Roboto Mono"/>
                <a:cs typeface="Roboto Mono"/>
                <a:sym typeface="Roboto Mono"/>
              </a:rPr>
              <a:t>(</a:t>
            </a:r>
            <a:r>
              <a:rPr lang="es" sz="1000">
                <a:solidFill>
                  <a:srgbClr val="E6DB74"/>
                </a:solidFill>
                <a:highlight>
                  <a:srgbClr val="1F1F1F"/>
                </a:highlight>
                <a:latin typeface="Roboto Mono"/>
                <a:ea typeface="Roboto Mono"/>
                <a:cs typeface="Roboto Mono"/>
                <a:sym typeface="Roboto Mono"/>
              </a:rPr>
              <a:t>"Ahora el número vale: "</a:t>
            </a:r>
            <a:r>
              <a:rPr lang="es" sz="1000">
                <a:solidFill>
                  <a:srgbClr val="DDDDDD"/>
                </a:solidFill>
                <a:highlight>
                  <a:srgbClr val="1F1F1F"/>
                </a:highlight>
                <a:latin typeface="Roboto Mono"/>
                <a:ea typeface="Roboto Mono"/>
                <a:cs typeface="Roboto Mono"/>
                <a:sym typeface="Roboto Mono"/>
              </a:rPr>
              <a:t> </a:t>
            </a:r>
            <a:r>
              <a:rPr lang="es" sz="1000">
                <a:solidFill>
                  <a:srgbClr val="F92672"/>
                </a:solidFill>
                <a:highlight>
                  <a:srgbClr val="1F1F1F"/>
                </a:highlight>
                <a:latin typeface="Roboto Mono"/>
                <a:ea typeface="Roboto Mono"/>
                <a:cs typeface="Roboto Mono"/>
                <a:sym typeface="Roboto Mono"/>
              </a:rPr>
              <a:t>+</a:t>
            </a: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1F1F1F"/>
                </a:highlight>
                <a:latin typeface="Roboto Mono"/>
                <a:ea typeface="Roboto Mono"/>
                <a:cs typeface="Roboto Mono"/>
                <a:sym typeface="Roboto Mono"/>
              </a:rPr>
              <a:t>nuevoValor</a:t>
            </a:r>
            <a:r>
              <a:rPr lang="es" sz="1000">
                <a:solidFill>
                  <a:srgbClr val="DDDDDD"/>
                </a:solidFill>
                <a:highlight>
                  <a:srgbClr val="1F1F1F"/>
                </a:highlight>
                <a:latin typeface="Roboto Mono"/>
                <a:ea typeface="Roboto Mono"/>
                <a:cs typeface="Roboto Mono"/>
                <a:sym typeface="Roboto Mono"/>
              </a:rPr>
              <a: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a:t>
            </a:r>
            <a:endParaRPr sz="1000">
              <a:latin typeface="Roboto Mono"/>
              <a:ea typeface="Roboto Mono"/>
              <a:cs typeface="Roboto Mono"/>
              <a:sym typeface="Roboto Mono"/>
            </a:endParaRPr>
          </a:p>
        </p:txBody>
      </p:sp>
      <p:sp>
        <p:nvSpPr>
          <p:cNvPr id="166" name="Google Shape;166;p23"/>
          <p:cNvSpPr txBox="1"/>
          <p:nvPr/>
        </p:nvSpPr>
        <p:spPr>
          <a:xfrm>
            <a:off x="5080225" y="843950"/>
            <a:ext cx="3629400" cy="35757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30434"/>
              </a:lnSpc>
              <a:spcBef>
                <a:spcPts val="0"/>
              </a:spcBef>
              <a:spcAft>
                <a:spcPts val="0"/>
              </a:spcAft>
              <a:buNone/>
            </a:pPr>
            <a:r>
              <a:rPr i="1" lang="es" sz="900">
                <a:solidFill>
                  <a:srgbClr val="66D9EF"/>
                </a:solidFill>
                <a:highlight>
                  <a:srgbClr val="1F1F1F"/>
                </a:highlight>
                <a:latin typeface="Roboto Mono"/>
                <a:ea typeface="Roboto Mono"/>
                <a:cs typeface="Roboto Mono"/>
                <a:sym typeface="Roboto Mono"/>
              </a:rPr>
              <a:t>const</a:t>
            </a:r>
            <a:r>
              <a:rPr lang="es" sz="900">
                <a:solidFill>
                  <a:srgbClr val="DDDDDD"/>
                </a:solidFill>
                <a:highlight>
                  <a:srgbClr val="1F1F1F"/>
                </a:highlight>
                <a:latin typeface="Roboto Mono"/>
                <a:ea typeface="Roboto Mono"/>
                <a:cs typeface="Roboto Mono"/>
                <a:sym typeface="Roboto Mono"/>
              </a:rPr>
              <a:t> </a:t>
            </a:r>
            <a:r>
              <a:rPr lang="es" sz="900">
                <a:solidFill>
                  <a:srgbClr val="F8F8F2"/>
                </a:solidFill>
                <a:highlight>
                  <a:srgbClr val="1F1F1F"/>
                </a:highlight>
                <a:latin typeface="Roboto Mono"/>
                <a:ea typeface="Roboto Mono"/>
                <a:cs typeface="Roboto Mono"/>
                <a:sym typeface="Roboto Mono"/>
              </a:rPr>
              <a:t>color</a:t>
            </a: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a:t>
            </a:r>
            <a:r>
              <a:rPr lang="es" sz="900">
                <a:solidFill>
                  <a:srgbClr val="DDDDDD"/>
                </a:solidFill>
                <a:highlight>
                  <a:srgbClr val="1F1F1F"/>
                </a:highlight>
                <a:latin typeface="Roboto Mono"/>
                <a:ea typeface="Roboto Mono"/>
                <a:cs typeface="Roboto Mono"/>
                <a:sym typeface="Roboto Mono"/>
              </a:rPr>
              <a:t> </a:t>
            </a:r>
            <a:r>
              <a:rPr lang="es" sz="900">
                <a:solidFill>
                  <a:srgbClr val="E6DB74"/>
                </a:solidFill>
                <a:highlight>
                  <a:srgbClr val="1F1F1F"/>
                </a:highlight>
                <a:latin typeface="Roboto Mono"/>
                <a:ea typeface="Roboto Mono"/>
                <a:cs typeface="Roboto Mono"/>
                <a:sym typeface="Roboto Mono"/>
              </a:rPr>
              <a:t>"red"</a:t>
            </a:r>
            <a:endParaRPr sz="900">
              <a:solidFill>
                <a:srgbClr val="E6DB74"/>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F92672"/>
                </a:solidFill>
                <a:highlight>
                  <a:srgbClr val="1F1F1F"/>
                </a:highlight>
                <a:latin typeface="Roboto Mono"/>
                <a:ea typeface="Roboto Mono"/>
                <a:cs typeface="Roboto Mono"/>
                <a:sym typeface="Roboto Mono"/>
              </a:rPr>
              <a:t>switch</a:t>
            </a:r>
            <a:r>
              <a:rPr lang="es" sz="900">
                <a:solidFill>
                  <a:srgbClr val="DDDDDD"/>
                </a:solidFill>
                <a:highlight>
                  <a:srgbClr val="1F1F1F"/>
                </a:highlight>
                <a:latin typeface="Roboto Mono"/>
                <a:ea typeface="Roboto Mono"/>
                <a:cs typeface="Roboto Mono"/>
                <a:sym typeface="Roboto Mono"/>
              </a:rPr>
              <a:t>(</a:t>
            </a:r>
            <a:r>
              <a:rPr lang="es" sz="900">
                <a:solidFill>
                  <a:srgbClr val="F8F8F2"/>
                </a:solidFill>
                <a:highlight>
                  <a:srgbClr val="1F1F1F"/>
                </a:highlight>
                <a:latin typeface="Roboto Mono"/>
                <a:ea typeface="Roboto Mono"/>
                <a:cs typeface="Roboto Mono"/>
                <a:sym typeface="Roboto Mono"/>
              </a:rPr>
              <a:t>color</a:t>
            </a: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case</a:t>
            </a:r>
            <a:r>
              <a:rPr lang="es" sz="900">
                <a:solidFill>
                  <a:srgbClr val="DDDDDD"/>
                </a:solidFill>
                <a:highlight>
                  <a:srgbClr val="1F1F1F"/>
                </a:highlight>
                <a:latin typeface="Roboto Mono"/>
                <a:ea typeface="Roboto Mono"/>
                <a:cs typeface="Roboto Mono"/>
                <a:sym typeface="Roboto Mono"/>
              </a:rPr>
              <a:t> </a:t>
            </a:r>
            <a:r>
              <a:rPr lang="es" sz="900">
                <a:solidFill>
                  <a:srgbClr val="E6DB74"/>
                </a:solidFill>
                <a:highlight>
                  <a:srgbClr val="1F1F1F"/>
                </a:highlight>
                <a:latin typeface="Roboto Mono"/>
                <a:ea typeface="Roboto Mono"/>
                <a:cs typeface="Roboto Mono"/>
                <a:sym typeface="Roboto Mono"/>
              </a:rPr>
              <a:t>"red"</a:t>
            </a: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8F8F2"/>
                </a:solidFill>
                <a:highlight>
                  <a:srgbClr val="1F1F1F"/>
                </a:highlight>
                <a:latin typeface="Roboto Mono"/>
                <a:ea typeface="Roboto Mono"/>
                <a:cs typeface="Roboto Mono"/>
                <a:sym typeface="Roboto Mono"/>
              </a:rPr>
              <a:t>console</a:t>
            </a:r>
            <a:r>
              <a:rPr lang="es" sz="900">
                <a:solidFill>
                  <a:srgbClr val="DDDDDD"/>
                </a:solidFill>
                <a:highlight>
                  <a:srgbClr val="1F1F1F"/>
                </a:highlight>
                <a:latin typeface="Roboto Mono"/>
                <a:ea typeface="Roboto Mono"/>
                <a:cs typeface="Roboto Mono"/>
                <a:sym typeface="Roboto Mono"/>
              </a:rPr>
              <a:t>.</a:t>
            </a:r>
            <a:r>
              <a:rPr lang="es" sz="900">
                <a:solidFill>
                  <a:srgbClr val="A6E22E"/>
                </a:solidFill>
                <a:highlight>
                  <a:srgbClr val="1F1F1F"/>
                </a:highlight>
                <a:latin typeface="Roboto Mono"/>
                <a:ea typeface="Roboto Mono"/>
                <a:cs typeface="Roboto Mono"/>
                <a:sym typeface="Roboto Mono"/>
              </a:rPr>
              <a:t>log</a:t>
            </a:r>
            <a:r>
              <a:rPr lang="es" sz="900">
                <a:solidFill>
                  <a:srgbClr val="DDDDDD"/>
                </a:solidFill>
                <a:highlight>
                  <a:srgbClr val="1F1F1F"/>
                </a:highlight>
                <a:latin typeface="Roboto Mono"/>
                <a:ea typeface="Roboto Mono"/>
                <a:cs typeface="Roboto Mono"/>
                <a:sym typeface="Roboto Mono"/>
              </a:rPr>
              <a:t>(</a:t>
            </a:r>
            <a:r>
              <a:rPr lang="es" sz="900">
                <a:solidFill>
                  <a:srgbClr val="E6DB74"/>
                </a:solidFill>
                <a:highlight>
                  <a:srgbClr val="1F1F1F"/>
                </a:highlight>
                <a:latin typeface="Roboto Mono"/>
                <a:ea typeface="Roboto Mono"/>
                <a:cs typeface="Roboto Mono"/>
                <a:sym typeface="Roboto Mono"/>
              </a:rPr>
              <a:t>"El color es rojo"</a:t>
            </a:r>
            <a:r>
              <a:rPr lang="es" sz="900">
                <a:solidFill>
                  <a:srgbClr val="DDDDDD"/>
                </a:solidFill>
                <a:highlight>
                  <a:srgbClr val="1F1F1F"/>
                </a:highlight>
                <a:latin typeface="Roboto Mono"/>
                <a:ea typeface="Roboto Mono"/>
                <a:cs typeface="Roboto Mono"/>
                <a:sym typeface="Roboto Mono"/>
              </a:rPr>
              <a: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break</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case</a:t>
            </a:r>
            <a:r>
              <a:rPr lang="es" sz="900">
                <a:solidFill>
                  <a:srgbClr val="DDDDDD"/>
                </a:solidFill>
                <a:highlight>
                  <a:srgbClr val="1F1F1F"/>
                </a:highlight>
                <a:latin typeface="Roboto Mono"/>
                <a:ea typeface="Roboto Mono"/>
                <a:cs typeface="Roboto Mono"/>
                <a:sym typeface="Roboto Mono"/>
              </a:rPr>
              <a:t> </a:t>
            </a:r>
            <a:r>
              <a:rPr lang="es" sz="900">
                <a:solidFill>
                  <a:srgbClr val="E6DB74"/>
                </a:solidFill>
                <a:highlight>
                  <a:srgbClr val="1F1F1F"/>
                </a:highlight>
                <a:latin typeface="Roboto Mono"/>
                <a:ea typeface="Roboto Mono"/>
                <a:cs typeface="Roboto Mono"/>
                <a:sym typeface="Roboto Mono"/>
              </a:rPr>
              <a:t>"blue"</a:t>
            </a: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8F8F2"/>
                </a:solidFill>
                <a:highlight>
                  <a:srgbClr val="1F1F1F"/>
                </a:highlight>
                <a:latin typeface="Roboto Mono"/>
                <a:ea typeface="Roboto Mono"/>
                <a:cs typeface="Roboto Mono"/>
                <a:sym typeface="Roboto Mono"/>
              </a:rPr>
              <a:t>console</a:t>
            </a:r>
            <a:r>
              <a:rPr lang="es" sz="900">
                <a:solidFill>
                  <a:srgbClr val="DDDDDD"/>
                </a:solidFill>
                <a:highlight>
                  <a:srgbClr val="1F1F1F"/>
                </a:highlight>
                <a:latin typeface="Roboto Mono"/>
                <a:ea typeface="Roboto Mono"/>
                <a:cs typeface="Roboto Mono"/>
                <a:sym typeface="Roboto Mono"/>
              </a:rPr>
              <a:t>.</a:t>
            </a:r>
            <a:r>
              <a:rPr lang="es" sz="900">
                <a:solidFill>
                  <a:srgbClr val="A6E22E"/>
                </a:solidFill>
                <a:highlight>
                  <a:srgbClr val="1F1F1F"/>
                </a:highlight>
                <a:latin typeface="Roboto Mono"/>
                <a:ea typeface="Roboto Mono"/>
                <a:cs typeface="Roboto Mono"/>
                <a:sym typeface="Roboto Mono"/>
              </a:rPr>
              <a:t>log</a:t>
            </a:r>
            <a:r>
              <a:rPr lang="es" sz="900">
                <a:solidFill>
                  <a:srgbClr val="DDDDDD"/>
                </a:solidFill>
                <a:highlight>
                  <a:srgbClr val="1F1F1F"/>
                </a:highlight>
                <a:latin typeface="Roboto Mono"/>
                <a:ea typeface="Roboto Mono"/>
                <a:cs typeface="Roboto Mono"/>
                <a:sym typeface="Roboto Mono"/>
              </a:rPr>
              <a:t>(</a:t>
            </a:r>
            <a:r>
              <a:rPr lang="es" sz="900">
                <a:solidFill>
                  <a:srgbClr val="E6DB74"/>
                </a:solidFill>
                <a:highlight>
                  <a:srgbClr val="1F1F1F"/>
                </a:highlight>
                <a:latin typeface="Roboto Mono"/>
                <a:ea typeface="Roboto Mono"/>
                <a:cs typeface="Roboto Mono"/>
                <a:sym typeface="Roboto Mono"/>
              </a:rPr>
              <a:t>"El color es azul"</a:t>
            </a:r>
            <a:r>
              <a:rPr lang="es" sz="900">
                <a:solidFill>
                  <a:srgbClr val="DDDDDD"/>
                </a:solidFill>
                <a:highlight>
                  <a:srgbClr val="1F1F1F"/>
                </a:highlight>
                <a:latin typeface="Roboto Mono"/>
                <a:ea typeface="Roboto Mono"/>
                <a:cs typeface="Roboto Mono"/>
                <a:sym typeface="Roboto Mono"/>
              </a:rPr>
              <a: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break</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case</a:t>
            </a:r>
            <a:r>
              <a:rPr lang="es" sz="900">
                <a:solidFill>
                  <a:srgbClr val="DDDDDD"/>
                </a:solidFill>
                <a:highlight>
                  <a:srgbClr val="1F1F1F"/>
                </a:highlight>
                <a:latin typeface="Roboto Mono"/>
                <a:ea typeface="Roboto Mono"/>
                <a:cs typeface="Roboto Mono"/>
                <a:sym typeface="Roboto Mono"/>
              </a:rPr>
              <a:t> </a:t>
            </a:r>
            <a:r>
              <a:rPr lang="es" sz="900">
                <a:solidFill>
                  <a:srgbClr val="E6DB74"/>
                </a:solidFill>
                <a:highlight>
                  <a:srgbClr val="1F1F1F"/>
                </a:highlight>
                <a:latin typeface="Roboto Mono"/>
                <a:ea typeface="Roboto Mono"/>
                <a:cs typeface="Roboto Mono"/>
                <a:sym typeface="Roboto Mono"/>
              </a:rPr>
              <a:t>"yellow"</a:t>
            </a: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8F8F2"/>
                </a:solidFill>
                <a:highlight>
                  <a:srgbClr val="1F1F1F"/>
                </a:highlight>
                <a:latin typeface="Roboto Mono"/>
                <a:ea typeface="Roboto Mono"/>
                <a:cs typeface="Roboto Mono"/>
                <a:sym typeface="Roboto Mono"/>
              </a:rPr>
              <a:t>console</a:t>
            </a:r>
            <a:r>
              <a:rPr lang="es" sz="900">
                <a:solidFill>
                  <a:srgbClr val="DDDDDD"/>
                </a:solidFill>
                <a:highlight>
                  <a:srgbClr val="1F1F1F"/>
                </a:highlight>
                <a:latin typeface="Roboto Mono"/>
                <a:ea typeface="Roboto Mono"/>
                <a:cs typeface="Roboto Mono"/>
                <a:sym typeface="Roboto Mono"/>
              </a:rPr>
              <a:t>.</a:t>
            </a:r>
            <a:r>
              <a:rPr lang="es" sz="900">
                <a:solidFill>
                  <a:srgbClr val="A6E22E"/>
                </a:solidFill>
                <a:highlight>
                  <a:srgbClr val="1F1F1F"/>
                </a:highlight>
                <a:latin typeface="Roboto Mono"/>
                <a:ea typeface="Roboto Mono"/>
                <a:cs typeface="Roboto Mono"/>
                <a:sym typeface="Roboto Mono"/>
              </a:rPr>
              <a:t>log</a:t>
            </a:r>
            <a:r>
              <a:rPr lang="es" sz="900">
                <a:solidFill>
                  <a:srgbClr val="DDDDDD"/>
                </a:solidFill>
                <a:highlight>
                  <a:srgbClr val="1F1F1F"/>
                </a:highlight>
                <a:latin typeface="Roboto Mono"/>
                <a:ea typeface="Roboto Mono"/>
                <a:cs typeface="Roboto Mono"/>
                <a:sym typeface="Roboto Mono"/>
              </a:rPr>
              <a:t>(</a:t>
            </a:r>
            <a:r>
              <a:rPr lang="es" sz="900">
                <a:solidFill>
                  <a:srgbClr val="E6DB74"/>
                </a:solidFill>
                <a:highlight>
                  <a:srgbClr val="1F1F1F"/>
                </a:highlight>
                <a:latin typeface="Roboto Mono"/>
                <a:ea typeface="Roboto Mono"/>
                <a:cs typeface="Roboto Mono"/>
                <a:sym typeface="Roboto Mono"/>
              </a:rPr>
              <a:t>"El color es amarillo"</a:t>
            </a:r>
            <a:r>
              <a:rPr lang="es" sz="900">
                <a:solidFill>
                  <a:srgbClr val="DDDDDD"/>
                </a:solidFill>
                <a:highlight>
                  <a:srgbClr val="1F1F1F"/>
                </a:highlight>
                <a:latin typeface="Roboto Mono"/>
                <a:ea typeface="Roboto Mono"/>
                <a:cs typeface="Roboto Mono"/>
                <a:sym typeface="Roboto Mono"/>
              </a:rPr>
              <a: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break</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92672"/>
                </a:solidFill>
                <a:highlight>
                  <a:srgbClr val="1F1F1F"/>
                </a:highlight>
                <a:latin typeface="Roboto Mono"/>
                <a:ea typeface="Roboto Mono"/>
                <a:cs typeface="Roboto Mono"/>
                <a:sym typeface="Roboto Mono"/>
              </a:rPr>
              <a:t>default</a:t>
            </a:r>
            <a:r>
              <a:rPr lang="es" sz="900">
                <a:solidFill>
                  <a:srgbClr val="DDDDDD"/>
                </a:solidFill>
                <a:highlight>
                  <a:srgbClr val="1F1F1F"/>
                </a:highlight>
                <a:latin typeface="Roboto Mono"/>
                <a:ea typeface="Roboto Mono"/>
                <a:cs typeface="Roboto Mono"/>
                <a:sym typeface="Roboto Mono"/>
              </a:rPr>
              <a:t>: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a:t>
            </a:r>
            <a:r>
              <a:rPr lang="es" sz="900">
                <a:solidFill>
                  <a:srgbClr val="F8F8F2"/>
                </a:solidFill>
                <a:highlight>
                  <a:srgbClr val="1F1F1F"/>
                </a:highlight>
                <a:latin typeface="Roboto Mono"/>
                <a:ea typeface="Roboto Mono"/>
                <a:cs typeface="Roboto Mono"/>
                <a:sym typeface="Roboto Mono"/>
              </a:rPr>
              <a:t>console</a:t>
            </a:r>
            <a:r>
              <a:rPr lang="es" sz="900">
                <a:solidFill>
                  <a:srgbClr val="DDDDDD"/>
                </a:solidFill>
                <a:highlight>
                  <a:srgbClr val="1F1F1F"/>
                </a:highlight>
                <a:latin typeface="Roboto Mono"/>
                <a:ea typeface="Roboto Mono"/>
                <a:cs typeface="Roboto Mono"/>
                <a:sym typeface="Roboto Mono"/>
              </a:rPr>
              <a:t>.</a:t>
            </a:r>
            <a:r>
              <a:rPr lang="es" sz="900">
                <a:solidFill>
                  <a:srgbClr val="A6E22E"/>
                </a:solidFill>
                <a:highlight>
                  <a:srgbClr val="1F1F1F"/>
                </a:highlight>
                <a:latin typeface="Roboto Mono"/>
                <a:ea typeface="Roboto Mono"/>
                <a:cs typeface="Roboto Mono"/>
                <a:sym typeface="Roboto Mono"/>
              </a:rPr>
              <a:t>log</a:t>
            </a:r>
            <a:r>
              <a:rPr lang="es" sz="900">
                <a:solidFill>
                  <a:srgbClr val="DDDDDD"/>
                </a:solidFill>
                <a:highlight>
                  <a:srgbClr val="1F1F1F"/>
                </a:highlight>
                <a:latin typeface="Roboto Mono"/>
                <a:ea typeface="Roboto Mono"/>
                <a:cs typeface="Roboto Mono"/>
                <a:sym typeface="Roboto Mono"/>
              </a:rPr>
              <a:t>(</a:t>
            </a:r>
            <a:r>
              <a:rPr lang="es" sz="900">
                <a:solidFill>
                  <a:srgbClr val="E6DB74"/>
                </a:solidFill>
                <a:highlight>
                  <a:srgbClr val="1F1F1F"/>
                </a:highlight>
                <a:latin typeface="Roboto Mono"/>
                <a:ea typeface="Roboto Mono"/>
                <a:cs typeface="Roboto Mono"/>
                <a:sym typeface="Roboto Mono"/>
              </a:rPr>
              <a:t>"El color no existe"</a:t>
            </a:r>
            <a:r>
              <a:rPr lang="es" sz="900">
                <a:solidFill>
                  <a:srgbClr val="DDDDDD"/>
                </a:solidFill>
                <a:highlight>
                  <a:srgbClr val="1F1F1F"/>
                </a:highlight>
                <a:latin typeface="Roboto Mono"/>
                <a:ea typeface="Roboto Mono"/>
                <a:cs typeface="Roboto Mono"/>
                <a:sym typeface="Roboto Mono"/>
              </a:rPr>
              <a: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    </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a:t>
            </a:r>
            <a:endParaRPr sz="1000">
              <a:solidFill>
                <a:schemeClr val="dk2"/>
              </a:solidFill>
              <a:latin typeface="Roboto Mono"/>
              <a:ea typeface="Roboto Mono"/>
              <a:cs typeface="Roboto Mono"/>
              <a:sym typeface="Roboto Mon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Concatenación de strings</a:t>
            </a:r>
            <a:endParaRPr/>
          </a:p>
        </p:txBody>
      </p:sp>
      <p:sp>
        <p:nvSpPr>
          <p:cNvPr id="172" name="Google Shape;172;p24"/>
          <p:cNvSpPr txBox="1"/>
          <p:nvPr>
            <p:ph idx="1" type="body"/>
          </p:nvPr>
        </p:nvSpPr>
        <p:spPr>
          <a:xfrm>
            <a:off x="311700" y="1017800"/>
            <a:ext cx="8520600" cy="46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Hay 2 formas principales de concatenar cadenas:</a:t>
            </a:r>
            <a:endParaRPr/>
          </a:p>
        </p:txBody>
      </p:sp>
      <p:sp>
        <p:nvSpPr>
          <p:cNvPr id="173" name="Google Shape;173;p24"/>
          <p:cNvSpPr txBox="1"/>
          <p:nvPr/>
        </p:nvSpPr>
        <p:spPr>
          <a:xfrm>
            <a:off x="393250" y="1690875"/>
            <a:ext cx="3893100" cy="26706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30434"/>
              </a:lnSpc>
              <a:spcBef>
                <a:spcPts val="0"/>
              </a:spcBef>
              <a:spcAft>
                <a:spcPts val="0"/>
              </a:spcAft>
              <a:buNone/>
            </a:pPr>
            <a:r>
              <a:rPr i="1" lang="es" sz="1150">
                <a:solidFill>
                  <a:srgbClr val="66D9EF"/>
                </a:solidFill>
                <a:highlight>
                  <a:srgbClr val="1F1F1F"/>
                </a:highlight>
                <a:latin typeface="Roboto Mono"/>
                <a:ea typeface="Roboto Mono"/>
                <a:cs typeface="Roboto Mono"/>
                <a:sym typeface="Roboto Mono"/>
              </a:rPr>
              <a:t>const</a:t>
            </a:r>
            <a:r>
              <a:rPr lang="es" sz="1150">
                <a:solidFill>
                  <a:srgbClr val="DDDDDD"/>
                </a:solidFill>
                <a:highlight>
                  <a:srgbClr val="1F1F1F"/>
                </a:highlight>
                <a:latin typeface="Roboto Mono"/>
                <a:ea typeface="Roboto Mono"/>
                <a:cs typeface="Roboto Mono"/>
                <a:sym typeface="Roboto Mono"/>
              </a:rPr>
              <a:t> </a:t>
            </a:r>
            <a:r>
              <a:rPr lang="es" sz="1150">
                <a:solidFill>
                  <a:srgbClr val="F8F8F2"/>
                </a:solidFill>
                <a:highlight>
                  <a:srgbClr val="1F1F1F"/>
                </a:highlight>
                <a:latin typeface="Roboto Mono"/>
                <a:ea typeface="Roboto Mono"/>
                <a:cs typeface="Roboto Mono"/>
                <a:sym typeface="Roboto Mono"/>
              </a:rPr>
              <a:t>nombre</a:t>
            </a:r>
            <a:r>
              <a:rPr lang="es" sz="1150">
                <a:solidFill>
                  <a:srgbClr val="DDDDDD"/>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a:t>
            </a:r>
            <a:r>
              <a:rPr lang="es" sz="1150">
                <a:solidFill>
                  <a:srgbClr val="E6DB74"/>
                </a:solidFill>
                <a:highlight>
                  <a:srgbClr val="1F1F1F"/>
                </a:highlight>
                <a:latin typeface="Roboto Mono"/>
                <a:ea typeface="Roboto Mono"/>
                <a:cs typeface="Roboto Mono"/>
                <a:sym typeface="Roboto Mono"/>
              </a:rPr>
              <a:t>"Pepito"</a:t>
            </a:r>
            <a:endParaRPr sz="1150">
              <a:solidFill>
                <a:srgbClr val="E6DB74"/>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1150">
                <a:solidFill>
                  <a:srgbClr val="66D9EF"/>
                </a:solidFill>
                <a:highlight>
                  <a:srgbClr val="1F1F1F"/>
                </a:highlight>
                <a:latin typeface="Roboto Mono"/>
                <a:ea typeface="Roboto Mono"/>
                <a:cs typeface="Roboto Mono"/>
                <a:sym typeface="Roboto Mono"/>
              </a:rPr>
              <a:t>const</a:t>
            </a:r>
            <a:r>
              <a:rPr lang="es" sz="1150">
                <a:solidFill>
                  <a:srgbClr val="DDDDDD"/>
                </a:solidFill>
                <a:highlight>
                  <a:srgbClr val="1F1F1F"/>
                </a:highlight>
                <a:latin typeface="Roboto Mono"/>
                <a:ea typeface="Roboto Mono"/>
                <a:cs typeface="Roboto Mono"/>
                <a:sym typeface="Roboto Mono"/>
              </a:rPr>
              <a:t> </a:t>
            </a:r>
            <a:r>
              <a:rPr lang="es" sz="1150">
                <a:solidFill>
                  <a:srgbClr val="F8F8F2"/>
                </a:solidFill>
                <a:highlight>
                  <a:srgbClr val="1F1F1F"/>
                </a:highlight>
                <a:latin typeface="Roboto Mono"/>
                <a:ea typeface="Roboto Mono"/>
                <a:cs typeface="Roboto Mono"/>
                <a:sym typeface="Roboto Mono"/>
              </a:rPr>
              <a:t>apellido</a:t>
            </a:r>
            <a:r>
              <a:rPr lang="es" sz="1150">
                <a:solidFill>
                  <a:srgbClr val="DDDDDD"/>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a:t>
            </a:r>
            <a:r>
              <a:rPr lang="es" sz="1150">
                <a:solidFill>
                  <a:srgbClr val="E6DB74"/>
                </a:solidFill>
                <a:highlight>
                  <a:srgbClr val="1F1F1F"/>
                </a:highlight>
                <a:latin typeface="Roboto Mono"/>
                <a:ea typeface="Roboto Mono"/>
                <a:cs typeface="Roboto Mono"/>
                <a:sym typeface="Roboto Mono"/>
              </a:rPr>
              <a:t>"Perez"</a:t>
            </a:r>
            <a:endParaRPr sz="1150">
              <a:solidFill>
                <a:srgbClr val="E6DB74"/>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75715E"/>
                </a:solidFill>
                <a:highlight>
                  <a:srgbClr val="1F1F1F"/>
                </a:highlight>
                <a:latin typeface="Roboto Mono"/>
                <a:ea typeface="Roboto Mono"/>
                <a:cs typeface="Roboto Mono"/>
                <a:sym typeface="Roboto Mono"/>
              </a:rPr>
              <a:t>// Usando el operador +</a:t>
            </a:r>
            <a:endParaRPr sz="11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1150">
                <a:solidFill>
                  <a:srgbClr val="66D9EF"/>
                </a:solidFill>
                <a:highlight>
                  <a:srgbClr val="1F1F1F"/>
                </a:highlight>
                <a:latin typeface="Roboto Mono"/>
                <a:ea typeface="Roboto Mono"/>
                <a:cs typeface="Roboto Mono"/>
                <a:sym typeface="Roboto Mono"/>
              </a:rPr>
              <a:t>const</a:t>
            </a:r>
            <a:r>
              <a:rPr lang="es" sz="1150">
                <a:solidFill>
                  <a:srgbClr val="DDDDDD"/>
                </a:solidFill>
                <a:highlight>
                  <a:srgbClr val="1F1F1F"/>
                </a:highlight>
                <a:latin typeface="Roboto Mono"/>
                <a:ea typeface="Roboto Mono"/>
                <a:cs typeface="Roboto Mono"/>
                <a:sym typeface="Roboto Mono"/>
              </a:rPr>
              <a:t> </a:t>
            </a:r>
            <a:r>
              <a:rPr lang="es" sz="1150">
                <a:solidFill>
                  <a:srgbClr val="F8F8F2"/>
                </a:solidFill>
                <a:highlight>
                  <a:srgbClr val="1F1F1F"/>
                </a:highlight>
                <a:latin typeface="Roboto Mono"/>
                <a:ea typeface="Roboto Mono"/>
                <a:cs typeface="Roboto Mono"/>
                <a:sym typeface="Roboto Mono"/>
              </a:rPr>
              <a:t>fullName1</a:t>
            </a:r>
            <a:r>
              <a:rPr lang="es" sz="1150">
                <a:solidFill>
                  <a:srgbClr val="DDDDDD"/>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a:t>
            </a:r>
            <a:r>
              <a:rPr lang="es" sz="1150">
                <a:solidFill>
                  <a:srgbClr val="F8F8F2"/>
                </a:solidFill>
                <a:highlight>
                  <a:srgbClr val="1F1F1F"/>
                </a:highlight>
                <a:latin typeface="Roboto Mono"/>
                <a:ea typeface="Roboto Mono"/>
                <a:cs typeface="Roboto Mono"/>
                <a:sym typeface="Roboto Mono"/>
              </a:rPr>
              <a:t>nombre</a:t>
            </a:r>
            <a:r>
              <a:rPr lang="es" sz="1150">
                <a:solidFill>
                  <a:srgbClr val="DDDDDD"/>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a:t>
            </a:r>
            <a:r>
              <a:rPr lang="es" sz="1150">
                <a:solidFill>
                  <a:srgbClr val="E6DB74"/>
                </a:solidFill>
                <a:highlight>
                  <a:srgbClr val="1F1F1F"/>
                </a:highlight>
                <a:latin typeface="Roboto Mono"/>
                <a:ea typeface="Roboto Mono"/>
                <a:cs typeface="Roboto Mono"/>
                <a:sym typeface="Roboto Mono"/>
              </a:rPr>
              <a:t>" "</a:t>
            </a:r>
            <a:r>
              <a:rPr lang="es" sz="1150">
                <a:solidFill>
                  <a:srgbClr val="DDDDDD"/>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a:t>
            </a:r>
            <a:r>
              <a:rPr lang="es" sz="1150">
                <a:solidFill>
                  <a:srgbClr val="F8F8F2"/>
                </a:solidFill>
                <a:highlight>
                  <a:srgbClr val="1F1F1F"/>
                </a:highlight>
                <a:latin typeface="Roboto Mono"/>
                <a:ea typeface="Roboto Mono"/>
                <a:cs typeface="Roboto Mono"/>
                <a:sym typeface="Roboto Mono"/>
              </a:rPr>
              <a:t>apellido</a:t>
            </a:r>
            <a:endParaRPr sz="1150">
              <a:solidFill>
                <a:srgbClr val="F8F8F2"/>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75715E"/>
                </a:solidFill>
                <a:highlight>
                  <a:srgbClr val="1F1F1F"/>
                </a:highlight>
                <a:latin typeface="Roboto Mono"/>
                <a:ea typeface="Roboto Mono"/>
                <a:cs typeface="Roboto Mono"/>
                <a:sym typeface="Roboto Mono"/>
              </a:rPr>
              <a:t>// Usando template literals</a:t>
            </a:r>
            <a:endParaRPr sz="11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1150">
                <a:solidFill>
                  <a:srgbClr val="66D9EF"/>
                </a:solidFill>
                <a:highlight>
                  <a:srgbClr val="1F1F1F"/>
                </a:highlight>
                <a:latin typeface="Roboto Mono"/>
                <a:ea typeface="Roboto Mono"/>
                <a:cs typeface="Roboto Mono"/>
                <a:sym typeface="Roboto Mono"/>
              </a:rPr>
              <a:t>const</a:t>
            </a:r>
            <a:r>
              <a:rPr lang="es" sz="1150">
                <a:solidFill>
                  <a:srgbClr val="DDDDDD"/>
                </a:solidFill>
                <a:highlight>
                  <a:srgbClr val="1F1F1F"/>
                </a:highlight>
                <a:latin typeface="Roboto Mono"/>
                <a:ea typeface="Roboto Mono"/>
                <a:cs typeface="Roboto Mono"/>
                <a:sym typeface="Roboto Mono"/>
              </a:rPr>
              <a:t> </a:t>
            </a:r>
            <a:r>
              <a:rPr lang="es" sz="1150">
                <a:solidFill>
                  <a:srgbClr val="F8F8F2"/>
                </a:solidFill>
                <a:highlight>
                  <a:srgbClr val="1F1F1F"/>
                </a:highlight>
                <a:latin typeface="Roboto Mono"/>
                <a:ea typeface="Roboto Mono"/>
                <a:cs typeface="Roboto Mono"/>
                <a:sym typeface="Roboto Mono"/>
              </a:rPr>
              <a:t>fullName2</a:t>
            </a:r>
            <a:r>
              <a:rPr lang="es" sz="1150">
                <a:solidFill>
                  <a:srgbClr val="DDDDDD"/>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a:t>
            </a:r>
            <a:r>
              <a:rPr lang="es" sz="1150">
                <a:solidFill>
                  <a:srgbClr val="E6DB74"/>
                </a:solidFill>
                <a:highlight>
                  <a:srgbClr val="1F1F1F"/>
                </a:highlight>
                <a:latin typeface="Roboto Mono"/>
                <a:ea typeface="Roboto Mono"/>
                <a:cs typeface="Roboto Mono"/>
                <a:sym typeface="Roboto Mono"/>
              </a:rPr>
              <a:t>`</a:t>
            </a:r>
            <a:r>
              <a:rPr lang="es" sz="1150">
                <a:solidFill>
                  <a:srgbClr val="F92672"/>
                </a:solidFill>
                <a:highlight>
                  <a:srgbClr val="1F1F1F"/>
                </a:highlight>
                <a:latin typeface="Roboto Mono"/>
                <a:ea typeface="Roboto Mono"/>
                <a:cs typeface="Roboto Mono"/>
                <a:sym typeface="Roboto Mono"/>
              </a:rPr>
              <a:t>${</a:t>
            </a:r>
            <a:r>
              <a:rPr lang="es" sz="1150">
                <a:solidFill>
                  <a:srgbClr val="F8F8F2"/>
                </a:solidFill>
                <a:highlight>
                  <a:srgbClr val="1F1F1F"/>
                </a:highlight>
                <a:latin typeface="Roboto Mono"/>
                <a:ea typeface="Roboto Mono"/>
                <a:cs typeface="Roboto Mono"/>
                <a:sym typeface="Roboto Mono"/>
              </a:rPr>
              <a:t>nombre</a:t>
            </a:r>
            <a:r>
              <a:rPr lang="es" sz="1150">
                <a:solidFill>
                  <a:srgbClr val="F92672"/>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a:t>
            </a:r>
            <a:r>
              <a:rPr lang="es" sz="1150">
                <a:solidFill>
                  <a:srgbClr val="F8F8F2"/>
                </a:solidFill>
                <a:highlight>
                  <a:srgbClr val="1F1F1F"/>
                </a:highlight>
                <a:latin typeface="Roboto Mono"/>
                <a:ea typeface="Roboto Mono"/>
                <a:cs typeface="Roboto Mono"/>
                <a:sym typeface="Roboto Mono"/>
              </a:rPr>
              <a:t>apellido</a:t>
            </a:r>
            <a:r>
              <a:rPr lang="es" sz="1150">
                <a:solidFill>
                  <a:srgbClr val="F92672"/>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a:t>
            </a:r>
            <a:endParaRPr sz="1150">
              <a:solidFill>
                <a:srgbClr val="E6DB74"/>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150">
              <a:solidFill>
                <a:srgbClr val="E6DB74"/>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F8F8F2"/>
                </a:solidFill>
                <a:highlight>
                  <a:srgbClr val="1F1F1F"/>
                </a:highlight>
                <a:latin typeface="Roboto Mono"/>
                <a:ea typeface="Roboto Mono"/>
                <a:cs typeface="Roboto Mono"/>
                <a:sym typeface="Roboto Mono"/>
              </a:rPr>
              <a:t>console</a:t>
            </a:r>
            <a:r>
              <a:rPr lang="es" sz="1150">
                <a:solidFill>
                  <a:srgbClr val="DDDDDD"/>
                </a:solidFill>
                <a:highlight>
                  <a:srgbClr val="1F1F1F"/>
                </a:highlight>
                <a:latin typeface="Roboto Mono"/>
                <a:ea typeface="Roboto Mono"/>
                <a:cs typeface="Roboto Mono"/>
                <a:sym typeface="Roboto Mono"/>
              </a:rPr>
              <a:t>.</a:t>
            </a:r>
            <a:r>
              <a:rPr lang="es" sz="1150">
                <a:solidFill>
                  <a:srgbClr val="A6E22E"/>
                </a:solidFill>
                <a:highlight>
                  <a:srgbClr val="1F1F1F"/>
                </a:highlight>
                <a:latin typeface="Roboto Mono"/>
                <a:ea typeface="Roboto Mono"/>
                <a:cs typeface="Roboto Mono"/>
                <a:sym typeface="Roboto Mono"/>
              </a:rPr>
              <a:t>log</a:t>
            </a:r>
            <a:r>
              <a:rPr lang="es" sz="1150">
                <a:solidFill>
                  <a:srgbClr val="DDDDDD"/>
                </a:solidFill>
                <a:highlight>
                  <a:srgbClr val="1F1F1F"/>
                </a:highlight>
                <a:latin typeface="Roboto Mono"/>
                <a:ea typeface="Roboto Mono"/>
                <a:cs typeface="Roboto Mono"/>
                <a:sym typeface="Roboto Mono"/>
              </a:rPr>
              <a:t>(</a:t>
            </a:r>
            <a:r>
              <a:rPr lang="es" sz="1150">
                <a:solidFill>
                  <a:srgbClr val="F8F8F2"/>
                </a:solidFill>
                <a:highlight>
                  <a:srgbClr val="1F1F1F"/>
                </a:highlight>
                <a:latin typeface="Roboto Mono"/>
                <a:ea typeface="Roboto Mono"/>
                <a:cs typeface="Roboto Mono"/>
                <a:sym typeface="Roboto Mono"/>
              </a:rPr>
              <a:t>fullName1</a:t>
            </a:r>
            <a:r>
              <a:rPr lang="es" sz="1150">
                <a:solidFill>
                  <a:srgbClr val="DDDDDD"/>
                </a:solidFill>
                <a:highlight>
                  <a:srgbClr val="1F1F1F"/>
                </a:highlight>
                <a:latin typeface="Roboto Mono"/>
                <a:ea typeface="Roboto Mono"/>
                <a:cs typeface="Roboto Mono"/>
                <a:sym typeface="Roboto Mono"/>
              </a:rPr>
              <a:t>) </a:t>
            </a:r>
            <a:r>
              <a:rPr lang="es" sz="1150">
                <a:solidFill>
                  <a:srgbClr val="75715E"/>
                </a:solidFill>
                <a:highlight>
                  <a:srgbClr val="1F1F1F"/>
                </a:highlight>
                <a:latin typeface="Roboto Mono"/>
                <a:ea typeface="Roboto Mono"/>
                <a:cs typeface="Roboto Mono"/>
                <a:sym typeface="Roboto Mono"/>
              </a:rPr>
              <a:t>// Pepito Perez</a:t>
            </a:r>
            <a:endParaRPr sz="11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F8F8F2"/>
                </a:solidFill>
                <a:highlight>
                  <a:srgbClr val="1F1F1F"/>
                </a:highlight>
                <a:latin typeface="Roboto Mono"/>
                <a:ea typeface="Roboto Mono"/>
                <a:cs typeface="Roboto Mono"/>
                <a:sym typeface="Roboto Mono"/>
              </a:rPr>
              <a:t>console</a:t>
            </a:r>
            <a:r>
              <a:rPr lang="es" sz="1150">
                <a:solidFill>
                  <a:srgbClr val="DDDDDD"/>
                </a:solidFill>
                <a:highlight>
                  <a:srgbClr val="1F1F1F"/>
                </a:highlight>
                <a:latin typeface="Roboto Mono"/>
                <a:ea typeface="Roboto Mono"/>
                <a:cs typeface="Roboto Mono"/>
                <a:sym typeface="Roboto Mono"/>
              </a:rPr>
              <a:t>.</a:t>
            </a:r>
            <a:r>
              <a:rPr lang="es" sz="1150">
                <a:solidFill>
                  <a:srgbClr val="A6E22E"/>
                </a:solidFill>
                <a:highlight>
                  <a:srgbClr val="1F1F1F"/>
                </a:highlight>
                <a:latin typeface="Roboto Mono"/>
                <a:ea typeface="Roboto Mono"/>
                <a:cs typeface="Roboto Mono"/>
                <a:sym typeface="Roboto Mono"/>
              </a:rPr>
              <a:t>log</a:t>
            </a:r>
            <a:r>
              <a:rPr lang="es" sz="1150">
                <a:solidFill>
                  <a:srgbClr val="DDDDDD"/>
                </a:solidFill>
                <a:highlight>
                  <a:srgbClr val="1F1F1F"/>
                </a:highlight>
                <a:latin typeface="Roboto Mono"/>
                <a:ea typeface="Roboto Mono"/>
                <a:cs typeface="Roboto Mono"/>
                <a:sym typeface="Roboto Mono"/>
              </a:rPr>
              <a:t>(</a:t>
            </a:r>
            <a:r>
              <a:rPr lang="es" sz="1150">
                <a:solidFill>
                  <a:srgbClr val="F8F8F2"/>
                </a:solidFill>
                <a:highlight>
                  <a:srgbClr val="1F1F1F"/>
                </a:highlight>
                <a:latin typeface="Roboto Mono"/>
                <a:ea typeface="Roboto Mono"/>
                <a:cs typeface="Roboto Mono"/>
                <a:sym typeface="Roboto Mono"/>
              </a:rPr>
              <a:t>fullName2</a:t>
            </a:r>
            <a:r>
              <a:rPr lang="es" sz="1150">
                <a:solidFill>
                  <a:srgbClr val="DDDDDD"/>
                </a:solidFill>
                <a:highlight>
                  <a:srgbClr val="1F1F1F"/>
                </a:highlight>
                <a:latin typeface="Roboto Mono"/>
                <a:ea typeface="Roboto Mono"/>
                <a:cs typeface="Roboto Mono"/>
                <a:sym typeface="Roboto Mono"/>
              </a:rPr>
              <a:t>) </a:t>
            </a:r>
            <a:r>
              <a:rPr lang="es" sz="1150">
                <a:solidFill>
                  <a:srgbClr val="75715E"/>
                </a:solidFill>
                <a:highlight>
                  <a:srgbClr val="1F1F1F"/>
                </a:highlight>
                <a:latin typeface="Roboto Mono"/>
                <a:ea typeface="Roboto Mono"/>
                <a:cs typeface="Roboto Mono"/>
                <a:sym typeface="Roboto Mono"/>
              </a:rPr>
              <a:t>// Pepito Perez  </a:t>
            </a:r>
            <a:endParaRPr sz="1800">
              <a:solidFill>
                <a:schemeClr val="dk2"/>
              </a:solidFill>
              <a:latin typeface="Roboto Mono"/>
              <a:ea typeface="Roboto Mono"/>
              <a:cs typeface="Roboto Mono"/>
              <a:sym typeface="Roboto Mono"/>
            </a:endParaRPr>
          </a:p>
        </p:txBody>
      </p:sp>
      <p:sp>
        <p:nvSpPr>
          <p:cNvPr id="174" name="Google Shape;174;p24"/>
          <p:cNvSpPr txBox="1"/>
          <p:nvPr/>
        </p:nvSpPr>
        <p:spPr>
          <a:xfrm>
            <a:off x="5379425" y="2036950"/>
            <a:ext cx="3279600" cy="762000"/>
          </a:xfrm>
          <a:prstGeom prst="rect">
            <a:avLst/>
          </a:prstGeom>
          <a:noFill/>
          <a:ln cap="flat" cmpd="sng" w="9525">
            <a:solidFill>
              <a:srgbClr val="1F1F1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latin typeface="Roboto Serif"/>
                <a:ea typeface="Roboto Serif"/>
                <a:cs typeface="Roboto Serif"/>
                <a:sym typeface="Roboto Serif"/>
              </a:rPr>
              <a:t>se usan </a:t>
            </a:r>
            <a:r>
              <a:rPr b="1" lang="es" sz="1800">
                <a:solidFill>
                  <a:schemeClr val="dk2"/>
                </a:solidFill>
                <a:latin typeface="Roboto Serif"/>
                <a:ea typeface="Roboto Serif"/>
                <a:cs typeface="Roboto Serif"/>
                <a:sym typeface="Roboto Serif"/>
              </a:rPr>
              <a:t>backticks (</a:t>
            </a:r>
            <a:r>
              <a:rPr lang="es" sz="1950">
                <a:solidFill>
                  <a:srgbClr val="1F1F1F"/>
                </a:solidFill>
                <a:latin typeface="Roboto Mono"/>
                <a:ea typeface="Roboto Mono"/>
                <a:cs typeface="Roboto Mono"/>
                <a:sym typeface="Roboto Mono"/>
              </a:rPr>
              <a:t>`</a:t>
            </a:r>
            <a:r>
              <a:rPr b="1" lang="es" sz="1800">
                <a:solidFill>
                  <a:schemeClr val="dk2"/>
                </a:solidFill>
                <a:latin typeface="Roboto Serif"/>
                <a:ea typeface="Roboto Serif"/>
                <a:cs typeface="Roboto Serif"/>
                <a:sym typeface="Roboto Serif"/>
              </a:rPr>
              <a:t>) </a:t>
            </a:r>
            <a:r>
              <a:rPr lang="es" sz="1800">
                <a:solidFill>
                  <a:schemeClr val="dk2"/>
                </a:solidFill>
                <a:latin typeface="Roboto Serif"/>
                <a:ea typeface="Roboto Serif"/>
                <a:cs typeface="Roboto Serif"/>
                <a:sym typeface="Roboto Serif"/>
              </a:rPr>
              <a:t>en vez de comillas normales!</a:t>
            </a:r>
            <a:endParaRPr sz="1800">
              <a:solidFill>
                <a:schemeClr val="dk2"/>
              </a:solidFill>
              <a:latin typeface="Roboto Serif"/>
              <a:ea typeface="Roboto Serif"/>
              <a:cs typeface="Roboto Serif"/>
              <a:sym typeface="Roboto Serif"/>
            </a:endParaRPr>
          </a:p>
        </p:txBody>
      </p:sp>
      <p:cxnSp>
        <p:nvCxnSpPr>
          <p:cNvPr id="175" name="Google Shape;175;p24"/>
          <p:cNvCxnSpPr>
            <a:stCxn id="174" idx="1"/>
          </p:cNvCxnSpPr>
          <p:nvPr/>
        </p:nvCxnSpPr>
        <p:spPr>
          <a:xfrm flipH="1">
            <a:off x="3995225" y="2417950"/>
            <a:ext cx="1384200" cy="932400"/>
          </a:xfrm>
          <a:prstGeom prst="straightConnector1">
            <a:avLst/>
          </a:prstGeom>
          <a:noFill/>
          <a:ln cap="flat" cmpd="sng" w="9525">
            <a:solidFill>
              <a:srgbClr val="FF00FF"/>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Listas / Arrays</a:t>
            </a:r>
            <a:endParaRPr/>
          </a:p>
        </p:txBody>
      </p:sp>
      <p:sp>
        <p:nvSpPr>
          <p:cNvPr id="181" name="Google Shape;181;p25"/>
          <p:cNvSpPr txBox="1"/>
          <p:nvPr>
            <p:ph idx="1" type="body"/>
          </p:nvPr>
        </p:nvSpPr>
        <p:spPr>
          <a:xfrm>
            <a:off x="311700" y="1017800"/>
            <a:ext cx="8520600" cy="46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Ejemplo de </a:t>
            </a:r>
            <a:r>
              <a:rPr lang="es"/>
              <a:t>cómo</a:t>
            </a:r>
            <a:r>
              <a:rPr lang="es"/>
              <a:t> recorrer listas usando JavaScript</a:t>
            </a:r>
            <a:endParaRPr/>
          </a:p>
        </p:txBody>
      </p:sp>
      <p:sp>
        <p:nvSpPr>
          <p:cNvPr id="182" name="Google Shape;182;p25"/>
          <p:cNvSpPr txBox="1"/>
          <p:nvPr/>
        </p:nvSpPr>
        <p:spPr>
          <a:xfrm>
            <a:off x="1549375" y="1533575"/>
            <a:ext cx="4372800" cy="31920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30434"/>
              </a:lnSpc>
              <a:spcBef>
                <a:spcPts val="0"/>
              </a:spcBef>
              <a:spcAft>
                <a:spcPts val="0"/>
              </a:spcAft>
              <a:buNone/>
            </a:pPr>
            <a:r>
              <a:rPr i="1" lang="es" sz="950">
                <a:solidFill>
                  <a:srgbClr val="66D9EF"/>
                </a:solidFill>
                <a:highlight>
                  <a:srgbClr val="1F1F1F"/>
                </a:highlight>
                <a:latin typeface="Roboto Mono"/>
                <a:ea typeface="Roboto Mono"/>
                <a:cs typeface="Roboto Mono"/>
                <a:sym typeface="Roboto Mono"/>
              </a:rPr>
              <a:t>const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nombres</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a:t>
            </a:r>
            <a:r>
              <a:rPr lang="es" sz="950">
                <a:solidFill>
                  <a:srgbClr val="DDDDDD"/>
                </a:solidFill>
                <a:highlight>
                  <a:srgbClr val="1F1F1F"/>
                </a:highlight>
                <a:latin typeface="Roboto Mono"/>
                <a:ea typeface="Roboto Mono"/>
                <a:cs typeface="Roboto Mono"/>
                <a:sym typeface="Roboto Mono"/>
              </a:rPr>
              <a:t> [</a:t>
            </a:r>
            <a:r>
              <a:rPr lang="es" sz="950">
                <a:solidFill>
                  <a:srgbClr val="E6DB74"/>
                </a:solidFill>
                <a:highlight>
                  <a:srgbClr val="1F1F1F"/>
                </a:highlight>
                <a:latin typeface="Roboto Mono"/>
                <a:ea typeface="Roboto Mono"/>
                <a:cs typeface="Roboto Mono"/>
                <a:sym typeface="Roboto Mono"/>
              </a:rPr>
              <a:t>"Juan"</a:t>
            </a:r>
            <a:r>
              <a:rPr lang="es" sz="950">
                <a:solidFill>
                  <a:srgbClr val="DDDDDD"/>
                </a:solidFill>
                <a:highlight>
                  <a:srgbClr val="1F1F1F"/>
                </a:highlight>
                <a:latin typeface="Roboto Mono"/>
                <a:ea typeface="Roboto Mono"/>
                <a:cs typeface="Roboto Mono"/>
                <a:sym typeface="Roboto Mono"/>
              </a:rPr>
              <a:t>, </a:t>
            </a:r>
            <a:r>
              <a:rPr lang="es" sz="950">
                <a:solidFill>
                  <a:srgbClr val="E6DB74"/>
                </a:solidFill>
                <a:highlight>
                  <a:srgbClr val="1F1F1F"/>
                </a:highlight>
                <a:latin typeface="Roboto Mono"/>
                <a:ea typeface="Roboto Mono"/>
                <a:cs typeface="Roboto Mono"/>
                <a:sym typeface="Roboto Mono"/>
              </a:rPr>
              <a:t>"Pedro"</a:t>
            </a:r>
            <a:r>
              <a:rPr lang="es" sz="950">
                <a:solidFill>
                  <a:srgbClr val="DDDDDD"/>
                </a:solidFill>
                <a:highlight>
                  <a:srgbClr val="1F1F1F"/>
                </a:highlight>
                <a:latin typeface="Roboto Mono"/>
                <a:ea typeface="Roboto Mono"/>
                <a:cs typeface="Roboto Mono"/>
                <a:sym typeface="Roboto Mono"/>
              </a:rPr>
              <a:t>, </a:t>
            </a:r>
            <a:r>
              <a:rPr lang="es" sz="950">
                <a:solidFill>
                  <a:srgbClr val="E6DB74"/>
                </a:solidFill>
                <a:highlight>
                  <a:srgbClr val="1F1F1F"/>
                </a:highlight>
                <a:latin typeface="Roboto Mono"/>
                <a:ea typeface="Roboto Mono"/>
                <a:cs typeface="Roboto Mono"/>
                <a:sym typeface="Roboto Mono"/>
              </a:rPr>
              <a:t>"María"</a:t>
            </a:r>
            <a:r>
              <a:rPr lang="es" sz="950">
                <a:solidFill>
                  <a:srgbClr val="DDDDDD"/>
                </a:solidFill>
                <a:highlight>
                  <a:srgbClr val="1F1F1F"/>
                </a:highlight>
                <a:latin typeface="Roboto Mono"/>
                <a:ea typeface="Roboto Mono"/>
                <a:cs typeface="Roboto Mono"/>
                <a:sym typeface="Roboto Mono"/>
              </a:rPr>
              <a:t>, </a:t>
            </a:r>
            <a:r>
              <a:rPr lang="es" sz="950">
                <a:solidFill>
                  <a:srgbClr val="E6DB74"/>
                </a:solidFill>
                <a:highlight>
                  <a:srgbClr val="1F1F1F"/>
                </a:highlight>
                <a:latin typeface="Roboto Mono"/>
                <a:ea typeface="Roboto Mono"/>
                <a:cs typeface="Roboto Mono"/>
                <a:sym typeface="Roboto Mono"/>
              </a:rPr>
              <a:t>"Ana"</a:t>
            </a:r>
            <a:r>
              <a:rPr lang="es" sz="950">
                <a:solidFill>
                  <a:srgbClr val="DDDDDD"/>
                </a:solidFill>
                <a:highlight>
                  <a:srgbClr val="1F1F1F"/>
                </a:highlight>
                <a:latin typeface="Roboto Mono"/>
                <a:ea typeface="Roboto Mono"/>
                <a:cs typeface="Roboto Mono"/>
                <a:sym typeface="Roboto Mono"/>
              </a:rPr>
              <a:t>, </a:t>
            </a:r>
            <a:r>
              <a:rPr lang="es" sz="950">
                <a:solidFill>
                  <a:srgbClr val="E6DB74"/>
                </a:solidFill>
                <a:highlight>
                  <a:srgbClr val="1F1F1F"/>
                </a:highlight>
                <a:latin typeface="Roboto Mono"/>
                <a:ea typeface="Roboto Mono"/>
                <a:cs typeface="Roboto Mono"/>
                <a:sym typeface="Roboto Mono"/>
              </a:rPr>
              <a:t>"Luis"</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75715E"/>
                </a:solidFill>
                <a:highlight>
                  <a:srgbClr val="1F1F1F"/>
                </a:highlight>
                <a:latin typeface="Roboto Mono"/>
                <a:ea typeface="Roboto Mono"/>
                <a:cs typeface="Roboto Mono"/>
                <a:sym typeface="Roboto Mono"/>
              </a:rPr>
              <a:t>// Usando un bucle for</a:t>
            </a:r>
            <a:endParaRPr sz="9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F92672"/>
                </a:solidFill>
                <a:highlight>
                  <a:srgbClr val="1F1F1F"/>
                </a:highlight>
                <a:latin typeface="Roboto Mono"/>
                <a:ea typeface="Roboto Mono"/>
                <a:cs typeface="Roboto Mono"/>
                <a:sym typeface="Roboto Mono"/>
              </a:rPr>
              <a:t>for</a:t>
            </a:r>
            <a:r>
              <a:rPr lang="es" sz="950">
                <a:solidFill>
                  <a:srgbClr val="DDDDDD"/>
                </a:solidFill>
                <a:highlight>
                  <a:srgbClr val="1F1F1F"/>
                </a:highlight>
                <a:latin typeface="Roboto Mono"/>
                <a:ea typeface="Roboto Mono"/>
                <a:cs typeface="Roboto Mono"/>
                <a:sym typeface="Roboto Mono"/>
              </a:rPr>
              <a:t> (</a:t>
            </a:r>
            <a:r>
              <a:rPr i="1" lang="es" sz="950">
                <a:solidFill>
                  <a:srgbClr val="66D9EF"/>
                </a:solidFill>
                <a:highlight>
                  <a:srgbClr val="1F1F1F"/>
                </a:highlight>
                <a:latin typeface="Roboto Mono"/>
                <a:ea typeface="Roboto Mono"/>
                <a:cs typeface="Roboto Mono"/>
                <a:sym typeface="Roboto Mono"/>
              </a:rPr>
              <a:t>let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i</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a:t>
            </a:r>
            <a:r>
              <a:rPr lang="es" sz="950">
                <a:solidFill>
                  <a:srgbClr val="DDDDDD"/>
                </a:solidFill>
                <a:highlight>
                  <a:srgbClr val="1F1F1F"/>
                </a:highlight>
                <a:latin typeface="Roboto Mono"/>
                <a:ea typeface="Roboto Mono"/>
                <a:cs typeface="Roboto Mono"/>
                <a:sym typeface="Roboto Mono"/>
              </a:rPr>
              <a:t> </a:t>
            </a:r>
            <a:r>
              <a:rPr lang="es" sz="950">
                <a:solidFill>
                  <a:srgbClr val="AE81FF"/>
                </a:solidFill>
                <a:highlight>
                  <a:srgbClr val="1F1F1F"/>
                </a:highlight>
                <a:latin typeface="Roboto Mono"/>
                <a:ea typeface="Roboto Mono"/>
                <a:cs typeface="Roboto Mono"/>
                <a:sym typeface="Roboto Mono"/>
              </a:rPr>
              <a:t>0</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i</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&lt;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nombres</a:t>
            </a:r>
            <a:r>
              <a:rPr lang="es" sz="950">
                <a:solidFill>
                  <a:srgbClr val="DDDDDD"/>
                </a:solidFill>
                <a:highlight>
                  <a:srgbClr val="1F1F1F"/>
                </a:highlight>
                <a:latin typeface="Roboto Mono"/>
                <a:ea typeface="Roboto Mono"/>
                <a:cs typeface="Roboto Mono"/>
                <a:sym typeface="Roboto Mono"/>
              </a:rPr>
              <a:t>.length; </a:t>
            </a:r>
            <a:r>
              <a:rPr lang="es" sz="950">
                <a:solidFill>
                  <a:srgbClr val="F8F8F2"/>
                </a:solidFill>
                <a:highlight>
                  <a:srgbClr val="1F1F1F"/>
                </a:highlight>
                <a:latin typeface="Roboto Mono"/>
                <a:ea typeface="Roboto Mono"/>
                <a:cs typeface="Roboto Mono"/>
                <a:sym typeface="Roboto Mono"/>
              </a:rPr>
              <a:t>i</a:t>
            </a:r>
            <a:r>
              <a:rPr lang="es" sz="950">
                <a:solidFill>
                  <a:srgbClr val="F92672"/>
                </a:solidFill>
                <a:highlight>
                  <a:srgbClr val="1F1F1F"/>
                </a:highlight>
                <a:latin typeface="Roboto Mono"/>
                <a:ea typeface="Roboto Mono"/>
                <a:cs typeface="Roboto Mono"/>
                <a:sym typeface="Roboto Mono"/>
              </a:rPr>
              <a:t>++</a:t>
            </a:r>
            <a:r>
              <a:rPr lang="es" sz="950">
                <a:solidFill>
                  <a:srgbClr val="DDDDDD"/>
                </a:solidFill>
                <a:highlight>
                  <a:srgbClr val="1F1F1F"/>
                </a:highlight>
                <a:latin typeface="Roboto Mono"/>
                <a:ea typeface="Roboto Mono"/>
                <a:cs typeface="Roboto Mono"/>
                <a:sym typeface="Roboto Mono"/>
              </a:rPr>
              <a:t>)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console</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log</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nombres</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i</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75715E"/>
                </a:solidFill>
                <a:highlight>
                  <a:srgbClr val="1F1F1F"/>
                </a:highlight>
                <a:latin typeface="Roboto Mono"/>
                <a:ea typeface="Roboto Mono"/>
                <a:cs typeface="Roboto Mono"/>
                <a:sym typeface="Roboto Mono"/>
              </a:rPr>
              <a:t>// Usando un bucle forEach</a:t>
            </a:r>
            <a:endParaRPr sz="9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F8F8F2"/>
                </a:solidFill>
                <a:highlight>
                  <a:srgbClr val="1F1F1F"/>
                </a:highlight>
                <a:latin typeface="Roboto Mono"/>
                <a:ea typeface="Roboto Mono"/>
                <a:cs typeface="Roboto Mono"/>
                <a:sym typeface="Roboto Mono"/>
              </a:rPr>
              <a:t>nombres</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forEach</a:t>
            </a:r>
            <a:r>
              <a:rPr lang="es" sz="950">
                <a:solidFill>
                  <a:srgbClr val="DDDDDD"/>
                </a:solidFill>
                <a:highlight>
                  <a:srgbClr val="1F1F1F"/>
                </a:highlight>
                <a:latin typeface="Roboto Mono"/>
                <a:ea typeface="Roboto Mono"/>
                <a:cs typeface="Roboto Mono"/>
                <a:sym typeface="Roboto Mono"/>
              </a:rPr>
              <a:t>(</a:t>
            </a:r>
            <a:r>
              <a:rPr i="1" lang="es" sz="950">
                <a:solidFill>
                  <a:srgbClr val="66D9EF"/>
                </a:solidFill>
                <a:highlight>
                  <a:srgbClr val="1F1F1F"/>
                </a:highlight>
                <a:latin typeface="Roboto Mono"/>
                <a:ea typeface="Roboto Mono"/>
                <a:cs typeface="Roboto Mono"/>
                <a:sym typeface="Roboto Mono"/>
              </a:rPr>
              <a:t>function</a:t>
            </a:r>
            <a:r>
              <a:rPr lang="es" sz="950">
                <a:solidFill>
                  <a:srgbClr val="DDDDDD"/>
                </a:solidFill>
                <a:highlight>
                  <a:srgbClr val="1F1F1F"/>
                </a:highlight>
                <a:latin typeface="Roboto Mono"/>
                <a:ea typeface="Roboto Mono"/>
                <a:cs typeface="Roboto Mono"/>
                <a:sym typeface="Roboto Mono"/>
              </a:rPr>
              <a:t>(</a:t>
            </a:r>
            <a:r>
              <a:rPr i="1" lang="es" sz="950">
                <a:solidFill>
                  <a:srgbClr val="FD971F"/>
                </a:solidFill>
                <a:highlight>
                  <a:srgbClr val="1F1F1F"/>
                </a:highlight>
                <a:latin typeface="Roboto Mono"/>
                <a:ea typeface="Roboto Mono"/>
                <a:cs typeface="Roboto Mono"/>
                <a:sym typeface="Roboto Mono"/>
              </a:rPr>
              <a:t>nombre</a:t>
            </a:r>
            <a:r>
              <a:rPr lang="es" sz="950">
                <a:solidFill>
                  <a:srgbClr val="DDDDDD"/>
                </a:solidFill>
                <a:highlight>
                  <a:srgbClr val="1F1F1F"/>
                </a:highlight>
                <a:latin typeface="Roboto Mono"/>
                <a:ea typeface="Roboto Mono"/>
                <a:cs typeface="Roboto Mono"/>
                <a:sym typeface="Roboto Mono"/>
              </a:rPr>
              <a:t>)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console</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log</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nombre</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75715E"/>
                </a:solidFill>
                <a:highlight>
                  <a:srgbClr val="1F1F1F"/>
                </a:highlight>
                <a:latin typeface="Roboto Mono"/>
                <a:ea typeface="Roboto Mono"/>
                <a:cs typeface="Roboto Mono"/>
                <a:sym typeface="Roboto Mono"/>
              </a:rPr>
              <a:t>// Usando un bucle for...of</a:t>
            </a:r>
            <a:endParaRPr sz="9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F92672"/>
                </a:solidFill>
                <a:highlight>
                  <a:srgbClr val="1F1F1F"/>
                </a:highlight>
                <a:latin typeface="Roboto Mono"/>
                <a:ea typeface="Roboto Mono"/>
                <a:cs typeface="Roboto Mono"/>
                <a:sym typeface="Roboto Mono"/>
              </a:rPr>
              <a:t>for</a:t>
            </a:r>
            <a:r>
              <a:rPr lang="es" sz="950">
                <a:solidFill>
                  <a:srgbClr val="DDDDDD"/>
                </a:solidFill>
                <a:highlight>
                  <a:srgbClr val="1F1F1F"/>
                </a:highlight>
                <a:latin typeface="Roboto Mono"/>
                <a:ea typeface="Roboto Mono"/>
                <a:cs typeface="Roboto Mono"/>
                <a:sym typeface="Roboto Mono"/>
              </a:rPr>
              <a:t> (</a:t>
            </a:r>
            <a:r>
              <a:rPr i="1" lang="es" sz="950">
                <a:solidFill>
                  <a:srgbClr val="66D9EF"/>
                </a:solidFill>
                <a:highlight>
                  <a:srgbClr val="1F1F1F"/>
                </a:highlight>
                <a:latin typeface="Roboto Mono"/>
                <a:ea typeface="Roboto Mono"/>
                <a:cs typeface="Roboto Mono"/>
                <a:sym typeface="Roboto Mono"/>
              </a:rPr>
              <a:t>const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nombre</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of</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nombres</a:t>
            </a:r>
            <a:r>
              <a:rPr lang="es" sz="950">
                <a:solidFill>
                  <a:srgbClr val="DDDDDD"/>
                </a:solidFill>
                <a:highlight>
                  <a:srgbClr val="1F1F1F"/>
                </a:highlight>
                <a:latin typeface="Roboto Mono"/>
                <a:ea typeface="Roboto Mono"/>
                <a:cs typeface="Roboto Mono"/>
                <a:sym typeface="Roboto Mono"/>
              </a:rPr>
              <a:t>)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console</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log</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nombre</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a:t>
            </a:r>
            <a:endParaRPr sz="1600">
              <a:solidFill>
                <a:schemeClr val="dk2"/>
              </a:solidFill>
              <a:latin typeface="Roboto Mono"/>
              <a:ea typeface="Roboto Mono"/>
              <a:cs typeface="Roboto Mono"/>
              <a:sym typeface="Roboto Mono"/>
            </a:endParaRPr>
          </a:p>
        </p:txBody>
      </p:sp>
      <p:sp>
        <p:nvSpPr>
          <p:cNvPr id="183" name="Google Shape;183;p25"/>
          <p:cNvSpPr txBox="1"/>
          <p:nvPr/>
        </p:nvSpPr>
        <p:spPr>
          <a:xfrm>
            <a:off x="6622075" y="2621675"/>
            <a:ext cx="2257200" cy="1169700"/>
          </a:xfrm>
          <a:prstGeom prst="rect">
            <a:avLst/>
          </a:prstGeom>
          <a:noFill/>
          <a:ln cap="flat" cmpd="sng" w="9525">
            <a:solidFill>
              <a:srgbClr val="1F1F1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600" u="sng">
                <a:solidFill>
                  <a:schemeClr val="dk2"/>
                </a:solidFill>
                <a:latin typeface="Roboto Serif"/>
                <a:ea typeface="Roboto Serif"/>
                <a:cs typeface="Roboto Serif"/>
                <a:sym typeface="Roboto Serif"/>
              </a:rPr>
              <a:t>Nota:</a:t>
            </a:r>
            <a:r>
              <a:rPr lang="es" sz="1600">
                <a:solidFill>
                  <a:schemeClr val="dk2"/>
                </a:solidFill>
                <a:latin typeface="Roboto Serif"/>
                <a:ea typeface="Roboto Serif"/>
                <a:cs typeface="Roboto Serif"/>
                <a:sym typeface="Roboto Serif"/>
              </a:rPr>
              <a:t> el operador </a:t>
            </a:r>
            <a:r>
              <a:rPr b="1" lang="es" sz="1600">
                <a:solidFill>
                  <a:schemeClr val="dk2"/>
                </a:solidFill>
                <a:latin typeface="Roboto Mono"/>
                <a:ea typeface="Roboto Mono"/>
                <a:cs typeface="Roboto Mono"/>
                <a:sym typeface="Roboto Mono"/>
              </a:rPr>
              <a:t>in</a:t>
            </a:r>
            <a:r>
              <a:rPr lang="es" sz="1600">
                <a:solidFill>
                  <a:schemeClr val="dk2"/>
                </a:solidFill>
                <a:latin typeface="Roboto Mono"/>
                <a:ea typeface="Roboto Mono"/>
                <a:cs typeface="Roboto Mono"/>
                <a:sym typeface="Roboto Mono"/>
              </a:rPr>
              <a:t> </a:t>
            </a:r>
            <a:r>
              <a:rPr lang="es" sz="1600">
                <a:solidFill>
                  <a:schemeClr val="dk2"/>
                </a:solidFill>
                <a:latin typeface="Roboto Serif"/>
                <a:ea typeface="Roboto Serif"/>
                <a:cs typeface="Roboto Serif"/>
                <a:sym typeface="Roboto Serif"/>
              </a:rPr>
              <a:t>se usa para objetos y el </a:t>
            </a:r>
            <a:r>
              <a:rPr b="1" lang="es" sz="1600">
                <a:solidFill>
                  <a:schemeClr val="dk2"/>
                </a:solidFill>
                <a:latin typeface="Roboto Mono"/>
                <a:ea typeface="Roboto Mono"/>
                <a:cs typeface="Roboto Mono"/>
                <a:sym typeface="Roboto Mono"/>
              </a:rPr>
              <a:t>of</a:t>
            </a:r>
            <a:r>
              <a:rPr lang="es" sz="1600">
                <a:solidFill>
                  <a:schemeClr val="dk2"/>
                </a:solidFill>
                <a:latin typeface="Roboto Serif"/>
                <a:ea typeface="Roboto Serif"/>
                <a:cs typeface="Roboto Serif"/>
                <a:sym typeface="Roboto Serif"/>
              </a:rPr>
              <a:t> para listas!</a:t>
            </a:r>
            <a:endParaRPr sz="1600">
              <a:solidFill>
                <a:schemeClr val="dk2"/>
              </a:solidFill>
              <a:latin typeface="Roboto Serif"/>
              <a:ea typeface="Roboto Serif"/>
              <a:cs typeface="Roboto Serif"/>
              <a:sym typeface="Roboto Serif"/>
            </a:endParaRPr>
          </a:p>
        </p:txBody>
      </p:sp>
      <p:cxnSp>
        <p:nvCxnSpPr>
          <p:cNvPr id="184" name="Google Shape;184;p25"/>
          <p:cNvCxnSpPr>
            <a:stCxn id="183" idx="1"/>
          </p:cNvCxnSpPr>
          <p:nvPr/>
        </p:nvCxnSpPr>
        <p:spPr>
          <a:xfrm flipH="1">
            <a:off x="3955975" y="3206525"/>
            <a:ext cx="2666100" cy="961800"/>
          </a:xfrm>
          <a:prstGeom prst="straightConnector1">
            <a:avLst/>
          </a:prstGeom>
          <a:noFill/>
          <a:ln cap="flat" cmpd="sng" w="9525">
            <a:solidFill>
              <a:srgbClr val="FF00FF"/>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ph type="title"/>
          </p:nvPr>
        </p:nvSpPr>
        <p:spPr>
          <a:xfrm>
            <a:off x="358675" y="4493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Objetos</a:t>
            </a:r>
            <a:endParaRPr/>
          </a:p>
        </p:txBody>
      </p:sp>
      <p:sp>
        <p:nvSpPr>
          <p:cNvPr id="190" name="Google Shape;190;p26"/>
          <p:cNvSpPr txBox="1"/>
          <p:nvPr>
            <p:ph idx="1" type="body"/>
          </p:nvPr>
        </p:nvSpPr>
        <p:spPr>
          <a:xfrm>
            <a:off x="311700" y="1219025"/>
            <a:ext cx="4260300" cy="30828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s"/>
              <a:t>Los objetos en JavaScript son </a:t>
            </a:r>
            <a:r>
              <a:rPr i="1" lang="es"/>
              <a:t>“similares”</a:t>
            </a:r>
            <a:r>
              <a:rPr lang="es"/>
              <a:t> a los diccionarios de Python. Sin embargo, su entendimiento al completo depende de conocimientos de Paradigmas de Programación. </a:t>
            </a:r>
            <a:endParaRPr/>
          </a:p>
          <a:p>
            <a:pPr indent="0" lvl="0" marL="0" rtl="0" algn="l">
              <a:spcBef>
                <a:spcPts val="1200"/>
              </a:spcBef>
              <a:spcAft>
                <a:spcPts val="1200"/>
              </a:spcAft>
              <a:buNone/>
            </a:pPr>
            <a:r>
              <a:rPr b="1" lang="es"/>
              <a:t>Su uso en esta materia se limitará al manejo de JSON</a:t>
            </a:r>
            <a:r>
              <a:rPr lang="es"/>
              <a:t>.</a:t>
            </a:r>
            <a:endParaRPr/>
          </a:p>
        </p:txBody>
      </p:sp>
      <p:sp>
        <p:nvSpPr>
          <p:cNvPr id="191" name="Google Shape;191;p26"/>
          <p:cNvSpPr txBox="1"/>
          <p:nvPr/>
        </p:nvSpPr>
        <p:spPr>
          <a:xfrm>
            <a:off x="4656100" y="727925"/>
            <a:ext cx="4535100" cy="3954900"/>
          </a:xfrm>
          <a:prstGeom prst="rect">
            <a:avLst/>
          </a:prstGeom>
          <a:solidFill>
            <a:srgbClr val="1F1F1F"/>
          </a:solidFill>
          <a:ln>
            <a:noFill/>
          </a:ln>
        </p:spPr>
        <p:txBody>
          <a:bodyPr anchorCtr="0" anchor="t" bIns="91425" lIns="91425" spcFirstLastPara="1" rIns="91425" wrap="square" tIns="91425">
            <a:spAutoFit/>
          </a:bodyPr>
          <a:lstStyle/>
          <a:p>
            <a:pPr indent="0" lvl="0" marL="0" rtl="0" algn="l">
              <a:lnSpc>
                <a:spcPct val="130434"/>
              </a:lnSpc>
              <a:spcBef>
                <a:spcPts val="0"/>
              </a:spcBef>
              <a:spcAft>
                <a:spcPts val="0"/>
              </a:spcAft>
              <a:buNone/>
            </a:pPr>
            <a:r>
              <a:rPr i="1" lang="es" sz="950">
                <a:solidFill>
                  <a:srgbClr val="66D9EF"/>
                </a:solidFill>
                <a:highlight>
                  <a:srgbClr val="1F1F1F"/>
                </a:highlight>
                <a:latin typeface="Roboto Mono"/>
                <a:ea typeface="Roboto Mono"/>
                <a:cs typeface="Roboto Mono"/>
                <a:sym typeface="Roboto Mono"/>
              </a:rPr>
              <a:t>const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persona</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a:t>
            </a:r>
            <a:r>
              <a:rPr lang="es" sz="950">
                <a:solidFill>
                  <a:srgbClr val="DDDDDD"/>
                </a:solidFill>
                <a:highlight>
                  <a:srgbClr val="1F1F1F"/>
                </a:highlight>
                <a:latin typeface="Roboto Mono"/>
                <a:ea typeface="Roboto Mono"/>
                <a:cs typeface="Roboto Mono"/>
                <a:sym typeface="Roboto Mono"/>
              </a:rPr>
              <a:t>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  name: </a:t>
            </a:r>
            <a:r>
              <a:rPr lang="es" sz="950">
                <a:solidFill>
                  <a:srgbClr val="E6DB74"/>
                </a:solidFill>
                <a:highlight>
                  <a:srgbClr val="1F1F1F"/>
                </a:highlight>
                <a:latin typeface="Roboto Mono"/>
                <a:ea typeface="Roboto Mono"/>
                <a:cs typeface="Roboto Mono"/>
                <a:sym typeface="Roboto Mono"/>
              </a:rPr>
              <a:t>"Pepito Perez"</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  edad: </a:t>
            </a:r>
            <a:r>
              <a:rPr lang="es" sz="950">
                <a:solidFill>
                  <a:srgbClr val="AE81FF"/>
                </a:solidFill>
                <a:highlight>
                  <a:srgbClr val="1F1F1F"/>
                </a:highlight>
                <a:latin typeface="Roboto Mono"/>
                <a:ea typeface="Roboto Mono"/>
                <a:cs typeface="Roboto Mono"/>
                <a:sym typeface="Roboto Mono"/>
              </a:rPr>
              <a:t>24</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  </a:t>
            </a:r>
            <a:r>
              <a:rPr lang="es" sz="950">
                <a:solidFill>
                  <a:srgbClr val="E6DB74"/>
                </a:solidFill>
                <a:highlight>
                  <a:srgbClr val="1F1F1F"/>
                </a:highlight>
                <a:latin typeface="Roboto Mono"/>
                <a:ea typeface="Roboto Mono"/>
                <a:cs typeface="Roboto Mono"/>
                <a:sym typeface="Roboto Mono"/>
              </a:rPr>
              <a:t>"ciudad de origen"</a:t>
            </a:r>
            <a:r>
              <a:rPr lang="es" sz="950">
                <a:solidFill>
                  <a:srgbClr val="DDDDDD"/>
                </a:solidFill>
                <a:highlight>
                  <a:srgbClr val="1F1F1F"/>
                </a:highlight>
                <a:latin typeface="Roboto Mono"/>
                <a:ea typeface="Roboto Mono"/>
                <a:cs typeface="Roboto Mono"/>
                <a:sym typeface="Roboto Mono"/>
              </a:rPr>
              <a:t>: </a:t>
            </a:r>
            <a:r>
              <a:rPr lang="es" sz="950">
                <a:solidFill>
                  <a:srgbClr val="E6DB74"/>
                </a:solidFill>
                <a:highlight>
                  <a:srgbClr val="1F1F1F"/>
                </a:highlight>
                <a:latin typeface="Roboto Mono"/>
                <a:ea typeface="Roboto Mono"/>
                <a:cs typeface="Roboto Mono"/>
                <a:sym typeface="Roboto Mono"/>
              </a:rPr>
              <a:t>"Buenos Aires"</a:t>
            </a:r>
            <a:endParaRPr sz="7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F8F8F2"/>
                </a:solidFill>
                <a:highlight>
                  <a:srgbClr val="1F1F1F"/>
                </a:highlight>
                <a:latin typeface="Roboto Mono"/>
                <a:ea typeface="Roboto Mono"/>
                <a:cs typeface="Roboto Mono"/>
                <a:sym typeface="Roboto Mono"/>
              </a:rPr>
              <a:t>console</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log</a:t>
            </a:r>
            <a:r>
              <a:rPr lang="es" sz="950">
                <a:solidFill>
                  <a:srgbClr val="DDDDDD"/>
                </a:solidFill>
                <a:highlight>
                  <a:srgbClr val="1F1F1F"/>
                </a:highlight>
                <a:latin typeface="Roboto Mono"/>
                <a:ea typeface="Roboto Mono"/>
                <a:cs typeface="Roboto Mono"/>
                <a:sym typeface="Roboto Mono"/>
              </a:rPr>
              <a:t>(</a:t>
            </a:r>
            <a:r>
              <a:rPr lang="es" sz="950">
                <a:solidFill>
                  <a:srgbClr val="F92672"/>
                </a:solidFill>
                <a:highlight>
                  <a:srgbClr val="1F1F1F"/>
                </a:highlight>
                <a:latin typeface="Roboto Mono"/>
                <a:ea typeface="Roboto Mono"/>
                <a:cs typeface="Roboto Mono"/>
                <a:sym typeface="Roboto Mono"/>
              </a:rPr>
              <a:t>typeof</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persona</a:t>
            </a:r>
            <a:r>
              <a:rPr lang="es" sz="950">
                <a:solidFill>
                  <a:srgbClr val="DDDDDD"/>
                </a:solidFill>
                <a:highlight>
                  <a:srgbClr val="1F1F1F"/>
                </a:highlight>
                <a:latin typeface="Roboto Mono"/>
                <a:ea typeface="Roboto Mono"/>
                <a:cs typeface="Roboto Mono"/>
                <a:sym typeface="Roboto Mono"/>
              </a:rPr>
              <a:t>) </a:t>
            </a:r>
            <a:r>
              <a:rPr lang="es" sz="950">
                <a:solidFill>
                  <a:srgbClr val="75715E"/>
                </a:solidFill>
                <a:highlight>
                  <a:srgbClr val="1F1F1F"/>
                </a:highlight>
                <a:latin typeface="Roboto Mono"/>
                <a:ea typeface="Roboto Mono"/>
                <a:cs typeface="Roboto Mono"/>
                <a:sym typeface="Roboto Mono"/>
              </a:rPr>
              <a:t>// object</a:t>
            </a:r>
            <a:endParaRPr sz="7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75715E"/>
                </a:solidFill>
                <a:highlight>
                  <a:srgbClr val="1F1F1F"/>
                </a:highlight>
                <a:latin typeface="Roboto Mono"/>
                <a:ea typeface="Roboto Mono"/>
                <a:cs typeface="Roboto Mono"/>
                <a:sym typeface="Roboto Mono"/>
              </a:rPr>
              <a:t>// recorrer el objeto persona</a:t>
            </a:r>
            <a:endParaRPr sz="9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F92672"/>
                </a:solidFill>
                <a:highlight>
                  <a:srgbClr val="1F1F1F"/>
                </a:highlight>
                <a:latin typeface="Roboto Mono"/>
                <a:ea typeface="Roboto Mono"/>
                <a:cs typeface="Roboto Mono"/>
                <a:sym typeface="Roboto Mono"/>
              </a:rPr>
              <a:t>for</a:t>
            </a:r>
            <a:r>
              <a:rPr lang="es" sz="950">
                <a:solidFill>
                  <a:srgbClr val="DDDDDD"/>
                </a:solidFill>
                <a:highlight>
                  <a:srgbClr val="1F1F1F"/>
                </a:highlight>
                <a:latin typeface="Roboto Mono"/>
                <a:ea typeface="Roboto Mono"/>
                <a:cs typeface="Roboto Mono"/>
                <a:sym typeface="Roboto Mono"/>
              </a:rPr>
              <a:t> (</a:t>
            </a:r>
            <a:r>
              <a:rPr i="1" lang="es" sz="950">
                <a:solidFill>
                  <a:srgbClr val="66D9EF"/>
                </a:solidFill>
                <a:highlight>
                  <a:srgbClr val="1F1F1F"/>
                </a:highlight>
                <a:latin typeface="Roboto Mono"/>
                <a:ea typeface="Roboto Mono"/>
                <a:cs typeface="Roboto Mono"/>
                <a:sym typeface="Roboto Mono"/>
              </a:rPr>
              <a:t>let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key</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in</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persona</a:t>
            </a:r>
            <a:r>
              <a:rPr lang="es" sz="950">
                <a:solidFill>
                  <a:srgbClr val="DDDDDD"/>
                </a:solidFill>
                <a:highlight>
                  <a:srgbClr val="1F1F1F"/>
                </a:highlight>
                <a:latin typeface="Roboto Mono"/>
                <a:ea typeface="Roboto Mono"/>
                <a:cs typeface="Roboto Mono"/>
                <a:sym typeface="Roboto Mono"/>
              </a:rPr>
              <a:t>)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console</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log</a:t>
            </a:r>
            <a:r>
              <a:rPr lang="es" sz="950">
                <a:solidFill>
                  <a:srgbClr val="DDDDDD"/>
                </a:solidFill>
                <a:highlight>
                  <a:srgbClr val="1F1F1F"/>
                </a:highlight>
                <a:latin typeface="Roboto Mono"/>
                <a:ea typeface="Roboto Mono"/>
                <a:cs typeface="Roboto Mono"/>
                <a:sym typeface="Roboto Mono"/>
              </a:rPr>
              <a:t>(</a:t>
            </a:r>
            <a:r>
              <a:rPr lang="es" sz="950">
                <a:solidFill>
                  <a:srgbClr val="E6DB74"/>
                </a:solidFill>
                <a:highlight>
                  <a:srgbClr val="1F1F1F"/>
                </a:highlight>
                <a:latin typeface="Roboto Mono"/>
                <a:ea typeface="Roboto Mono"/>
                <a:cs typeface="Roboto Mono"/>
                <a:sym typeface="Roboto Mono"/>
              </a:rPr>
              <a:t>`clave: </a:t>
            </a:r>
            <a:r>
              <a:rPr lang="es" sz="950">
                <a:solidFill>
                  <a:srgbClr val="F92672"/>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key</a:t>
            </a:r>
            <a:r>
              <a:rPr lang="es" sz="950">
                <a:solidFill>
                  <a:srgbClr val="F92672"/>
                </a:solidFill>
                <a:highlight>
                  <a:srgbClr val="1F1F1F"/>
                </a:highlight>
                <a:latin typeface="Roboto Mono"/>
                <a:ea typeface="Roboto Mono"/>
                <a:cs typeface="Roboto Mono"/>
                <a:sym typeface="Roboto Mono"/>
              </a:rPr>
              <a:t>}</a:t>
            </a:r>
            <a:r>
              <a:rPr lang="es" sz="950">
                <a:solidFill>
                  <a:srgbClr val="E6DB74"/>
                </a:solidFill>
                <a:highlight>
                  <a:srgbClr val="1F1F1F"/>
                </a:highlight>
                <a:latin typeface="Roboto Mono"/>
                <a:ea typeface="Roboto Mono"/>
                <a:cs typeface="Roboto Mono"/>
                <a:sym typeface="Roboto Mono"/>
              </a:rPr>
              <a:t> / valor: </a:t>
            </a:r>
            <a:r>
              <a:rPr lang="es" sz="950">
                <a:solidFill>
                  <a:srgbClr val="F92672"/>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persona[key]</a:t>
            </a:r>
            <a:r>
              <a:rPr lang="es" sz="950">
                <a:solidFill>
                  <a:srgbClr val="F92672"/>
                </a:solidFill>
                <a:highlight>
                  <a:srgbClr val="1F1F1F"/>
                </a:highlight>
                <a:latin typeface="Roboto Mono"/>
                <a:ea typeface="Roboto Mono"/>
                <a:cs typeface="Roboto Mono"/>
                <a:sym typeface="Roboto Mono"/>
              </a:rPr>
              <a:t>}</a:t>
            </a:r>
            <a:r>
              <a:rPr lang="es" sz="950">
                <a:solidFill>
                  <a:srgbClr val="E6DB74"/>
                </a:solidFill>
                <a:highlight>
                  <a:srgbClr val="1F1F1F"/>
                </a:highlight>
                <a:latin typeface="Roboto Mono"/>
                <a:ea typeface="Roboto Mono"/>
                <a:cs typeface="Roboto Mono"/>
                <a:sym typeface="Roboto Mono"/>
              </a:rPr>
              <a:t>`</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75715E"/>
                </a:solidFill>
                <a:highlight>
                  <a:srgbClr val="1F1F1F"/>
                </a:highlight>
                <a:latin typeface="Roboto Mono"/>
                <a:ea typeface="Roboto Mono"/>
                <a:cs typeface="Roboto Mono"/>
                <a:sym typeface="Roboto Mono"/>
              </a:rPr>
              <a:t>// convertir el objeto persona a un string</a:t>
            </a:r>
            <a:endParaRPr sz="9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950">
                <a:solidFill>
                  <a:srgbClr val="66D9EF"/>
                </a:solidFill>
                <a:highlight>
                  <a:srgbClr val="1F1F1F"/>
                </a:highlight>
                <a:latin typeface="Roboto Mono"/>
                <a:ea typeface="Roboto Mono"/>
                <a:cs typeface="Roboto Mono"/>
                <a:sym typeface="Roboto Mono"/>
              </a:rPr>
              <a:t>const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personaString</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JSON</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stringify</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persona</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F8F8F2"/>
                </a:solidFill>
                <a:highlight>
                  <a:srgbClr val="1F1F1F"/>
                </a:highlight>
                <a:latin typeface="Roboto Mono"/>
                <a:ea typeface="Roboto Mono"/>
                <a:cs typeface="Roboto Mono"/>
                <a:sym typeface="Roboto Mono"/>
              </a:rPr>
              <a:t>console</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log</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personaString</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75715E"/>
                </a:solidFill>
                <a:highlight>
                  <a:srgbClr val="1F1F1F"/>
                </a:highlight>
                <a:latin typeface="Roboto Mono"/>
                <a:ea typeface="Roboto Mono"/>
                <a:cs typeface="Roboto Mono"/>
                <a:sym typeface="Roboto Mono"/>
              </a:rPr>
              <a:t>// convertir el string a un objeto</a:t>
            </a:r>
            <a:endParaRPr sz="95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950">
                <a:solidFill>
                  <a:srgbClr val="66D9EF"/>
                </a:solidFill>
                <a:highlight>
                  <a:srgbClr val="1F1F1F"/>
                </a:highlight>
                <a:latin typeface="Roboto Mono"/>
                <a:ea typeface="Roboto Mono"/>
                <a:cs typeface="Roboto Mono"/>
                <a:sym typeface="Roboto Mono"/>
              </a:rPr>
              <a:t>const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personaObjeto</a:t>
            </a:r>
            <a:r>
              <a:rPr lang="es" sz="950">
                <a:solidFill>
                  <a:srgbClr val="DDDDDD"/>
                </a:solidFill>
                <a:highlight>
                  <a:srgbClr val="1F1F1F"/>
                </a:highlight>
                <a:latin typeface="Roboto Mono"/>
                <a:ea typeface="Roboto Mono"/>
                <a:cs typeface="Roboto Mono"/>
                <a:sym typeface="Roboto Mono"/>
              </a:rPr>
              <a:t> </a:t>
            </a:r>
            <a:r>
              <a:rPr lang="es" sz="950">
                <a:solidFill>
                  <a:srgbClr val="F92672"/>
                </a:solidFill>
                <a:highlight>
                  <a:srgbClr val="1F1F1F"/>
                </a:highlight>
                <a:latin typeface="Roboto Mono"/>
                <a:ea typeface="Roboto Mono"/>
                <a:cs typeface="Roboto Mono"/>
                <a:sym typeface="Roboto Mono"/>
              </a:rPr>
              <a:t>=</a:t>
            </a:r>
            <a:r>
              <a:rPr lang="es" sz="950">
                <a:solidFill>
                  <a:srgbClr val="DDDDDD"/>
                </a:solidFill>
                <a:highlight>
                  <a:srgbClr val="1F1F1F"/>
                </a:highlight>
                <a:latin typeface="Roboto Mono"/>
                <a:ea typeface="Roboto Mono"/>
                <a:cs typeface="Roboto Mono"/>
                <a:sym typeface="Roboto Mono"/>
              </a:rPr>
              <a:t> </a:t>
            </a:r>
            <a:r>
              <a:rPr lang="es" sz="950">
                <a:solidFill>
                  <a:srgbClr val="F8F8F2"/>
                </a:solidFill>
                <a:highlight>
                  <a:srgbClr val="1F1F1F"/>
                </a:highlight>
                <a:latin typeface="Roboto Mono"/>
                <a:ea typeface="Roboto Mono"/>
                <a:cs typeface="Roboto Mono"/>
                <a:sym typeface="Roboto Mono"/>
              </a:rPr>
              <a:t>JSON</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parse</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personaString</a:t>
            </a:r>
            <a:r>
              <a:rPr lang="es" sz="950">
                <a:solidFill>
                  <a:srgbClr val="DDDDDD"/>
                </a:solidFill>
                <a:highlight>
                  <a:srgbClr val="1F1F1F"/>
                </a:highlight>
                <a:latin typeface="Roboto Mono"/>
                <a:ea typeface="Roboto Mono"/>
                <a:cs typeface="Roboto Mono"/>
                <a:sym typeface="Roboto Mono"/>
              </a:rPr>
              <a:t>)</a:t>
            </a:r>
            <a:endParaRPr sz="9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50">
                <a:solidFill>
                  <a:srgbClr val="F8F8F2"/>
                </a:solidFill>
                <a:highlight>
                  <a:srgbClr val="1F1F1F"/>
                </a:highlight>
                <a:latin typeface="Roboto Mono"/>
                <a:ea typeface="Roboto Mono"/>
                <a:cs typeface="Roboto Mono"/>
                <a:sym typeface="Roboto Mono"/>
              </a:rPr>
              <a:t>console</a:t>
            </a:r>
            <a:r>
              <a:rPr lang="es" sz="950">
                <a:solidFill>
                  <a:srgbClr val="DDDDDD"/>
                </a:solidFill>
                <a:highlight>
                  <a:srgbClr val="1F1F1F"/>
                </a:highlight>
                <a:latin typeface="Roboto Mono"/>
                <a:ea typeface="Roboto Mono"/>
                <a:cs typeface="Roboto Mono"/>
                <a:sym typeface="Roboto Mono"/>
              </a:rPr>
              <a:t>.</a:t>
            </a:r>
            <a:r>
              <a:rPr lang="es" sz="950">
                <a:solidFill>
                  <a:srgbClr val="A6E22E"/>
                </a:solidFill>
                <a:highlight>
                  <a:srgbClr val="1F1F1F"/>
                </a:highlight>
                <a:latin typeface="Roboto Mono"/>
                <a:ea typeface="Roboto Mono"/>
                <a:cs typeface="Roboto Mono"/>
                <a:sym typeface="Roboto Mono"/>
              </a:rPr>
              <a:t>log</a:t>
            </a:r>
            <a:r>
              <a:rPr lang="es" sz="950">
                <a:solidFill>
                  <a:srgbClr val="DDDDDD"/>
                </a:solidFill>
                <a:highlight>
                  <a:srgbClr val="1F1F1F"/>
                </a:highlight>
                <a:latin typeface="Roboto Mono"/>
                <a:ea typeface="Roboto Mono"/>
                <a:cs typeface="Roboto Mono"/>
                <a:sym typeface="Roboto Mono"/>
              </a:rPr>
              <a:t>(</a:t>
            </a:r>
            <a:r>
              <a:rPr lang="es" sz="950">
                <a:solidFill>
                  <a:srgbClr val="F8F8F2"/>
                </a:solidFill>
                <a:highlight>
                  <a:srgbClr val="1F1F1F"/>
                </a:highlight>
                <a:latin typeface="Roboto Mono"/>
                <a:ea typeface="Roboto Mono"/>
                <a:cs typeface="Roboto Mono"/>
                <a:sym typeface="Roboto Mono"/>
              </a:rPr>
              <a:t>personaObjeto</a:t>
            </a:r>
            <a:r>
              <a:rPr lang="es" sz="950">
                <a:solidFill>
                  <a:srgbClr val="DDDDDD"/>
                </a:solidFill>
                <a:highlight>
                  <a:srgbClr val="1F1F1F"/>
                </a:highlight>
                <a:latin typeface="Roboto Mono"/>
                <a:ea typeface="Roboto Mono"/>
                <a:cs typeface="Roboto Mono"/>
                <a:sym typeface="Roboto Mono"/>
              </a:rPr>
              <a:t>)</a:t>
            </a:r>
            <a:endParaRPr>
              <a:solidFill>
                <a:schemeClr val="dk2"/>
              </a:solidFill>
              <a:latin typeface="Roboto Mono"/>
              <a:ea typeface="Roboto Mono"/>
              <a:cs typeface="Roboto Mono"/>
              <a:sym typeface="Roboto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5" name="Shape 195"/>
        <p:cNvGrpSpPr/>
        <p:nvPr/>
      </p:nvGrpSpPr>
      <p:grpSpPr>
        <a:xfrm>
          <a:off x="0" y="0"/>
          <a:ext cx="0" cy="0"/>
          <a:chOff x="0" y="0"/>
          <a:chExt cx="0" cy="0"/>
        </a:xfrm>
      </p:grpSpPr>
      <p:sp>
        <p:nvSpPr>
          <p:cNvPr id="196" name="Google Shape;196;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Keywords</a:t>
            </a:r>
            <a:endParaRPr/>
          </a:p>
        </p:txBody>
      </p:sp>
      <p:sp>
        <p:nvSpPr>
          <p:cNvPr id="197" name="Google Shape;197;p27"/>
          <p:cNvSpPr txBox="1"/>
          <p:nvPr>
            <p:ph idx="1" type="body"/>
          </p:nvPr>
        </p:nvSpPr>
        <p:spPr>
          <a:xfrm>
            <a:off x="311700" y="1171825"/>
            <a:ext cx="8520600" cy="2870700"/>
          </a:xfrm>
          <a:prstGeom prst="rect">
            <a:avLst/>
          </a:prstGeom>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None/>
            </a:pPr>
            <a:r>
              <a:rPr lang="es"/>
              <a:t>Las keywords o </a:t>
            </a:r>
            <a:r>
              <a:rPr b="1" lang="es"/>
              <a:t>palabras reservadas</a:t>
            </a:r>
            <a:r>
              <a:rPr lang="es"/>
              <a:t> son palabras que no se pueden usar para nombrar variables ya que son especiales para el compilador de JavaScript. El concepto de keywords existe en todos los lenguajes de programación.</a:t>
            </a:r>
            <a:endParaRPr/>
          </a:p>
          <a:p>
            <a:pPr indent="0" lvl="0" marL="0" rtl="0" algn="l">
              <a:lnSpc>
                <a:spcPct val="115000"/>
              </a:lnSpc>
              <a:spcBef>
                <a:spcPts val="1200"/>
              </a:spcBef>
              <a:spcAft>
                <a:spcPts val="0"/>
              </a:spcAft>
              <a:buNone/>
            </a:pPr>
            <a:r>
              <a:t/>
            </a:r>
            <a:endParaRPr sz="388"/>
          </a:p>
          <a:p>
            <a:pPr indent="0" lvl="0" marL="0" rtl="0" algn="l">
              <a:lnSpc>
                <a:spcPct val="115000"/>
              </a:lnSpc>
              <a:spcBef>
                <a:spcPts val="1200"/>
              </a:spcBef>
              <a:spcAft>
                <a:spcPts val="0"/>
              </a:spcAft>
              <a:buNone/>
            </a:pPr>
            <a:r>
              <a:rPr lang="es" u="sng"/>
              <a:t>Ejemplos</a:t>
            </a:r>
            <a:r>
              <a:rPr lang="es"/>
              <a:t>:</a:t>
            </a:r>
            <a:r>
              <a:rPr lang="es">
                <a:latin typeface="Roboto Mono"/>
                <a:ea typeface="Roboto Mono"/>
                <a:cs typeface="Roboto Mono"/>
                <a:sym typeface="Roboto Mono"/>
              </a:rPr>
              <a:t> const, let, var, number, string, object, null, undefined, function, if, else, true, false, return, for, break, continue, while, switch, this, in, length, document</a:t>
            </a:r>
            <a:endParaRPr>
              <a:latin typeface="Roboto Mono"/>
              <a:ea typeface="Roboto Mono"/>
              <a:cs typeface="Roboto Mono"/>
              <a:sym typeface="Roboto Mono"/>
            </a:endParaRPr>
          </a:p>
          <a:p>
            <a:pPr indent="0" lvl="0" marL="0" rtl="0" algn="l">
              <a:lnSpc>
                <a:spcPct val="115000"/>
              </a:lnSpc>
              <a:spcBef>
                <a:spcPts val="1200"/>
              </a:spcBef>
              <a:spcAft>
                <a:spcPts val="0"/>
              </a:spcAft>
              <a:buNone/>
            </a:pPr>
            <a:r>
              <a:t/>
            </a:r>
            <a:endParaRPr sz="629">
              <a:latin typeface="Roboto Mono"/>
              <a:ea typeface="Roboto Mono"/>
              <a:cs typeface="Roboto Mono"/>
              <a:sym typeface="Roboto Mono"/>
            </a:endParaRPr>
          </a:p>
          <a:p>
            <a:pPr indent="0" lvl="0" marL="0" rtl="0" algn="l">
              <a:lnSpc>
                <a:spcPct val="115000"/>
              </a:lnSpc>
              <a:spcBef>
                <a:spcPts val="1200"/>
              </a:spcBef>
              <a:spcAft>
                <a:spcPts val="1200"/>
              </a:spcAft>
              <a:buNone/>
            </a:pPr>
            <a:r>
              <a:rPr lang="es"/>
              <a:t>Lista completa: </a:t>
            </a:r>
            <a:r>
              <a:rPr lang="es" u="sng">
                <a:solidFill>
                  <a:schemeClr val="accent5"/>
                </a:solidFill>
                <a:hlinkClick r:id="rId3">
                  <a:extLst>
                    <a:ext uri="{A12FA001-AC4F-418D-AE19-62706E023703}">
                      <ahyp:hlinkClr val="tx"/>
                    </a:ext>
                  </a:extLst>
                </a:hlinkClick>
              </a:rPr>
              <a:t>https://www.w3schools.com/js/js_reserved.asp</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ph type="title"/>
          </p:nvPr>
        </p:nvSpPr>
        <p:spPr>
          <a:xfrm>
            <a:off x="490250" y="526350"/>
            <a:ext cx="3685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Funciones</a:t>
            </a:r>
            <a:endParaRPr sz="1600"/>
          </a:p>
        </p:txBody>
      </p:sp>
      <p:sp>
        <p:nvSpPr>
          <p:cNvPr id="203" name="Google Shape;203;p28"/>
          <p:cNvSpPr txBox="1"/>
          <p:nvPr>
            <p:ph type="title"/>
          </p:nvPr>
        </p:nvSpPr>
        <p:spPr>
          <a:xfrm>
            <a:off x="4176050" y="3830075"/>
            <a:ext cx="4807800" cy="112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solidFill>
                  <a:srgbClr val="479FDE"/>
                </a:solidFill>
                <a:latin typeface="Roboto Mono"/>
                <a:ea typeface="Roboto Mono"/>
                <a:cs typeface="Roboto Mono"/>
                <a:sym typeface="Roboto Mono"/>
              </a:rPr>
              <a:t>(</a:t>
            </a:r>
            <a:r>
              <a:rPr lang="es">
                <a:solidFill>
                  <a:srgbClr val="479FDE"/>
                </a:solidFill>
                <a:latin typeface="Roboto Mono"/>
                <a:ea typeface="Roboto Mono"/>
                <a:cs typeface="Roboto Mono"/>
                <a:sym typeface="Roboto Mono"/>
              </a:rPr>
              <a:t>() =&gt; {})()</a:t>
            </a:r>
            <a:endParaRPr sz="1600">
              <a:solidFill>
                <a:srgbClr val="479FDE"/>
              </a:solidFill>
              <a:latin typeface="Roboto Mono"/>
              <a:ea typeface="Roboto Mono"/>
              <a:cs typeface="Roboto Mono"/>
              <a:sym typeface="Roboto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Función clásica</a:t>
            </a:r>
            <a:endParaRPr/>
          </a:p>
        </p:txBody>
      </p:sp>
      <p:sp>
        <p:nvSpPr>
          <p:cNvPr id="209" name="Google Shape;209;p29"/>
          <p:cNvSpPr txBox="1"/>
          <p:nvPr>
            <p:ph idx="1" type="body"/>
          </p:nvPr>
        </p:nvSpPr>
        <p:spPr>
          <a:xfrm>
            <a:off x="890950" y="2308525"/>
            <a:ext cx="6184500" cy="1892100"/>
          </a:xfrm>
          <a:prstGeom prst="rect">
            <a:avLst/>
          </a:prstGeom>
          <a:ln>
            <a:noFill/>
          </a:ln>
        </p:spPr>
        <p:txBody>
          <a:bodyPr anchorCtr="0" anchor="t" bIns="91425" lIns="91425" spcFirstLastPara="1" rIns="91425" wrap="square" tIns="91425">
            <a:normAutofit/>
          </a:bodyPr>
          <a:lstStyle/>
          <a:p>
            <a:pPr indent="0" lvl="0" marL="0" rtl="0" algn="l">
              <a:lnSpc>
                <a:spcPct val="130434"/>
              </a:lnSpc>
              <a:spcBef>
                <a:spcPts val="0"/>
              </a:spcBef>
              <a:spcAft>
                <a:spcPts val="0"/>
              </a:spcAft>
              <a:buNone/>
            </a:pPr>
            <a:r>
              <a:rPr b="1" lang="es" sz="1700">
                <a:solidFill>
                  <a:srgbClr val="1F1F1F"/>
                </a:solidFill>
                <a:latin typeface="Roboto Mono"/>
                <a:ea typeface="Roboto Mono"/>
                <a:cs typeface="Roboto Mono"/>
                <a:sym typeface="Roboto Mono"/>
              </a:rPr>
              <a:t>function </a:t>
            </a:r>
            <a:r>
              <a:rPr b="1" lang="es" sz="1700">
                <a:solidFill>
                  <a:srgbClr val="1F1F1F"/>
                </a:solidFill>
                <a:highlight>
                  <a:srgbClr val="A6E22E"/>
                </a:highlight>
                <a:latin typeface="Roboto Mono"/>
                <a:ea typeface="Roboto Mono"/>
                <a:cs typeface="Roboto Mono"/>
                <a:sym typeface="Roboto Mono"/>
              </a:rPr>
              <a:t>modulo</a:t>
            </a:r>
            <a:r>
              <a:rPr b="1" lang="es" sz="1700">
                <a:solidFill>
                  <a:srgbClr val="1F1F1F"/>
                </a:solidFill>
                <a:highlight>
                  <a:srgbClr val="66D9EF"/>
                </a:highlight>
                <a:latin typeface="Roboto Mono"/>
                <a:ea typeface="Roboto Mono"/>
                <a:cs typeface="Roboto Mono"/>
                <a:sym typeface="Roboto Mono"/>
              </a:rPr>
              <a:t>(x, y)</a:t>
            </a:r>
            <a:r>
              <a:rPr b="1" lang="es" sz="1700">
                <a:solidFill>
                  <a:srgbClr val="1F1F1F"/>
                </a:solidFill>
                <a:latin typeface="Roboto Mono"/>
                <a:ea typeface="Roboto Mono"/>
                <a:cs typeface="Roboto Mono"/>
                <a:sym typeface="Roboto Mono"/>
              </a:rPr>
              <a:t> </a:t>
            </a:r>
            <a:r>
              <a:rPr b="1" lang="es" sz="1700">
                <a:solidFill>
                  <a:srgbClr val="1F1F1F"/>
                </a:solidFill>
                <a:highlight>
                  <a:srgbClr val="FFE599"/>
                </a:highlight>
                <a:latin typeface="Roboto Mono"/>
                <a:ea typeface="Roboto Mono"/>
                <a:cs typeface="Roboto Mono"/>
                <a:sym typeface="Roboto Mono"/>
              </a:rPr>
              <a:t>{</a:t>
            </a:r>
            <a:endParaRPr b="1" sz="1700">
              <a:solidFill>
                <a:srgbClr val="1F1F1F"/>
              </a:solidFill>
              <a:highlight>
                <a:srgbClr val="FFE599"/>
              </a:highlight>
              <a:latin typeface="Roboto Mono"/>
              <a:ea typeface="Roboto Mono"/>
              <a:cs typeface="Roboto Mono"/>
              <a:sym typeface="Roboto Mono"/>
            </a:endParaRPr>
          </a:p>
          <a:p>
            <a:pPr indent="457200" lvl="0" marL="0" rtl="0" algn="l">
              <a:lnSpc>
                <a:spcPct val="130434"/>
              </a:lnSpc>
              <a:spcBef>
                <a:spcPts val="0"/>
              </a:spcBef>
              <a:spcAft>
                <a:spcPts val="0"/>
              </a:spcAft>
              <a:buNone/>
            </a:pPr>
            <a:r>
              <a:rPr b="1" lang="es" sz="1700">
                <a:solidFill>
                  <a:srgbClr val="1F1F1F"/>
                </a:solidFill>
                <a:highlight>
                  <a:srgbClr val="FFE599"/>
                </a:highlight>
                <a:latin typeface="Roboto Mono"/>
                <a:ea typeface="Roboto Mono"/>
                <a:cs typeface="Roboto Mono"/>
                <a:sym typeface="Roboto Mono"/>
              </a:rPr>
              <a:t>const sumaCuadrados = x*x + y*y</a:t>
            </a:r>
            <a:endParaRPr b="1" sz="1700">
              <a:solidFill>
                <a:srgbClr val="1F1F1F"/>
              </a:solidFill>
              <a:highlight>
                <a:srgbClr val="FFE599"/>
              </a:highlight>
              <a:latin typeface="Roboto Mono"/>
              <a:ea typeface="Roboto Mono"/>
              <a:cs typeface="Roboto Mono"/>
              <a:sym typeface="Roboto Mono"/>
            </a:endParaRPr>
          </a:p>
          <a:p>
            <a:pPr indent="457200" lvl="0" marL="0" rtl="0" algn="l">
              <a:lnSpc>
                <a:spcPct val="130434"/>
              </a:lnSpc>
              <a:spcBef>
                <a:spcPts val="0"/>
              </a:spcBef>
              <a:spcAft>
                <a:spcPts val="0"/>
              </a:spcAft>
              <a:buNone/>
            </a:pPr>
            <a:r>
              <a:rPr b="1" lang="es" sz="1700">
                <a:solidFill>
                  <a:srgbClr val="1F1F1F"/>
                </a:solidFill>
                <a:highlight>
                  <a:srgbClr val="FFE599"/>
                </a:highlight>
                <a:latin typeface="Roboto Mono"/>
                <a:ea typeface="Roboto Mono"/>
                <a:cs typeface="Roboto Mono"/>
                <a:sym typeface="Roboto Mono"/>
              </a:rPr>
              <a:t>const resultado = Math.sqrt(sumaCuadrados)</a:t>
            </a:r>
            <a:endParaRPr b="1" sz="1700">
              <a:solidFill>
                <a:srgbClr val="1F1F1F"/>
              </a:solidFill>
              <a:highlight>
                <a:srgbClr val="FFE599"/>
              </a:highlight>
              <a:latin typeface="Roboto Mono"/>
              <a:ea typeface="Roboto Mono"/>
              <a:cs typeface="Roboto Mono"/>
              <a:sym typeface="Roboto Mono"/>
            </a:endParaRPr>
          </a:p>
          <a:p>
            <a:pPr indent="457200" lvl="0" marL="0" rtl="0" algn="l">
              <a:lnSpc>
                <a:spcPct val="130434"/>
              </a:lnSpc>
              <a:spcBef>
                <a:spcPts val="0"/>
              </a:spcBef>
              <a:spcAft>
                <a:spcPts val="0"/>
              </a:spcAft>
              <a:buNone/>
            </a:pPr>
            <a:r>
              <a:rPr b="1" lang="es" sz="1700">
                <a:solidFill>
                  <a:srgbClr val="1F1F1F"/>
                </a:solidFill>
                <a:highlight>
                  <a:srgbClr val="FFE599"/>
                </a:highlight>
                <a:latin typeface="Roboto Mono"/>
                <a:ea typeface="Roboto Mono"/>
                <a:cs typeface="Roboto Mono"/>
                <a:sym typeface="Roboto Mono"/>
              </a:rPr>
              <a:t>return resultado</a:t>
            </a:r>
            <a:endParaRPr b="1" sz="1700">
              <a:solidFill>
                <a:srgbClr val="1F1F1F"/>
              </a:solidFill>
              <a:highlight>
                <a:srgbClr val="FFE599"/>
              </a:highlight>
              <a:latin typeface="Roboto Mono"/>
              <a:ea typeface="Roboto Mono"/>
              <a:cs typeface="Roboto Mono"/>
              <a:sym typeface="Roboto Mono"/>
            </a:endParaRPr>
          </a:p>
          <a:p>
            <a:pPr indent="0" lvl="0" marL="0" rtl="0" algn="l">
              <a:lnSpc>
                <a:spcPct val="130434"/>
              </a:lnSpc>
              <a:spcBef>
                <a:spcPts val="0"/>
              </a:spcBef>
              <a:spcAft>
                <a:spcPts val="0"/>
              </a:spcAft>
              <a:buNone/>
            </a:pPr>
            <a:r>
              <a:rPr b="1" lang="es" sz="1700">
                <a:solidFill>
                  <a:srgbClr val="1F1F1F"/>
                </a:solidFill>
                <a:highlight>
                  <a:srgbClr val="FFE599"/>
                </a:highlight>
                <a:latin typeface="Roboto Mono"/>
                <a:ea typeface="Roboto Mono"/>
                <a:cs typeface="Roboto Mono"/>
                <a:sym typeface="Roboto Mono"/>
              </a:rPr>
              <a:t>}</a:t>
            </a:r>
            <a:endParaRPr b="1" sz="2100">
              <a:solidFill>
                <a:srgbClr val="1F1F1F"/>
              </a:solidFill>
              <a:highlight>
                <a:srgbClr val="FFE599"/>
              </a:highlight>
            </a:endParaRPr>
          </a:p>
        </p:txBody>
      </p:sp>
      <p:cxnSp>
        <p:nvCxnSpPr>
          <p:cNvPr id="210" name="Google Shape;210;p29"/>
          <p:cNvCxnSpPr>
            <a:stCxn id="211" idx="2"/>
          </p:cNvCxnSpPr>
          <p:nvPr/>
        </p:nvCxnSpPr>
        <p:spPr>
          <a:xfrm>
            <a:off x="1311000" y="2078250"/>
            <a:ext cx="231600" cy="294300"/>
          </a:xfrm>
          <a:prstGeom prst="straightConnector1">
            <a:avLst/>
          </a:prstGeom>
          <a:noFill/>
          <a:ln cap="flat" cmpd="sng" w="9525">
            <a:solidFill>
              <a:schemeClr val="dk2"/>
            </a:solidFill>
            <a:prstDash val="solid"/>
            <a:round/>
            <a:headEnd len="med" w="med" type="none"/>
            <a:tailEnd len="med" w="med" type="triangle"/>
          </a:ln>
        </p:spPr>
      </p:cxnSp>
      <p:sp>
        <p:nvSpPr>
          <p:cNvPr id="211" name="Google Shape;211;p29"/>
          <p:cNvSpPr txBox="1"/>
          <p:nvPr/>
        </p:nvSpPr>
        <p:spPr>
          <a:xfrm>
            <a:off x="768900" y="1246950"/>
            <a:ext cx="1084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chemeClr val="dk2"/>
                </a:solidFill>
                <a:latin typeface="Roboto Serif"/>
                <a:ea typeface="Roboto Serif"/>
                <a:cs typeface="Roboto Serif"/>
                <a:sym typeface="Roboto Serif"/>
              </a:rPr>
              <a:t>palabra </a:t>
            </a:r>
            <a:endParaRPr>
              <a:solidFill>
                <a:schemeClr val="dk2"/>
              </a:solidFill>
              <a:latin typeface="Roboto Serif"/>
              <a:ea typeface="Roboto Serif"/>
              <a:cs typeface="Roboto Serif"/>
              <a:sym typeface="Roboto Serif"/>
            </a:endParaRPr>
          </a:p>
          <a:p>
            <a:pPr indent="0" lvl="0" marL="0" rtl="0" algn="l">
              <a:spcBef>
                <a:spcPts val="0"/>
              </a:spcBef>
              <a:spcAft>
                <a:spcPts val="0"/>
              </a:spcAft>
              <a:buNone/>
            </a:pPr>
            <a:r>
              <a:rPr lang="es">
                <a:solidFill>
                  <a:schemeClr val="dk2"/>
                </a:solidFill>
                <a:latin typeface="Roboto Serif"/>
                <a:ea typeface="Roboto Serif"/>
                <a:cs typeface="Roboto Serif"/>
                <a:sym typeface="Roboto Serif"/>
              </a:rPr>
              <a:t>reservada </a:t>
            </a:r>
            <a:endParaRPr>
              <a:solidFill>
                <a:schemeClr val="dk2"/>
              </a:solidFill>
              <a:latin typeface="Roboto Serif"/>
              <a:ea typeface="Roboto Serif"/>
              <a:cs typeface="Roboto Serif"/>
              <a:sym typeface="Roboto Serif"/>
            </a:endParaRPr>
          </a:p>
          <a:p>
            <a:pPr indent="0" lvl="0" marL="0" rtl="0" algn="l">
              <a:spcBef>
                <a:spcPts val="0"/>
              </a:spcBef>
              <a:spcAft>
                <a:spcPts val="0"/>
              </a:spcAft>
              <a:buNone/>
            </a:pPr>
            <a:r>
              <a:rPr lang="es">
                <a:solidFill>
                  <a:schemeClr val="dk2"/>
                </a:solidFill>
                <a:latin typeface="Roboto Serif"/>
                <a:ea typeface="Roboto Serif"/>
                <a:cs typeface="Roboto Serif"/>
                <a:sym typeface="Roboto Serif"/>
              </a:rPr>
              <a:t>function</a:t>
            </a:r>
            <a:endParaRPr>
              <a:solidFill>
                <a:schemeClr val="dk2"/>
              </a:solidFill>
              <a:latin typeface="Roboto Serif"/>
              <a:ea typeface="Roboto Serif"/>
              <a:cs typeface="Roboto Serif"/>
              <a:sym typeface="Roboto Serif"/>
            </a:endParaRPr>
          </a:p>
        </p:txBody>
      </p:sp>
      <p:cxnSp>
        <p:nvCxnSpPr>
          <p:cNvPr id="212" name="Google Shape;212;p29"/>
          <p:cNvCxnSpPr/>
          <p:nvPr/>
        </p:nvCxnSpPr>
        <p:spPr>
          <a:xfrm flipH="1">
            <a:off x="2494200" y="1900800"/>
            <a:ext cx="188700" cy="440400"/>
          </a:xfrm>
          <a:prstGeom prst="straightConnector1">
            <a:avLst/>
          </a:prstGeom>
          <a:noFill/>
          <a:ln cap="flat" cmpd="sng" w="9525">
            <a:solidFill>
              <a:schemeClr val="dk2"/>
            </a:solidFill>
            <a:prstDash val="solid"/>
            <a:round/>
            <a:headEnd len="med" w="med" type="none"/>
            <a:tailEnd len="med" w="med" type="triangle"/>
          </a:ln>
        </p:spPr>
      </p:cxnSp>
      <p:sp>
        <p:nvSpPr>
          <p:cNvPr id="213" name="Google Shape;213;p29"/>
          <p:cNvSpPr txBox="1"/>
          <p:nvPr/>
        </p:nvSpPr>
        <p:spPr>
          <a:xfrm>
            <a:off x="2132350" y="1354800"/>
            <a:ext cx="1227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rgbClr val="6AA84F"/>
                </a:solidFill>
                <a:latin typeface="Roboto Serif"/>
                <a:ea typeface="Roboto Serif"/>
                <a:cs typeface="Roboto Serif"/>
                <a:sym typeface="Roboto Serif"/>
              </a:rPr>
              <a:t>nombre de la función</a:t>
            </a:r>
            <a:endParaRPr b="1">
              <a:solidFill>
                <a:srgbClr val="6AA84F"/>
              </a:solidFill>
              <a:latin typeface="Roboto Serif"/>
              <a:ea typeface="Roboto Serif"/>
              <a:cs typeface="Roboto Serif"/>
              <a:sym typeface="Roboto Serif"/>
            </a:endParaRPr>
          </a:p>
        </p:txBody>
      </p:sp>
      <p:cxnSp>
        <p:nvCxnSpPr>
          <p:cNvPr id="214" name="Google Shape;214;p29"/>
          <p:cNvCxnSpPr/>
          <p:nvPr/>
        </p:nvCxnSpPr>
        <p:spPr>
          <a:xfrm flipH="1">
            <a:off x="3359375" y="1885075"/>
            <a:ext cx="597600" cy="487500"/>
          </a:xfrm>
          <a:prstGeom prst="straightConnector1">
            <a:avLst/>
          </a:prstGeom>
          <a:noFill/>
          <a:ln cap="flat" cmpd="sng" w="9525">
            <a:solidFill>
              <a:schemeClr val="dk2"/>
            </a:solidFill>
            <a:prstDash val="solid"/>
            <a:round/>
            <a:headEnd len="med" w="med" type="none"/>
            <a:tailEnd len="med" w="med" type="triangle"/>
          </a:ln>
        </p:spPr>
      </p:cxnSp>
      <p:sp>
        <p:nvSpPr>
          <p:cNvPr id="215" name="Google Shape;215;p29"/>
          <p:cNvSpPr txBox="1"/>
          <p:nvPr/>
        </p:nvSpPr>
        <p:spPr>
          <a:xfrm>
            <a:off x="3473425" y="1501150"/>
            <a:ext cx="1337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solidFill>
                  <a:srgbClr val="479FDE"/>
                </a:solidFill>
                <a:latin typeface="Roboto Serif"/>
                <a:ea typeface="Roboto Serif"/>
                <a:cs typeface="Roboto Serif"/>
                <a:sym typeface="Roboto Serif"/>
              </a:rPr>
              <a:t>argumentos</a:t>
            </a:r>
            <a:endParaRPr b="1">
              <a:solidFill>
                <a:srgbClr val="479FDE"/>
              </a:solidFill>
              <a:latin typeface="Roboto Serif"/>
              <a:ea typeface="Roboto Serif"/>
              <a:cs typeface="Roboto Serif"/>
              <a:sym typeface="Roboto Serif"/>
            </a:endParaRPr>
          </a:p>
        </p:txBody>
      </p:sp>
      <p:cxnSp>
        <p:nvCxnSpPr>
          <p:cNvPr id="216" name="Google Shape;216;p29"/>
          <p:cNvCxnSpPr/>
          <p:nvPr/>
        </p:nvCxnSpPr>
        <p:spPr>
          <a:xfrm flipH="1">
            <a:off x="5585025" y="2136750"/>
            <a:ext cx="990900" cy="605700"/>
          </a:xfrm>
          <a:prstGeom prst="straightConnector1">
            <a:avLst/>
          </a:prstGeom>
          <a:noFill/>
          <a:ln cap="flat" cmpd="sng" w="9525">
            <a:solidFill>
              <a:schemeClr val="dk2"/>
            </a:solidFill>
            <a:prstDash val="solid"/>
            <a:round/>
            <a:headEnd len="med" w="med" type="none"/>
            <a:tailEnd len="med" w="med" type="triangle"/>
          </a:ln>
        </p:spPr>
      </p:cxnSp>
      <p:sp>
        <p:nvSpPr>
          <p:cNvPr id="217" name="Google Shape;217;p29"/>
          <p:cNvSpPr txBox="1"/>
          <p:nvPr/>
        </p:nvSpPr>
        <p:spPr>
          <a:xfrm>
            <a:off x="5671500" y="1675050"/>
            <a:ext cx="305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BF9000"/>
                </a:solidFill>
                <a:latin typeface="Roboto Serif"/>
                <a:ea typeface="Roboto Serif"/>
                <a:cs typeface="Roboto Serif"/>
                <a:sym typeface="Roboto Serif"/>
              </a:rPr>
              <a:t>Cuerpo de la función</a:t>
            </a:r>
            <a:endParaRPr b="1" sz="1800">
              <a:solidFill>
                <a:srgbClr val="BF9000"/>
              </a:solidFill>
              <a:latin typeface="Roboto Serif"/>
              <a:ea typeface="Roboto Serif"/>
              <a:cs typeface="Roboto Serif"/>
              <a:sym typeface="Roboto Serif"/>
            </a:endParaRPr>
          </a:p>
        </p:txBody>
      </p:sp>
      <p:cxnSp>
        <p:nvCxnSpPr>
          <p:cNvPr id="218" name="Google Shape;218;p29"/>
          <p:cNvCxnSpPr/>
          <p:nvPr/>
        </p:nvCxnSpPr>
        <p:spPr>
          <a:xfrm>
            <a:off x="1463875" y="3764725"/>
            <a:ext cx="2029200" cy="0"/>
          </a:xfrm>
          <a:prstGeom prst="straightConnector1">
            <a:avLst/>
          </a:prstGeom>
          <a:noFill/>
          <a:ln cap="flat" cmpd="sng" w="38100">
            <a:solidFill>
              <a:srgbClr val="FF00FF"/>
            </a:solidFill>
            <a:prstDash val="solid"/>
            <a:round/>
            <a:headEnd len="med" w="med" type="none"/>
            <a:tailEnd len="med" w="med" type="none"/>
          </a:ln>
        </p:spPr>
      </p:cxnSp>
      <p:sp>
        <p:nvSpPr>
          <p:cNvPr id="219" name="Google Shape;219;p29"/>
          <p:cNvSpPr txBox="1"/>
          <p:nvPr/>
        </p:nvSpPr>
        <p:spPr>
          <a:xfrm>
            <a:off x="2368300" y="3811925"/>
            <a:ext cx="273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600">
                <a:solidFill>
                  <a:srgbClr val="FF00FF"/>
                </a:solidFill>
                <a:latin typeface="Roboto Serif"/>
                <a:ea typeface="Roboto Serif"/>
                <a:cs typeface="Roboto Serif"/>
                <a:sym typeface="Roboto Serif"/>
              </a:rPr>
              <a:t>retorno de la función</a:t>
            </a:r>
            <a:endParaRPr b="1" sz="1600">
              <a:solidFill>
                <a:srgbClr val="FF00FF"/>
              </a:solidFill>
              <a:latin typeface="Roboto Serif"/>
              <a:ea typeface="Roboto Serif"/>
              <a:cs typeface="Roboto Serif"/>
              <a:sym typeface="Roboto Serif"/>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a:t>
            </a:r>
            <a:r>
              <a:rPr lang="es"/>
              <a:t>o</a:t>
            </a:r>
            <a:r>
              <a:rPr lang="es"/>
              <a:t>n</a:t>
            </a:r>
            <a:r>
              <a:rPr lang="es"/>
              <a:t>es</a:t>
            </a:r>
            <a:r>
              <a:rPr lang="es"/>
              <a:t> flecha</a:t>
            </a:r>
            <a:endParaRPr/>
          </a:p>
        </p:txBody>
      </p:sp>
      <p:sp>
        <p:nvSpPr>
          <p:cNvPr id="225" name="Google Shape;225;p30"/>
          <p:cNvSpPr txBox="1"/>
          <p:nvPr>
            <p:ph idx="1" type="body"/>
          </p:nvPr>
        </p:nvSpPr>
        <p:spPr>
          <a:xfrm>
            <a:off x="370425" y="1143775"/>
            <a:ext cx="5113500" cy="3244800"/>
          </a:xfrm>
          <a:prstGeom prst="rect">
            <a:avLst/>
          </a:prstGeom>
          <a:solidFill>
            <a:srgbClr val="1F1F1F"/>
          </a:solidFill>
        </p:spPr>
        <p:txBody>
          <a:bodyPr anchorCtr="0" anchor="t" bIns="91425" lIns="91425" spcFirstLastPara="1" rIns="91425" wrap="square" tIns="91425">
            <a:noAutofit/>
          </a:bodyPr>
          <a:lstStyle/>
          <a:p>
            <a:pPr indent="0" lvl="0" marL="0" rtl="0" algn="l">
              <a:lnSpc>
                <a:spcPct val="130434"/>
              </a:lnSpc>
              <a:spcBef>
                <a:spcPts val="0"/>
              </a:spcBef>
              <a:spcAft>
                <a:spcPts val="0"/>
              </a:spcAft>
              <a:buNone/>
            </a:pPr>
            <a:r>
              <a:rPr lang="es" sz="1300">
                <a:solidFill>
                  <a:srgbClr val="75715E"/>
                </a:solidFill>
                <a:highlight>
                  <a:srgbClr val="1F1F1F"/>
                </a:highlight>
                <a:latin typeface="Roboto Mono"/>
                <a:ea typeface="Roboto Mono"/>
                <a:cs typeface="Roboto Mono"/>
                <a:sym typeface="Roboto Mono"/>
              </a:rPr>
              <a:t>// (args) =&gt; { functionBody }</a:t>
            </a:r>
            <a:endParaRPr i="1" sz="1300">
              <a:solidFill>
                <a:srgbClr val="66D9EF"/>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1300">
                <a:solidFill>
                  <a:srgbClr val="66D9EF"/>
                </a:solidFill>
                <a:highlight>
                  <a:srgbClr val="1F1F1F"/>
                </a:highlight>
                <a:latin typeface="Roboto Mono"/>
                <a:ea typeface="Roboto Mono"/>
                <a:cs typeface="Roboto Mono"/>
                <a:sym typeface="Roboto Mono"/>
              </a:rPr>
              <a:t>const</a:t>
            </a:r>
            <a:r>
              <a:rPr lang="es" sz="1300">
                <a:solidFill>
                  <a:srgbClr val="DDDDDD"/>
                </a:solidFill>
                <a:highlight>
                  <a:srgbClr val="1F1F1F"/>
                </a:highlight>
                <a:latin typeface="Roboto Mono"/>
                <a:ea typeface="Roboto Mono"/>
                <a:cs typeface="Roboto Mono"/>
                <a:sym typeface="Roboto Mono"/>
              </a:rPr>
              <a:t> </a:t>
            </a:r>
            <a:r>
              <a:rPr lang="es" sz="1300">
                <a:solidFill>
                  <a:srgbClr val="A6E22E"/>
                </a:solidFill>
                <a:highlight>
                  <a:srgbClr val="1F1F1F"/>
                </a:highlight>
                <a:latin typeface="Roboto Mono"/>
                <a:ea typeface="Roboto Mono"/>
                <a:cs typeface="Roboto Mono"/>
                <a:sym typeface="Roboto Mono"/>
              </a:rPr>
              <a:t>modulo</a:t>
            </a:r>
            <a:r>
              <a:rPr lang="es" sz="1300">
                <a:solidFill>
                  <a:srgbClr val="DDDDDD"/>
                </a:solidFill>
                <a:highlight>
                  <a:srgbClr val="1F1F1F"/>
                </a:highlight>
                <a:latin typeface="Roboto Mono"/>
                <a:ea typeface="Roboto Mono"/>
                <a:cs typeface="Roboto Mono"/>
                <a:sym typeface="Roboto Mono"/>
              </a:rPr>
              <a:t> </a:t>
            </a:r>
            <a:r>
              <a:rPr lang="es" sz="1300">
                <a:solidFill>
                  <a:srgbClr val="F92672"/>
                </a:solidFill>
                <a:highlight>
                  <a:srgbClr val="1F1F1F"/>
                </a:highlight>
                <a:latin typeface="Roboto Mono"/>
                <a:ea typeface="Roboto Mono"/>
                <a:cs typeface="Roboto Mono"/>
                <a:sym typeface="Roboto Mono"/>
              </a:rPr>
              <a:t>=</a:t>
            </a:r>
            <a:r>
              <a:rPr lang="es" sz="1300">
                <a:solidFill>
                  <a:srgbClr val="DDDDDD"/>
                </a:solidFill>
                <a:highlight>
                  <a:srgbClr val="1F1F1F"/>
                </a:highlight>
                <a:latin typeface="Roboto Mono"/>
                <a:ea typeface="Roboto Mono"/>
                <a:cs typeface="Roboto Mono"/>
                <a:sym typeface="Roboto Mono"/>
              </a:rPr>
              <a:t> (</a:t>
            </a:r>
            <a:r>
              <a:rPr i="1" lang="es" sz="1300">
                <a:solidFill>
                  <a:srgbClr val="FD971F"/>
                </a:solidFill>
                <a:highlight>
                  <a:srgbClr val="1F1F1F"/>
                </a:highlight>
                <a:latin typeface="Roboto Mono"/>
                <a:ea typeface="Roboto Mono"/>
                <a:cs typeface="Roboto Mono"/>
                <a:sym typeface="Roboto Mono"/>
              </a:rPr>
              <a:t>x</a:t>
            </a:r>
            <a:r>
              <a:rPr lang="es" sz="1300">
                <a:solidFill>
                  <a:srgbClr val="DDDDDD"/>
                </a:solidFill>
                <a:highlight>
                  <a:srgbClr val="1F1F1F"/>
                </a:highlight>
                <a:latin typeface="Roboto Mono"/>
                <a:ea typeface="Roboto Mono"/>
                <a:cs typeface="Roboto Mono"/>
                <a:sym typeface="Roboto Mono"/>
              </a:rPr>
              <a:t>, </a:t>
            </a:r>
            <a:r>
              <a:rPr i="1" lang="es" sz="1300">
                <a:solidFill>
                  <a:srgbClr val="FD971F"/>
                </a:solidFill>
                <a:highlight>
                  <a:srgbClr val="1F1F1F"/>
                </a:highlight>
                <a:latin typeface="Roboto Mono"/>
                <a:ea typeface="Roboto Mono"/>
                <a:cs typeface="Roboto Mono"/>
                <a:sym typeface="Roboto Mono"/>
              </a:rPr>
              <a:t>y</a:t>
            </a:r>
            <a:r>
              <a:rPr lang="es" sz="1300">
                <a:solidFill>
                  <a:srgbClr val="DDDDDD"/>
                </a:solidFill>
                <a:highlight>
                  <a:srgbClr val="1F1F1F"/>
                </a:highlight>
                <a:latin typeface="Roboto Mono"/>
                <a:ea typeface="Roboto Mono"/>
                <a:cs typeface="Roboto Mono"/>
                <a:sym typeface="Roboto Mono"/>
              </a:rPr>
              <a:t>) =&gt; {</a:t>
            </a:r>
            <a:endParaRPr sz="13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300">
                <a:solidFill>
                  <a:srgbClr val="DDDDDD"/>
                </a:solidFill>
                <a:highlight>
                  <a:srgbClr val="1F1F1F"/>
                </a:highlight>
                <a:latin typeface="Roboto Mono"/>
                <a:ea typeface="Roboto Mono"/>
                <a:cs typeface="Roboto Mono"/>
                <a:sym typeface="Roboto Mono"/>
              </a:rPr>
              <a:t>    </a:t>
            </a:r>
            <a:r>
              <a:rPr lang="es" sz="1300">
                <a:solidFill>
                  <a:srgbClr val="F92672"/>
                </a:solidFill>
                <a:highlight>
                  <a:srgbClr val="1F1F1F"/>
                </a:highlight>
                <a:latin typeface="Roboto Mono"/>
                <a:ea typeface="Roboto Mono"/>
                <a:cs typeface="Roboto Mono"/>
                <a:sym typeface="Roboto Mono"/>
              </a:rPr>
              <a:t>return</a:t>
            </a:r>
            <a:r>
              <a:rPr lang="es" sz="1300">
                <a:solidFill>
                  <a:srgbClr val="DDDDDD"/>
                </a:solidFill>
                <a:highlight>
                  <a:srgbClr val="1F1F1F"/>
                </a:highlight>
                <a:latin typeface="Roboto Mono"/>
                <a:ea typeface="Roboto Mono"/>
                <a:cs typeface="Roboto Mono"/>
                <a:sym typeface="Roboto Mono"/>
              </a:rPr>
              <a:t> </a:t>
            </a:r>
            <a:r>
              <a:rPr lang="es" sz="1300">
                <a:solidFill>
                  <a:srgbClr val="F8F8F2"/>
                </a:solidFill>
                <a:highlight>
                  <a:srgbClr val="1F1F1F"/>
                </a:highlight>
                <a:latin typeface="Roboto Mono"/>
                <a:ea typeface="Roboto Mono"/>
                <a:cs typeface="Roboto Mono"/>
                <a:sym typeface="Roboto Mono"/>
              </a:rPr>
              <a:t>Math</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sqrt</a:t>
            </a:r>
            <a:r>
              <a:rPr lang="es" sz="1300">
                <a:solidFill>
                  <a:srgbClr val="DDDDDD"/>
                </a:solidFill>
                <a:highlight>
                  <a:srgbClr val="1F1F1F"/>
                </a:highlight>
                <a:latin typeface="Roboto Mono"/>
                <a:ea typeface="Roboto Mono"/>
                <a:cs typeface="Roboto Mono"/>
                <a:sym typeface="Roboto Mono"/>
              </a:rPr>
              <a:t>(</a:t>
            </a:r>
            <a:r>
              <a:rPr lang="es" sz="1300">
                <a:solidFill>
                  <a:srgbClr val="F8F8F2"/>
                </a:solidFill>
                <a:highlight>
                  <a:srgbClr val="1F1F1F"/>
                </a:highlight>
                <a:latin typeface="Roboto Mono"/>
                <a:ea typeface="Roboto Mono"/>
                <a:cs typeface="Roboto Mono"/>
                <a:sym typeface="Roboto Mono"/>
              </a:rPr>
              <a:t>x</a:t>
            </a:r>
            <a:r>
              <a:rPr lang="es" sz="1300">
                <a:solidFill>
                  <a:srgbClr val="F92672"/>
                </a:solidFill>
                <a:highlight>
                  <a:srgbClr val="1F1F1F"/>
                </a:highlight>
                <a:latin typeface="Roboto Mono"/>
                <a:ea typeface="Roboto Mono"/>
                <a:cs typeface="Roboto Mono"/>
                <a:sym typeface="Roboto Mono"/>
              </a:rPr>
              <a:t>*</a:t>
            </a:r>
            <a:r>
              <a:rPr lang="es" sz="1300">
                <a:solidFill>
                  <a:srgbClr val="F8F8F2"/>
                </a:solidFill>
                <a:highlight>
                  <a:srgbClr val="1F1F1F"/>
                </a:highlight>
                <a:latin typeface="Roboto Mono"/>
                <a:ea typeface="Roboto Mono"/>
                <a:cs typeface="Roboto Mono"/>
                <a:sym typeface="Roboto Mono"/>
              </a:rPr>
              <a:t>x</a:t>
            </a:r>
            <a:r>
              <a:rPr lang="es" sz="1300">
                <a:solidFill>
                  <a:srgbClr val="DDDDDD"/>
                </a:solidFill>
                <a:highlight>
                  <a:srgbClr val="1F1F1F"/>
                </a:highlight>
                <a:latin typeface="Roboto Mono"/>
                <a:ea typeface="Roboto Mono"/>
                <a:cs typeface="Roboto Mono"/>
                <a:sym typeface="Roboto Mono"/>
              </a:rPr>
              <a:t> </a:t>
            </a:r>
            <a:r>
              <a:rPr lang="es" sz="1300">
                <a:solidFill>
                  <a:srgbClr val="F92672"/>
                </a:solidFill>
                <a:highlight>
                  <a:srgbClr val="1F1F1F"/>
                </a:highlight>
                <a:latin typeface="Roboto Mono"/>
                <a:ea typeface="Roboto Mono"/>
                <a:cs typeface="Roboto Mono"/>
                <a:sym typeface="Roboto Mono"/>
              </a:rPr>
              <a:t>+</a:t>
            </a:r>
            <a:r>
              <a:rPr lang="es" sz="1300">
                <a:solidFill>
                  <a:srgbClr val="DDDDDD"/>
                </a:solidFill>
                <a:highlight>
                  <a:srgbClr val="1F1F1F"/>
                </a:highlight>
                <a:latin typeface="Roboto Mono"/>
                <a:ea typeface="Roboto Mono"/>
                <a:cs typeface="Roboto Mono"/>
                <a:sym typeface="Roboto Mono"/>
              </a:rPr>
              <a:t> </a:t>
            </a:r>
            <a:r>
              <a:rPr lang="es" sz="1300">
                <a:solidFill>
                  <a:srgbClr val="F8F8F2"/>
                </a:solidFill>
                <a:highlight>
                  <a:srgbClr val="1F1F1F"/>
                </a:highlight>
                <a:latin typeface="Roboto Mono"/>
                <a:ea typeface="Roboto Mono"/>
                <a:cs typeface="Roboto Mono"/>
                <a:sym typeface="Roboto Mono"/>
              </a:rPr>
              <a:t>y</a:t>
            </a:r>
            <a:r>
              <a:rPr lang="es" sz="1300">
                <a:solidFill>
                  <a:srgbClr val="F92672"/>
                </a:solidFill>
                <a:highlight>
                  <a:srgbClr val="1F1F1F"/>
                </a:highlight>
                <a:latin typeface="Roboto Mono"/>
                <a:ea typeface="Roboto Mono"/>
                <a:cs typeface="Roboto Mono"/>
                <a:sym typeface="Roboto Mono"/>
              </a:rPr>
              <a:t>*</a:t>
            </a:r>
            <a:r>
              <a:rPr lang="es" sz="1300">
                <a:solidFill>
                  <a:srgbClr val="F8F8F2"/>
                </a:solidFill>
                <a:highlight>
                  <a:srgbClr val="1F1F1F"/>
                </a:highlight>
                <a:latin typeface="Roboto Mono"/>
                <a:ea typeface="Roboto Mono"/>
                <a:cs typeface="Roboto Mono"/>
                <a:sym typeface="Roboto Mono"/>
              </a:rPr>
              <a:t>y</a:t>
            </a:r>
            <a:r>
              <a:rPr lang="es" sz="1300">
                <a:solidFill>
                  <a:srgbClr val="DDDDDD"/>
                </a:solidFill>
                <a:highlight>
                  <a:srgbClr val="1F1F1F"/>
                </a:highlight>
                <a:latin typeface="Roboto Mono"/>
                <a:ea typeface="Roboto Mono"/>
                <a:cs typeface="Roboto Mono"/>
                <a:sym typeface="Roboto Mono"/>
              </a:rPr>
              <a:t>)</a:t>
            </a:r>
            <a:endParaRPr sz="13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300">
                <a:solidFill>
                  <a:srgbClr val="DDDDDD"/>
                </a:solidFill>
                <a:highlight>
                  <a:srgbClr val="1F1F1F"/>
                </a:highlight>
                <a:latin typeface="Roboto Mono"/>
                <a:ea typeface="Roboto Mono"/>
                <a:cs typeface="Roboto Mono"/>
                <a:sym typeface="Roboto Mono"/>
              </a:rPr>
              <a:t>}</a:t>
            </a:r>
            <a:endParaRPr sz="13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30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300">
                <a:solidFill>
                  <a:srgbClr val="75715E"/>
                </a:solidFill>
                <a:highlight>
                  <a:srgbClr val="1F1F1F"/>
                </a:highlight>
                <a:latin typeface="Roboto Mono"/>
                <a:ea typeface="Roboto Mono"/>
                <a:cs typeface="Roboto Mono"/>
                <a:sym typeface="Roboto Mono"/>
              </a:rPr>
              <a:t>// (args) =&gt; returnValue</a:t>
            </a:r>
            <a:endParaRPr sz="130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1300">
                <a:solidFill>
                  <a:srgbClr val="66D9EF"/>
                </a:solidFill>
                <a:highlight>
                  <a:srgbClr val="1F1F1F"/>
                </a:highlight>
                <a:latin typeface="Roboto Mono"/>
                <a:ea typeface="Roboto Mono"/>
                <a:cs typeface="Roboto Mono"/>
                <a:sym typeface="Roboto Mono"/>
              </a:rPr>
              <a:t>const</a:t>
            </a:r>
            <a:r>
              <a:rPr lang="es" sz="1300">
                <a:solidFill>
                  <a:srgbClr val="DDDDDD"/>
                </a:solidFill>
                <a:highlight>
                  <a:srgbClr val="1F1F1F"/>
                </a:highlight>
                <a:latin typeface="Roboto Mono"/>
                <a:ea typeface="Roboto Mono"/>
                <a:cs typeface="Roboto Mono"/>
                <a:sym typeface="Roboto Mono"/>
              </a:rPr>
              <a:t> </a:t>
            </a:r>
            <a:r>
              <a:rPr lang="es" sz="1300">
                <a:solidFill>
                  <a:srgbClr val="A6E22E"/>
                </a:solidFill>
                <a:highlight>
                  <a:srgbClr val="1F1F1F"/>
                </a:highlight>
                <a:latin typeface="Roboto Mono"/>
                <a:ea typeface="Roboto Mono"/>
                <a:cs typeface="Roboto Mono"/>
                <a:sym typeface="Roboto Mono"/>
              </a:rPr>
              <a:t>suma</a:t>
            </a:r>
            <a:r>
              <a:rPr lang="es" sz="1300">
                <a:solidFill>
                  <a:srgbClr val="DDDDDD"/>
                </a:solidFill>
                <a:highlight>
                  <a:srgbClr val="1F1F1F"/>
                </a:highlight>
                <a:latin typeface="Roboto Mono"/>
                <a:ea typeface="Roboto Mono"/>
                <a:cs typeface="Roboto Mono"/>
                <a:sym typeface="Roboto Mono"/>
              </a:rPr>
              <a:t> </a:t>
            </a:r>
            <a:r>
              <a:rPr lang="es" sz="1300">
                <a:solidFill>
                  <a:srgbClr val="F92672"/>
                </a:solidFill>
                <a:highlight>
                  <a:srgbClr val="1F1F1F"/>
                </a:highlight>
                <a:latin typeface="Roboto Mono"/>
                <a:ea typeface="Roboto Mono"/>
                <a:cs typeface="Roboto Mono"/>
                <a:sym typeface="Roboto Mono"/>
              </a:rPr>
              <a:t>=</a:t>
            </a:r>
            <a:r>
              <a:rPr lang="es" sz="1300">
                <a:solidFill>
                  <a:srgbClr val="DDDDDD"/>
                </a:solidFill>
                <a:highlight>
                  <a:srgbClr val="1F1F1F"/>
                </a:highlight>
                <a:latin typeface="Roboto Mono"/>
                <a:ea typeface="Roboto Mono"/>
                <a:cs typeface="Roboto Mono"/>
                <a:sym typeface="Roboto Mono"/>
              </a:rPr>
              <a:t> (</a:t>
            </a:r>
            <a:r>
              <a:rPr i="1" lang="es" sz="1300">
                <a:solidFill>
                  <a:srgbClr val="FD971F"/>
                </a:solidFill>
                <a:highlight>
                  <a:srgbClr val="1F1F1F"/>
                </a:highlight>
                <a:latin typeface="Roboto Mono"/>
                <a:ea typeface="Roboto Mono"/>
                <a:cs typeface="Roboto Mono"/>
                <a:sym typeface="Roboto Mono"/>
              </a:rPr>
              <a:t>x</a:t>
            </a:r>
            <a:r>
              <a:rPr lang="es" sz="1300">
                <a:solidFill>
                  <a:srgbClr val="DDDDDD"/>
                </a:solidFill>
                <a:highlight>
                  <a:srgbClr val="1F1F1F"/>
                </a:highlight>
                <a:latin typeface="Roboto Mono"/>
                <a:ea typeface="Roboto Mono"/>
                <a:cs typeface="Roboto Mono"/>
                <a:sym typeface="Roboto Mono"/>
              </a:rPr>
              <a:t>, </a:t>
            </a:r>
            <a:r>
              <a:rPr i="1" lang="es" sz="1300">
                <a:solidFill>
                  <a:srgbClr val="FD971F"/>
                </a:solidFill>
                <a:highlight>
                  <a:srgbClr val="1F1F1F"/>
                </a:highlight>
                <a:latin typeface="Roboto Mono"/>
                <a:ea typeface="Roboto Mono"/>
                <a:cs typeface="Roboto Mono"/>
                <a:sym typeface="Roboto Mono"/>
              </a:rPr>
              <a:t>y</a:t>
            </a:r>
            <a:r>
              <a:rPr lang="es" sz="1300">
                <a:solidFill>
                  <a:srgbClr val="DDDDDD"/>
                </a:solidFill>
                <a:highlight>
                  <a:srgbClr val="1F1F1F"/>
                </a:highlight>
                <a:latin typeface="Roboto Mono"/>
                <a:ea typeface="Roboto Mono"/>
                <a:cs typeface="Roboto Mono"/>
                <a:sym typeface="Roboto Mono"/>
              </a:rPr>
              <a:t>) </a:t>
            </a:r>
            <a:r>
              <a:rPr i="1" lang="es" sz="1300">
                <a:solidFill>
                  <a:srgbClr val="66D9EF"/>
                </a:solidFill>
                <a:highlight>
                  <a:srgbClr val="1F1F1F"/>
                </a:highlight>
                <a:latin typeface="Roboto Mono"/>
                <a:ea typeface="Roboto Mono"/>
                <a:cs typeface="Roboto Mono"/>
                <a:sym typeface="Roboto Mono"/>
              </a:rPr>
              <a:t>=&gt;</a:t>
            </a:r>
            <a:r>
              <a:rPr lang="es" sz="1300">
                <a:solidFill>
                  <a:srgbClr val="DDDDDD"/>
                </a:solidFill>
                <a:highlight>
                  <a:srgbClr val="1F1F1F"/>
                </a:highlight>
                <a:latin typeface="Roboto Mono"/>
                <a:ea typeface="Roboto Mono"/>
                <a:cs typeface="Roboto Mono"/>
                <a:sym typeface="Roboto Mono"/>
              </a:rPr>
              <a:t> </a:t>
            </a:r>
            <a:r>
              <a:rPr lang="es" sz="1300">
                <a:solidFill>
                  <a:srgbClr val="F8F8F2"/>
                </a:solidFill>
                <a:highlight>
                  <a:srgbClr val="1F1F1F"/>
                </a:highlight>
                <a:latin typeface="Roboto Mono"/>
                <a:ea typeface="Roboto Mono"/>
                <a:cs typeface="Roboto Mono"/>
                <a:sym typeface="Roboto Mono"/>
              </a:rPr>
              <a:t>x</a:t>
            </a:r>
            <a:r>
              <a:rPr lang="es" sz="1300">
                <a:solidFill>
                  <a:srgbClr val="DDDDDD"/>
                </a:solidFill>
                <a:highlight>
                  <a:srgbClr val="1F1F1F"/>
                </a:highlight>
                <a:latin typeface="Roboto Mono"/>
                <a:ea typeface="Roboto Mono"/>
                <a:cs typeface="Roboto Mono"/>
                <a:sym typeface="Roboto Mono"/>
              </a:rPr>
              <a:t> </a:t>
            </a:r>
            <a:r>
              <a:rPr lang="es" sz="1300">
                <a:solidFill>
                  <a:srgbClr val="F92672"/>
                </a:solidFill>
                <a:highlight>
                  <a:srgbClr val="1F1F1F"/>
                </a:highlight>
                <a:latin typeface="Roboto Mono"/>
                <a:ea typeface="Roboto Mono"/>
                <a:cs typeface="Roboto Mono"/>
                <a:sym typeface="Roboto Mono"/>
              </a:rPr>
              <a:t>+</a:t>
            </a:r>
            <a:r>
              <a:rPr lang="es" sz="1300">
                <a:solidFill>
                  <a:srgbClr val="DDDDDD"/>
                </a:solidFill>
                <a:highlight>
                  <a:srgbClr val="1F1F1F"/>
                </a:highlight>
                <a:latin typeface="Roboto Mono"/>
                <a:ea typeface="Roboto Mono"/>
                <a:cs typeface="Roboto Mono"/>
                <a:sym typeface="Roboto Mono"/>
              </a:rPr>
              <a:t> </a:t>
            </a:r>
            <a:r>
              <a:rPr lang="es" sz="1300">
                <a:solidFill>
                  <a:srgbClr val="F8F8F2"/>
                </a:solidFill>
                <a:highlight>
                  <a:srgbClr val="1F1F1F"/>
                </a:highlight>
                <a:latin typeface="Roboto Mono"/>
                <a:ea typeface="Roboto Mono"/>
                <a:cs typeface="Roboto Mono"/>
                <a:sym typeface="Roboto Mono"/>
              </a:rPr>
              <a:t>y</a:t>
            </a:r>
            <a:endParaRPr sz="13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3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300">
                <a:solidFill>
                  <a:srgbClr val="F8F8F2"/>
                </a:solidFill>
                <a:highlight>
                  <a:srgbClr val="1F1F1F"/>
                </a:highlight>
                <a:latin typeface="Roboto Mono"/>
                <a:ea typeface="Roboto Mono"/>
                <a:cs typeface="Roboto Mono"/>
                <a:sym typeface="Roboto Mono"/>
              </a:rPr>
              <a:t>console</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log</a:t>
            </a:r>
            <a:r>
              <a:rPr lang="es" sz="1300">
                <a:solidFill>
                  <a:srgbClr val="DDDDDD"/>
                </a:solidFill>
                <a:highlight>
                  <a:srgbClr val="1F1F1F"/>
                </a:highlight>
                <a:latin typeface="Roboto Mono"/>
                <a:ea typeface="Roboto Mono"/>
                <a:cs typeface="Roboto Mono"/>
                <a:sym typeface="Roboto Mono"/>
              </a:rPr>
              <a:t>(</a:t>
            </a:r>
            <a:r>
              <a:rPr lang="es" sz="1300">
                <a:solidFill>
                  <a:srgbClr val="F92672"/>
                </a:solidFill>
                <a:highlight>
                  <a:srgbClr val="1F1F1F"/>
                </a:highlight>
                <a:latin typeface="Roboto Mono"/>
                <a:ea typeface="Roboto Mono"/>
                <a:cs typeface="Roboto Mono"/>
                <a:sym typeface="Roboto Mono"/>
              </a:rPr>
              <a:t>typeof</a:t>
            </a:r>
            <a:r>
              <a:rPr lang="es" sz="1300">
                <a:solidFill>
                  <a:srgbClr val="DDDDDD"/>
                </a:solidFill>
                <a:highlight>
                  <a:srgbClr val="1F1F1F"/>
                </a:highlight>
                <a:latin typeface="Roboto Mono"/>
                <a:ea typeface="Roboto Mono"/>
                <a:cs typeface="Roboto Mono"/>
                <a:sym typeface="Roboto Mono"/>
              </a:rPr>
              <a:t> </a:t>
            </a:r>
            <a:r>
              <a:rPr lang="es" sz="1300">
                <a:solidFill>
                  <a:srgbClr val="F8F8F2"/>
                </a:solidFill>
                <a:highlight>
                  <a:srgbClr val="1F1F1F"/>
                </a:highlight>
                <a:latin typeface="Roboto Mono"/>
                <a:ea typeface="Roboto Mono"/>
                <a:cs typeface="Roboto Mono"/>
                <a:sym typeface="Roboto Mono"/>
              </a:rPr>
              <a:t>suma</a:t>
            </a:r>
            <a:r>
              <a:rPr lang="es" sz="1300">
                <a:solidFill>
                  <a:srgbClr val="DDDDDD"/>
                </a:solidFill>
                <a:highlight>
                  <a:srgbClr val="1F1F1F"/>
                </a:highlight>
                <a:latin typeface="Roboto Mono"/>
                <a:ea typeface="Roboto Mono"/>
                <a:cs typeface="Roboto Mono"/>
                <a:sym typeface="Roboto Mono"/>
              </a:rPr>
              <a:t>)  </a:t>
            </a:r>
            <a:r>
              <a:rPr lang="es" sz="1300">
                <a:solidFill>
                  <a:srgbClr val="75715E"/>
                </a:solidFill>
                <a:highlight>
                  <a:srgbClr val="1F1F1F"/>
                </a:highlight>
                <a:latin typeface="Roboto Mono"/>
                <a:ea typeface="Roboto Mono"/>
                <a:cs typeface="Roboto Mono"/>
                <a:sym typeface="Roboto Mono"/>
              </a:rPr>
              <a:t>// function</a:t>
            </a:r>
            <a:endParaRPr sz="130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300">
                <a:solidFill>
                  <a:srgbClr val="F8F8F2"/>
                </a:solidFill>
                <a:highlight>
                  <a:srgbClr val="1F1F1F"/>
                </a:highlight>
                <a:latin typeface="Roboto Mono"/>
                <a:ea typeface="Roboto Mono"/>
                <a:cs typeface="Roboto Mono"/>
                <a:sym typeface="Roboto Mono"/>
              </a:rPr>
              <a:t>console</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log</a:t>
            </a:r>
            <a:r>
              <a:rPr lang="es" sz="1300">
                <a:solidFill>
                  <a:srgbClr val="DDDDDD"/>
                </a:solidFill>
                <a:highlight>
                  <a:srgbClr val="1F1F1F"/>
                </a:highlight>
                <a:latin typeface="Roboto Mono"/>
                <a:ea typeface="Roboto Mono"/>
                <a:cs typeface="Roboto Mono"/>
                <a:sym typeface="Roboto Mono"/>
              </a:rPr>
              <a:t>(</a:t>
            </a:r>
            <a:r>
              <a:rPr lang="es" sz="1300">
                <a:solidFill>
                  <a:srgbClr val="F92672"/>
                </a:solidFill>
                <a:highlight>
                  <a:srgbClr val="1F1F1F"/>
                </a:highlight>
                <a:latin typeface="Roboto Mono"/>
                <a:ea typeface="Roboto Mono"/>
                <a:cs typeface="Roboto Mono"/>
                <a:sym typeface="Roboto Mono"/>
              </a:rPr>
              <a:t>typeof</a:t>
            </a:r>
            <a:r>
              <a:rPr lang="es" sz="1300">
                <a:solidFill>
                  <a:srgbClr val="DDDDDD"/>
                </a:solidFill>
                <a:highlight>
                  <a:srgbClr val="1F1F1F"/>
                </a:highlight>
                <a:latin typeface="Roboto Mono"/>
                <a:ea typeface="Roboto Mono"/>
                <a:cs typeface="Roboto Mono"/>
                <a:sym typeface="Roboto Mono"/>
              </a:rPr>
              <a:t> </a:t>
            </a:r>
            <a:r>
              <a:rPr lang="es" sz="1300">
                <a:solidFill>
                  <a:srgbClr val="F8F8F2"/>
                </a:solidFill>
                <a:highlight>
                  <a:srgbClr val="1F1F1F"/>
                </a:highlight>
                <a:latin typeface="Roboto Mono"/>
                <a:ea typeface="Roboto Mono"/>
                <a:cs typeface="Roboto Mono"/>
                <a:sym typeface="Roboto Mono"/>
              </a:rPr>
              <a:t>modulo</a:t>
            </a:r>
            <a:r>
              <a:rPr lang="es" sz="1300">
                <a:solidFill>
                  <a:srgbClr val="DDDDDD"/>
                </a:solidFill>
                <a:highlight>
                  <a:srgbClr val="1F1F1F"/>
                </a:highlight>
                <a:latin typeface="Roboto Mono"/>
                <a:ea typeface="Roboto Mono"/>
                <a:cs typeface="Roboto Mono"/>
                <a:sym typeface="Roboto Mono"/>
              </a:rPr>
              <a:t>)  </a:t>
            </a:r>
            <a:r>
              <a:rPr lang="es" sz="1300">
                <a:solidFill>
                  <a:srgbClr val="75715E"/>
                </a:solidFill>
                <a:highlight>
                  <a:srgbClr val="1F1F1F"/>
                </a:highlight>
                <a:latin typeface="Roboto Mono"/>
                <a:ea typeface="Roboto Mono"/>
                <a:cs typeface="Roboto Mono"/>
                <a:sym typeface="Roboto Mono"/>
              </a:rPr>
              <a:t>// function</a:t>
            </a:r>
            <a:endParaRPr sz="130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300">
                <a:solidFill>
                  <a:srgbClr val="F8F8F2"/>
                </a:solidFill>
                <a:highlight>
                  <a:srgbClr val="1F1F1F"/>
                </a:highlight>
                <a:latin typeface="Roboto Mono"/>
                <a:ea typeface="Roboto Mono"/>
                <a:cs typeface="Roboto Mono"/>
                <a:sym typeface="Roboto Mono"/>
              </a:rPr>
              <a:t>console</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log</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suma</a:t>
            </a:r>
            <a:r>
              <a:rPr lang="es" sz="1300">
                <a:solidFill>
                  <a:srgbClr val="DDDDDD"/>
                </a:solidFill>
                <a:highlight>
                  <a:srgbClr val="1F1F1F"/>
                </a:highlight>
                <a:latin typeface="Roboto Mono"/>
                <a:ea typeface="Roboto Mono"/>
                <a:cs typeface="Roboto Mono"/>
                <a:sym typeface="Roboto Mono"/>
              </a:rPr>
              <a:t>(</a:t>
            </a:r>
            <a:r>
              <a:rPr lang="es" sz="1300">
                <a:solidFill>
                  <a:srgbClr val="AE81FF"/>
                </a:solidFill>
                <a:highlight>
                  <a:srgbClr val="1F1F1F"/>
                </a:highlight>
                <a:latin typeface="Roboto Mono"/>
                <a:ea typeface="Roboto Mono"/>
                <a:cs typeface="Roboto Mono"/>
                <a:sym typeface="Roboto Mono"/>
              </a:rPr>
              <a:t>2</a:t>
            </a:r>
            <a:r>
              <a:rPr lang="es" sz="1300">
                <a:solidFill>
                  <a:srgbClr val="DDDDDD"/>
                </a:solidFill>
                <a:highlight>
                  <a:srgbClr val="1F1F1F"/>
                </a:highlight>
                <a:latin typeface="Roboto Mono"/>
                <a:ea typeface="Roboto Mono"/>
                <a:cs typeface="Roboto Mono"/>
                <a:sym typeface="Roboto Mono"/>
              </a:rPr>
              <a:t>, </a:t>
            </a:r>
            <a:r>
              <a:rPr lang="es" sz="1300">
                <a:solidFill>
                  <a:srgbClr val="AE81FF"/>
                </a:solidFill>
                <a:highlight>
                  <a:srgbClr val="1F1F1F"/>
                </a:highlight>
                <a:latin typeface="Roboto Mono"/>
                <a:ea typeface="Roboto Mono"/>
                <a:cs typeface="Roboto Mono"/>
                <a:sym typeface="Roboto Mono"/>
              </a:rPr>
              <a:t>3</a:t>
            </a:r>
            <a:r>
              <a:rPr lang="es" sz="1300">
                <a:solidFill>
                  <a:srgbClr val="DDDDDD"/>
                </a:solidFill>
                <a:highlight>
                  <a:srgbClr val="1F1F1F"/>
                </a:highlight>
                <a:latin typeface="Roboto Mono"/>
                <a:ea typeface="Roboto Mono"/>
                <a:cs typeface="Roboto Mono"/>
                <a:sym typeface="Roboto Mono"/>
              </a:rPr>
              <a:t>))  </a:t>
            </a:r>
            <a:r>
              <a:rPr lang="es" sz="1300">
                <a:solidFill>
                  <a:srgbClr val="75715E"/>
                </a:solidFill>
                <a:highlight>
                  <a:srgbClr val="1F1F1F"/>
                </a:highlight>
                <a:latin typeface="Roboto Mono"/>
                <a:ea typeface="Roboto Mono"/>
                <a:cs typeface="Roboto Mono"/>
                <a:sym typeface="Roboto Mono"/>
              </a:rPr>
              <a:t>// 5</a:t>
            </a:r>
            <a:endParaRPr sz="1300">
              <a:solidFill>
                <a:srgbClr val="75715E"/>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300">
                <a:solidFill>
                  <a:srgbClr val="F8F8F2"/>
                </a:solidFill>
                <a:highlight>
                  <a:srgbClr val="1F1F1F"/>
                </a:highlight>
                <a:latin typeface="Roboto Mono"/>
                <a:ea typeface="Roboto Mono"/>
                <a:cs typeface="Roboto Mono"/>
                <a:sym typeface="Roboto Mono"/>
              </a:rPr>
              <a:t>console</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log</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modulo</a:t>
            </a:r>
            <a:r>
              <a:rPr lang="es" sz="1300">
                <a:solidFill>
                  <a:srgbClr val="DDDDDD"/>
                </a:solidFill>
                <a:highlight>
                  <a:srgbClr val="1F1F1F"/>
                </a:highlight>
                <a:latin typeface="Roboto Mono"/>
                <a:ea typeface="Roboto Mono"/>
                <a:cs typeface="Roboto Mono"/>
                <a:sym typeface="Roboto Mono"/>
              </a:rPr>
              <a:t>(</a:t>
            </a:r>
            <a:r>
              <a:rPr lang="es" sz="1300">
                <a:solidFill>
                  <a:srgbClr val="AE81FF"/>
                </a:solidFill>
                <a:highlight>
                  <a:srgbClr val="1F1F1F"/>
                </a:highlight>
                <a:latin typeface="Roboto Mono"/>
                <a:ea typeface="Roboto Mono"/>
                <a:cs typeface="Roboto Mono"/>
                <a:sym typeface="Roboto Mono"/>
              </a:rPr>
              <a:t>4</a:t>
            </a:r>
            <a:r>
              <a:rPr lang="es" sz="1300">
                <a:solidFill>
                  <a:srgbClr val="DDDDDD"/>
                </a:solidFill>
                <a:highlight>
                  <a:srgbClr val="1F1F1F"/>
                </a:highlight>
                <a:latin typeface="Roboto Mono"/>
                <a:ea typeface="Roboto Mono"/>
                <a:cs typeface="Roboto Mono"/>
                <a:sym typeface="Roboto Mono"/>
              </a:rPr>
              <a:t>,</a:t>
            </a:r>
            <a:r>
              <a:rPr lang="es" sz="1300">
                <a:solidFill>
                  <a:srgbClr val="DDDDDD"/>
                </a:solidFill>
                <a:highlight>
                  <a:srgbClr val="1F1F1F"/>
                </a:highlight>
                <a:latin typeface="Roboto Mono"/>
                <a:ea typeface="Roboto Mono"/>
                <a:cs typeface="Roboto Mono"/>
                <a:sym typeface="Roboto Mono"/>
              </a:rPr>
              <a:t> </a:t>
            </a:r>
            <a:r>
              <a:rPr lang="es" sz="1300">
                <a:solidFill>
                  <a:srgbClr val="AE81FF"/>
                </a:solidFill>
                <a:highlight>
                  <a:srgbClr val="1F1F1F"/>
                </a:highlight>
                <a:latin typeface="Roboto Mono"/>
                <a:ea typeface="Roboto Mono"/>
                <a:cs typeface="Roboto Mono"/>
                <a:sym typeface="Roboto Mono"/>
              </a:rPr>
              <a:t>6</a:t>
            </a:r>
            <a:r>
              <a:rPr lang="es" sz="1300">
                <a:solidFill>
                  <a:srgbClr val="DDDDDD"/>
                </a:solidFill>
                <a:highlight>
                  <a:srgbClr val="1F1F1F"/>
                </a:highlight>
                <a:latin typeface="Roboto Mono"/>
                <a:ea typeface="Roboto Mono"/>
                <a:cs typeface="Roboto Mono"/>
                <a:sym typeface="Roboto Mono"/>
              </a:rPr>
              <a:t>).</a:t>
            </a:r>
            <a:r>
              <a:rPr lang="es" sz="1300">
                <a:solidFill>
                  <a:srgbClr val="A6E22E"/>
                </a:solidFill>
                <a:highlight>
                  <a:srgbClr val="1F1F1F"/>
                </a:highlight>
                <a:latin typeface="Roboto Mono"/>
                <a:ea typeface="Roboto Mono"/>
                <a:cs typeface="Roboto Mono"/>
                <a:sym typeface="Roboto Mono"/>
              </a:rPr>
              <a:t>toFixe</a:t>
            </a:r>
            <a:r>
              <a:rPr lang="es" sz="1400">
                <a:solidFill>
                  <a:srgbClr val="A6E22E"/>
                </a:solidFill>
                <a:highlight>
                  <a:srgbClr val="1F1F1F"/>
                </a:highlight>
                <a:latin typeface="Roboto Mono"/>
                <a:ea typeface="Roboto Mono"/>
                <a:cs typeface="Roboto Mono"/>
                <a:sym typeface="Roboto Mono"/>
              </a:rPr>
              <a:t>d</a:t>
            </a:r>
            <a:r>
              <a:rPr lang="es" sz="1400">
                <a:solidFill>
                  <a:srgbClr val="DDDDDD"/>
                </a:solidFill>
                <a:highlight>
                  <a:srgbClr val="1F1F1F"/>
                </a:highlight>
                <a:latin typeface="Roboto Mono"/>
                <a:ea typeface="Roboto Mono"/>
                <a:cs typeface="Roboto Mono"/>
                <a:sym typeface="Roboto Mono"/>
              </a:rPr>
              <a:t>(</a:t>
            </a:r>
            <a:r>
              <a:rPr lang="es" sz="1400">
                <a:solidFill>
                  <a:srgbClr val="AE81FF"/>
                </a:solidFill>
                <a:highlight>
                  <a:srgbClr val="1F1F1F"/>
                </a:highlight>
                <a:latin typeface="Roboto Mono"/>
                <a:ea typeface="Roboto Mono"/>
                <a:cs typeface="Roboto Mono"/>
                <a:sym typeface="Roboto Mono"/>
              </a:rPr>
              <a:t>2</a:t>
            </a:r>
            <a:r>
              <a:rPr lang="es" sz="1400">
                <a:solidFill>
                  <a:srgbClr val="DDDDDD"/>
                </a:solidFill>
                <a:highlight>
                  <a:srgbClr val="1F1F1F"/>
                </a:highlight>
                <a:latin typeface="Roboto Mono"/>
                <a:ea typeface="Roboto Mono"/>
                <a:cs typeface="Roboto Mono"/>
                <a:sym typeface="Roboto Mono"/>
              </a:rPr>
              <a:t>))  </a:t>
            </a:r>
            <a:r>
              <a:rPr lang="es" sz="1400">
                <a:solidFill>
                  <a:srgbClr val="75715E"/>
                </a:solidFill>
                <a:highlight>
                  <a:srgbClr val="1F1F1F"/>
                </a:highlight>
                <a:latin typeface="Roboto Mono"/>
                <a:ea typeface="Roboto Mono"/>
                <a:cs typeface="Roboto Mono"/>
                <a:sym typeface="Roboto Mono"/>
              </a:rPr>
              <a:t>// 7.21</a:t>
            </a:r>
            <a:endParaRPr>
              <a:latin typeface="Roboto Mono"/>
              <a:ea typeface="Roboto Mono"/>
              <a:cs typeface="Roboto Mono"/>
              <a:sym typeface="Roboto Mono"/>
            </a:endParaRPr>
          </a:p>
        </p:txBody>
      </p:sp>
      <p:pic>
        <p:nvPicPr>
          <p:cNvPr id="226" name="Google Shape;226;p30"/>
          <p:cNvPicPr preferRelativeResize="0"/>
          <p:nvPr/>
        </p:nvPicPr>
        <p:blipFill>
          <a:blip r:embed="rId3">
            <a:alphaModFix/>
          </a:blip>
          <a:stretch>
            <a:fillRect/>
          </a:stretch>
        </p:blipFill>
        <p:spPr>
          <a:xfrm>
            <a:off x="6409325" y="1419038"/>
            <a:ext cx="2160725" cy="2160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Funciones como tipo de dato</a:t>
            </a:r>
            <a:endParaRPr/>
          </a:p>
        </p:txBody>
      </p:sp>
      <p:sp>
        <p:nvSpPr>
          <p:cNvPr id="232" name="Google Shape;232;p31"/>
          <p:cNvSpPr txBox="1"/>
          <p:nvPr>
            <p:ph idx="1" type="body"/>
          </p:nvPr>
        </p:nvSpPr>
        <p:spPr>
          <a:xfrm>
            <a:off x="1442700" y="1916675"/>
            <a:ext cx="6258600" cy="1293600"/>
          </a:xfrm>
          <a:prstGeom prst="rect">
            <a:avLst/>
          </a:prstGeom>
          <a:solidFill>
            <a:srgbClr val="1F1F1F"/>
          </a:solidFill>
        </p:spPr>
        <p:txBody>
          <a:bodyPr anchorCtr="0" anchor="t" bIns="91425" lIns="91425" spcFirstLastPara="1" rIns="91425" wrap="square" tIns="91425">
            <a:noAutofit/>
          </a:bodyPr>
          <a:lstStyle/>
          <a:p>
            <a:pPr indent="0" lvl="0" marL="0" rtl="0" algn="l">
              <a:lnSpc>
                <a:spcPct val="130434"/>
              </a:lnSpc>
              <a:spcBef>
                <a:spcPts val="0"/>
              </a:spcBef>
              <a:spcAft>
                <a:spcPts val="0"/>
              </a:spcAft>
              <a:buNone/>
            </a:pPr>
            <a:r>
              <a:rPr i="1" lang="es" sz="1400">
                <a:solidFill>
                  <a:srgbClr val="66D9EF"/>
                </a:solidFill>
                <a:highlight>
                  <a:srgbClr val="1F1F1F"/>
                </a:highlight>
                <a:latin typeface="Roboto Mono"/>
                <a:ea typeface="Roboto Mono"/>
                <a:cs typeface="Roboto Mono"/>
                <a:sym typeface="Roboto Mono"/>
              </a:rPr>
              <a:t>const</a:t>
            </a:r>
            <a:r>
              <a:rPr lang="es" sz="1400">
                <a:solidFill>
                  <a:srgbClr val="DDDDDD"/>
                </a:solidFill>
                <a:highlight>
                  <a:srgbClr val="1F1F1F"/>
                </a:highlight>
                <a:latin typeface="Roboto Mono"/>
                <a:ea typeface="Roboto Mono"/>
                <a:cs typeface="Roboto Mono"/>
                <a:sym typeface="Roboto Mono"/>
              </a:rPr>
              <a:t> </a:t>
            </a:r>
            <a:r>
              <a:rPr lang="es" sz="1400">
                <a:solidFill>
                  <a:srgbClr val="F8F8F2"/>
                </a:solidFill>
                <a:highlight>
                  <a:srgbClr val="1F1F1F"/>
                </a:highlight>
                <a:latin typeface="Roboto Mono"/>
                <a:ea typeface="Roboto Mono"/>
                <a:cs typeface="Roboto Mono"/>
                <a:sym typeface="Roboto Mono"/>
              </a:rPr>
              <a:t>numeros</a:t>
            </a:r>
            <a:r>
              <a:rPr lang="es" sz="1400">
                <a:solidFill>
                  <a:srgbClr val="DDDDDD"/>
                </a:solidFill>
                <a:highlight>
                  <a:srgbClr val="1F1F1F"/>
                </a:highlight>
                <a:latin typeface="Roboto Mono"/>
                <a:ea typeface="Roboto Mono"/>
                <a:cs typeface="Roboto Mono"/>
                <a:sym typeface="Roboto Mono"/>
              </a:rPr>
              <a:t> </a:t>
            </a:r>
            <a:r>
              <a:rPr lang="es" sz="1400">
                <a:solidFill>
                  <a:srgbClr val="F92672"/>
                </a:solidFill>
                <a:highlight>
                  <a:srgbClr val="1F1F1F"/>
                </a:highlight>
                <a:latin typeface="Roboto Mono"/>
                <a:ea typeface="Roboto Mono"/>
                <a:cs typeface="Roboto Mono"/>
                <a:sym typeface="Roboto Mono"/>
              </a:rPr>
              <a:t>=</a:t>
            </a:r>
            <a:r>
              <a:rPr lang="es" sz="1400">
                <a:solidFill>
                  <a:srgbClr val="DDDDDD"/>
                </a:solidFill>
                <a:highlight>
                  <a:srgbClr val="1F1F1F"/>
                </a:highlight>
                <a:latin typeface="Roboto Mono"/>
                <a:ea typeface="Roboto Mono"/>
                <a:cs typeface="Roboto Mono"/>
                <a:sym typeface="Roboto Mono"/>
              </a:rPr>
              <a:t> [</a:t>
            </a:r>
            <a:r>
              <a:rPr lang="es" sz="1400">
                <a:solidFill>
                  <a:srgbClr val="AE81FF"/>
                </a:solidFill>
                <a:highlight>
                  <a:srgbClr val="1F1F1F"/>
                </a:highlight>
                <a:latin typeface="Roboto Mono"/>
                <a:ea typeface="Roboto Mono"/>
                <a:cs typeface="Roboto Mono"/>
                <a:sym typeface="Roboto Mono"/>
              </a:rPr>
              <a:t>1</a:t>
            </a:r>
            <a:r>
              <a:rPr lang="es" sz="1400">
                <a:solidFill>
                  <a:srgbClr val="DDDDDD"/>
                </a:solidFill>
                <a:highlight>
                  <a:srgbClr val="1F1F1F"/>
                </a:highlight>
                <a:latin typeface="Roboto Mono"/>
                <a:ea typeface="Roboto Mono"/>
                <a:cs typeface="Roboto Mono"/>
                <a:sym typeface="Roboto Mono"/>
              </a:rPr>
              <a:t>, </a:t>
            </a:r>
            <a:r>
              <a:rPr lang="es" sz="1400">
                <a:solidFill>
                  <a:srgbClr val="AE81FF"/>
                </a:solidFill>
                <a:highlight>
                  <a:srgbClr val="1F1F1F"/>
                </a:highlight>
                <a:latin typeface="Roboto Mono"/>
                <a:ea typeface="Roboto Mono"/>
                <a:cs typeface="Roboto Mono"/>
                <a:sym typeface="Roboto Mono"/>
              </a:rPr>
              <a:t>2</a:t>
            </a:r>
            <a:r>
              <a:rPr lang="es" sz="1400">
                <a:solidFill>
                  <a:srgbClr val="DDDDDD"/>
                </a:solidFill>
                <a:highlight>
                  <a:srgbClr val="1F1F1F"/>
                </a:highlight>
                <a:latin typeface="Roboto Mono"/>
                <a:ea typeface="Roboto Mono"/>
                <a:cs typeface="Roboto Mono"/>
                <a:sym typeface="Roboto Mono"/>
              </a:rPr>
              <a:t>, </a:t>
            </a:r>
            <a:r>
              <a:rPr lang="es" sz="1400">
                <a:solidFill>
                  <a:srgbClr val="AE81FF"/>
                </a:solidFill>
                <a:highlight>
                  <a:srgbClr val="1F1F1F"/>
                </a:highlight>
                <a:latin typeface="Roboto Mono"/>
                <a:ea typeface="Roboto Mono"/>
                <a:cs typeface="Roboto Mono"/>
                <a:sym typeface="Roboto Mono"/>
              </a:rPr>
              <a:t>3</a:t>
            </a:r>
            <a:r>
              <a:rPr lang="es" sz="1400">
                <a:solidFill>
                  <a:srgbClr val="DDDDDD"/>
                </a:solidFill>
                <a:highlight>
                  <a:srgbClr val="1F1F1F"/>
                </a:highlight>
                <a:latin typeface="Roboto Mono"/>
                <a:ea typeface="Roboto Mono"/>
                <a:cs typeface="Roboto Mono"/>
                <a:sym typeface="Roboto Mono"/>
              </a:rPr>
              <a:t>, </a:t>
            </a:r>
            <a:r>
              <a:rPr lang="es" sz="1400">
                <a:solidFill>
                  <a:srgbClr val="AE81FF"/>
                </a:solidFill>
                <a:highlight>
                  <a:srgbClr val="1F1F1F"/>
                </a:highlight>
                <a:latin typeface="Roboto Mono"/>
                <a:ea typeface="Roboto Mono"/>
                <a:cs typeface="Roboto Mono"/>
                <a:sym typeface="Roboto Mono"/>
              </a:rPr>
              <a:t>4</a:t>
            </a:r>
            <a:r>
              <a:rPr lang="es" sz="1400">
                <a:solidFill>
                  <a:srgbClr val="DDDDDD"/>
                </a:solidFill>
                <a:highlight>
                  <a:srgbClr val="1F1F1F"/>
                </a:highlight>
                <a:latin typeface="Roboto Mono"/>
                <a:ea typeface="Roboto Mono"/>
                <a:cs typeface="Roboto Mono"/>
                <a:sym typeface="Roboto Mono"/>
              </a:rPr>
              <a:t>, </a:t>
            </a:r>
            <a:r>
              <a:rPr lang="es" sz="1400">
                <a:solidFill>
                  <a:srgbClr val="AE81FF"/>
                </a:solidFill>
                <a:highlight>
                  <a:srgbClr val="1F1F1F"/>
                </a:highlight>
                <a:latin typeface="Roboto Mono"/>
                <a:ea typeface="Roboto Mono"/>
                <a:cs typeface="Roboto Mono"/>
                <a:sym typeface="Roboto Mono"/>
              </a:rPr>
              <a:t>5</a:t>
            </a:r>
            <a:r>
              <a:rPr lang="es" sz="1400">
                <a:solidFill>
                  <a:srgbClr val="DDDDDD"/>
                </a:solidFill>
                <a:highlight>
                  <a:srgbClr val="1F1F1F"/>
                </a:highlight>
                <a:latin typeface="Roboto Mono"/>
                <a:ea typeface="Roboto Mono"/>
                <a:cs typeface="Roboto Mono"/>
                <a:sym typeface="Roboto Mono"/>
              </a:rPr>
              <a:t>, </a:t>
            </a:r>
            <a:r>
              <a:rPr lang="es" sz="1400">
                <a:solidFill>
                  <a:srgbClr val="AE81FF"/>
                </a:solidFill>
                <a:highlight>
                  <a:srgbClr val="1F1F1F"/>
                </a:highlight>
                <a:latin typeface="Roboto Mono"/>
                <a:ea typeface="Roboto Mono"/>
                <a:cs typeface="Roboto Mono"/>
                <a:sym typeface="Roboto Mono"/>
              </a:rPr>
              <a:t>6</a:t>
            </a:r>
            <a:r>
              <a:rPr lang="es" sz="1400">
                <a:solidFill>
                  <a:srgbClr val="DDDDDD"/>
                </a:solidFill>
                <a:highlight>
                  <a:srgbClr val="1F1F1F"/>
                </a:highlight>
                <a:latin typeface="Roboto Mono"/>
                <a:ea typeface="Roboto Mono"/>
                <a:cs typeface="Roboto Mono"/>
                <a:sym typeface="Roboto Mono"/>
              </a:rPr>
              <a:t>]</a:t>
            </a:r>
            <a:endParaRPr sz="14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1400">
                <a:solidFill>
                  <a:srgbClr val="66D9EF"/>
                </a:solidFill>
                <a:highlight>
                  <a:srgbClr val="1F1F1F"/>
                </a:highlight>
                <a:latin typeface="Roboto Mono"/>
                <a:ea typeface="Roboto Mono"/>
                <a:cs typeface="Roboto Mono"/>
                <a:sym typeface="Roboto Mono"/>
              </a:rPr>
              <a:t>const</a:t>
            </a:r>
            <a:r>
              <a:rPr lang="es" sz="1400">
                <a:solidFill>
                  <a:srgbClr val="DDDDDD"/>
                </a:solidFill>
                <a:highlight>
                  <a:srgbClr val="1F1F1F"/>
                </a:highlight>
                <a:latin typeface="Roboto Mono"/>
                <a:ea typeface="Roboto Mono"/>
                <a:cs typeface="Roboto Mono"/>
                <a:sym typeface="Roboto Mono"/>
              </a:rPr>
              <a:t> </a:t>
            </a:r>
            <a:r>
              <a:rPr lang="es" sz="1400">
                <a:solidFill>
                  <a:srgbClr val="F8F8F2"/>
                </a:solidFill>
                <a:highlight>
                  <a:srgbClr val="1F1F1F"/>
                </a:highlight>
                <a:latin typeface="Roboto Mono"/>
                <a:ea typeface="Roboto Mono"/>
                <a:cs typeface="Roboto Mono"/>
                <a:sym typeface="Roboto Mono"/>
              </a:rPr>
              <a:t>f</a:t>
            </a:r>
            <a:r>
              <a:rPr lang="es" sz="1400">
                <a:solidFill>
                  <a:srgbClr val="F8F8F2"/>
                </a:solidFill>
                <a:highlight>
                  <a:srgbClr val="1F1F1F"/>
                </a:highlight>
                <a:latin typeface="Roboto Mono"/>
                <a:ea typeface="Roboto Mono"/>
                <a:cs typeface="Roboto Mono"/>
                <a:sym typeface="Roboto Mono"/>
              </a:rPr>
              <a:t>iltrados </a:t>
            </a:r>
            <a:r>
              <a:rPr lang="es" sz="1400">
                <a:solidFill>
                  <a:srgbClr val="F92672"/>
                </a:solidFill>
                <a:highlight>
                  <a:srgbClr val="1F1F1F"/>
                </a:highlight>
                <a:latin typeface="Roboto Mono"/>
                <a:ea typeface="Roboto Mono"/>
                <a:cs typeface="Roboto Mono"/>
                <a:sym typeface="Roboto Mono"/>
              </a:rPr>
              <a:t>=</a:t>
            </a:r>
            <a:r>
              <a:rPr lang="es" sz="1400">
                <a:solidFill>
                  <a:srgbClr val="DDDDDD"/>
                </a:solidFill>
                <a:highlight>
                  <a:srgbClr val="1F1F1F"/>
                </a:highlight>
                <a:latin typeface="Roboto Mono"/>
                <a:ea typeface="Roboto Mono"/>
                <a:cs typeface="Roboto Mono"/>
                <a:sym typeface="Roboto Mono"/>
              </a:rPr>
              <a:t> </a:t>
            </a:r>
            <a:r>
              <a:rPr lang="es" sz="1400">
                <a:solidFill>
                  <a:srgbClr val="F8F8F2"/>
                </a:solidFill>
                <a:highlight>
                  <a:srgbClr val="1F1F1F"/>
                </a:highlight>
                <a:latin typeface="Roboto Mono"/>
                <a:ea typeface="Roboto Mono"/>
                <a:cs typeface="Roboto Mono"/>
                <a:sym typeface="Roboto Mono"/>
              </a:rPr>
              <a:t>numeros</a:t>
            </a:r>
            <a:r>
              <a:rPr lang="es" sz="1400">
                <a:solidFill>
                  <a:srgbClr val="DDDDDD"/>
                </a:solidFill>
                <a:highlight>
                  <a:srgbClr val="1F1F1F"/>
                </a:highlight>
                <a:latin typeface="Roboto Mono"/>
                <a:ea typeface="Roboto Mono"/>
                <a:cs typeface="Roboto Mono"/>
                <a:sym typeface="Roboto Mono"/>
              </a:rPr>
              <a:t>.</a:t>
            </a:r>
            <a:r>
              <a:rPr lang="es" sz="1400">
                <a:solidFill>
                  <a:srgbClr val="A6E22E"/>
                </a:solidFill>
                <a:highlight>
                  <a:srgbClr val="1F1F1F"/>
                </a:highlight>
                <a:latin typeface="Roboto Mono"/>
                <a:ea typeface="Roboto Mono"/>
                <a:cs typeface="Roboto Mono"/>
                <a:sym typeface="Roboto Mono"/>
              </a:rPr>
              <a:t>filter</a:t>
            </a:r>
            <a:r>
              <a:rPr lang="es" sz="1400">
                <a:solidFill>
                  <a:srgbClr val="DDDDDD"/>
                </a:solidFill>
                <a:highlight>
                  <a:srgbClr val="1F1F1F"/>
                </a:highlight>
                <a:latin typeface="Roboto Mono"/>
                <a:ea typeface="Roboto Mono"/>
                <a:cs typeface="Roboto Mono"/>
                <a:sym typeface="Roboto Mono"/>
              </a:rPr>
              <a:t>(</a:t>
            </a:r>
            <a:r>
              <a:rPr i="1" lang="es" sz="1400">
                <a:solidFill>
                  <a:srgbClr val="FD971F"/>
                </a:solidFill>
                <a:highlight>
                  <a:srgbClr val="274E13"/>
                </a:highlight>
                <a:latin typeface="Roboto Mono"/>
                <a:ea typeface="Roboto Mono"/>
                <a:cs typeface="Roboto Mono"/>
                <a:sym typeface="Roboto Mono"/>
              </a:rPr>
              <a:t>x</a:t>
            </a:r>
            <a:r>
              <a:rPr lang="es" sz="1400">
                <a:solidFill>
                  <a:srgbClr val="DDDDDD"/>
                </a:solidFill>
                <a:highlight>
                  <a:srgbClr val="274E13"/>
                </a:highlight>
                <a:latin typeface="Roboto Mono"/>
                <a:ea typeface="Roboto Mono"/>
                <a:cs typeface="Roboto Mono"/>
                <a:sym typeface="Roboto Mono"/>
              </a:rPr>
              <a:t> </a:t>
            </a:r>
            <a:r>
              <a:rPr i="1" lang="es" sz="1400">
                <a:solidFill>
                  <a:srgbClr val="66D9EF"/>
                </a:solidFill>
                <a:highlight>
                  <a:srgbClr val="274E13"/>
                </a:highlight>
                <a:latin typeface="Roboto Mono"/>
                <a:ea typeface="Roboto Mono"/>
                <a:cs typeface="Roboto Mono"/>
                <a:sym typeface="Roboto Mono"/>
              </a:rPr>
              <a:t>=&gt;</a:t>
            </a:r>
            <a:r>
              <a:rPr lang="es" sz="1400">
                <a:solidFill>
                  <a:srgbClr val="DDDDDD"/>
                </a:solidFill>
                <a:highlight>
                  <a:srgbClr val="274E13"/>
                </a:highlight>
                <a:latin typeface="Roboto Mono"/>
                <a:ea typeface="Roboto Mono"/>
                <a:cs typeface="Roboto Mono"/>
                <a:sym typeface="Roboto Mono"/>
              </a:rPr>
              <a:t> </a:t>
            </a:r>
            <a:r>
              <a:rPr lang="es" sz="1400">
                <a:solidFill>
                  <a:srgbClr val="F8F8F2"/>
                </a:solidFill>
                <a:highlight>
                  <a:srgbClr val="274E13"/>
                </a:highlight>
                <a:latin typeface="Roboto Mono"/>
                <a:ea typeface="Roboto Mono"/>
                <a:cs typeface="Roboto Mono"/>
                <a:sym typeface="Roboto Mono"/>
              </a:rPr>
              <a:t>x</a:t>
            </a:r>
            <a:r>
              <a:rPr lang="es" sz="1400">
                <a:solidFill>
                  <a:srgbClr val="DDDDDD"/>
                </a:solidFill>
                <a:highlight>
                  <a:srgbClr val="274E13"/>
                </a:highlight>
                <a:latin typeface="Roboto Mono"/>
                <a:ea typeface="Roboto Mono"/>
                <a:cs typeface="Roboto Mono"/>
                <a:sym typeface="Roboto Mono"/>
              </a:rPr>
              <a:t> </a:t>
            </a:r>
            <a:r>
              <a:rPr lang="es" sz="1400">
                <a:solidFill>
                  <a:srgbClr val="F92672"/>
                </a:solidFill>
                <a:highlight>
                  <a:srgbClr val="274E13"/>
                </a:highlight>
                <a:latin typeface="Roboto Mono"/>
                <a:ea typeface="Roboto Mono"/>
                <a:cs typeface="Roboto Mono"/>
                <a:sym typeface="Roboto Mono"/>
              </a:rPr>
              <a:t>%</a:t>
            </a:r>
            <a:r>
              <a:rPr lang="es" sz="1400">
                <a:solidFill>
                  <a:srgbClr val="DDDDDD"/>
                </a:solidFill>
                <a:highlight>
                  <a:srgbClr val="274E13"/>
                </a:highlight>
                <a:latin typeface="Roboto Mono"/>
                <a:ea typeface="Roboto Mono"/>
                <a:cs typeface="Roboto Mono"/>
                <a:sym typeface="Roboto Mono"/>
              </a:rPr>
              <a:t> </a:t>
            </a:r>
            <a:r>
              <a:rPr lang="es" sz="1400">
                <a:solidFill>
                  <a:srgbClr val="AE81FF"/>
                </a:solidFill>
                <a:highlight>
                  <a:srgbClr val="274E13"/>
                </a:highlight>
                <a:latin typeface="Roboto Mono"/>
                <a:ea typeface="Roboto Mono"/>
                <a:cs typeface="Roboto Mono"/>
                <a:sym typeface="Roboto Mono"/>
              </a:rPr>
              <a:t>2</a:t>
            </a:r>
            <a:r>
              <a:rPr lang="es" sz="1400">
                <a:solidFill>
                  <a:srgbClr val="DDDDDD"/>
                </a:solidFill>
                <a:highlight>
                  <a:srgbClr val="274E13"/>
                </a:highlight>
                <a:latin typeface="Roboto Mono"/>
                <a:ea typeface="Roboto Mono"/>
                <a:cs typeface="Roboto Mono"/>
                <a:sym typeface="Roboto Mono"/>
              </a:rPr>
              <a:t> </a:t>
            </a:r>
            <a:r>
              <a:rPr lang="es" sz="1400">
                <a:solidFill>
                  <a:srgbClr val="F92672"/>
                </a:solidFill>
                <a:highlight>
                  <a:srgbClr val="274E13"/>
                </a:highlight>
                <a:latin typeface="Roboto Mono"/>
                <a:ea typeface="Roboto Mono"/>
                <a:cs typeface="Roboto Mono"/>
                <a:sym typeface="Roboto Mono"/>
              </a:rPr>
              <a:t>==</a:t>
            </a:r>
            <a:r>
              <a:rPr lang="es" sz="1400">
                <a:solidFill>
                  <a:srgbClr val="DDDDDD"/>
                </a:solidFill>
                <a:highlight>
                  <a:srgbClr val="274E13"/>
                </a:highlight>
                <a:latin typeface="Roboto Mono"/>
                <a:ea typeface="Roboto Mono"/>
                <a:cs typeface="Roboto Mono"/>
                <a:sym typeface="Roboto Mono"/>
              </a:rPr>
              <a:t> </a:t>
            </a:r>
            <a:r>
              <a:rPr lang="es" sz="1400">
                <a:solidFill>
                  <a:srgbClr val="AE81FF"/>
                </a:solidFill>
                <a:highlight>
                  <a:srgbClr val="274E13"/>
                </a:highlight>
                <a:latin typeface="Roboto Mono"/>
                <a:ea typeface="Roboto Mono"/>
                <a:cs typeface="Roboto Mono"/>
                <a:sym typeface="Roboto Mono"/>
              </a:rPr>
              <a:t>0</a:t>
            </a:r>
            <a:r>
              <a:rPr lang="es" sz="1400">
                <a:solidFill>
                  <a:srgbClr val="DDDDDD"/>
                </a:solidFill>
                <a:highlight>
                  <a:srgbClr val="1F1F1F"/>
                </a:highlight>
                <a:latin typeface="Roboto Mono"/>
                <a:ea typeface="Roboto Mono"/>
                <a:cs typeface="Roboto Mono"/>
                <a:sym typeface="Roboto Mono"/>
              </a:rPr>
              <a:t>)</a:t>
            </a:r>
            <a:endParaRPr sz="14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4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400">
                <a:solidFill>
                  <a:srgbClr val="F8F8F2"/>
                </a:solidFill>
                <a:highlight>
                  <a:srgbClr val="1F1F1F"/>
                </a:highlight>
                <a:latin typeface="Roboto Mono"/>
                <a:ea typeface="Roboto Mono"/>
                <a:cs typeface="Roboto Mono"/>
                <a:sym typeface="Roboto Mono"/>
              </a:rPr>
              <a:t>console</a:t>
            </a:r>
            <a:r>
              <a:rPr lang="es" sz="1400">
                <a:solidFill>
                  <a:srgbClr val="DDDDDD"/>
                </a:solidFill>
                <a:highlight>
                  <a:srgbClr val="1F1F1F"/>
                </a:highlight>
                <a:latin typeface="Roboto Mono"/>
                <a:ea typeface="Roboto Mono"/>
                <a:cs typeface="Roboto Mono"/>
                <a:sym typeface="Roboto Mono"/>
              </a:rPr>
              <a:t>.</a:t>
            </a:r>
            <a:r>
              <a:rPr lang="es" sz="1400">
                <a:solidFill>
                  <a:srgbClr val="A6E22E"/>
                </a:solidFill>
                <a:highlight>
                  <a:srgbClr val="1F1F1F"/>
                </a:highlight>
                <a:latin typeface="Roboto Mono"/>
                <a:ea typeface="Roboto Mono"/>
                <a:cs typeface="Roboto Mono"/>
                <a:sym typeface="Roboto Mono"/>
              </a:rPr>
              <a:t>log</a:t>
            </a:r>
            <a:r>
              <a:rPr lang="es" sz="1400">
                <a:solidFill>
                  <a:srgbClr val="DDDDDD"/>
                </a:solidFill>
                <a:highlight>
                  <a:srgbClr val="1F1F1F"/>
                </a:highlight>
                <a:latin typeface="Roboto Mono"/>
                <a:ea typeface="Roboto Mono"/>
                <a:cs typeface="Roboto Mono"/>
                <a:sym typeface="Roboto Mono"/>
              </a:rPr>
              <a:t>(</a:t>
            </a:r>
            <a:r>
              <a:rPr lang="es" sz="1400">
                <a:solidFill>
                  <a:srgbClr val="F8F8F2"/>
                </a:solidFill>
                <a:highlight>
                  <a:srgbClr val="1F1F1F"/>
                </a:highlight>
                <a:latin typeface="Roboto Mono"/>
                <a:ea typeface="Roboto Mono"/>
                <a:cs typeface="Roboto Mono"/>
                <a:sym typeface="Roboto Mono"/>
              </a:rPr>
              <a:t>filtrados</a:t>
            </a:r>
            <a:r>
              <a:rPr lang="es" sz="1400">
                <a:solidFill>
                  <a:srgbClr val="DDDDDD"/>
                </a:solidFill>
                <a:highlight>
                  <a:srgbClr val="1F1F1F"/>
                </a:highlight>
                <a:latin typeface="Roboto Mono"/>
                <a:ea typeface="Roboto Mono"/>
                <a:cs typeface="Roboto Mono"/>
                <a:sym typeface="Roboto Mono"/>
              </a:rPr>
              <a:t>)  </a:t>
            </a:r>
            <a:r>
              <a:rPr lang="es" sz="1400">
                <a:solidFill>
                  <a:srgbClr val="75715E"/>
                </a:solidFill>
                <a:highlight>
                  <a:srgbClr val="1F1F1F"/>
                </a:highlight>
                <a:latin typeface="Roboto Mono"/>
                <a:ea typeface="Roboto Mono"/>
                <a:cs typeface="Roboto Mono"/>
                <a:sym typeface="Roboto Mono"/>
              </a:rPr>
              <a:t>// resultado: [2, 4, 6]</a:t>
            </a:r>
            <a:endParaRPr sz="1400">
              <a:solidFill>
                <a:srgbClr val="75715E"/>
              </a:solidFill>
              <a:highlight>
                <a:srgbClr val="1F1F1F"/>
              </a:highlight>
              <a:latin typeface="Roboto Mono"/>
              <a:ea typeface="Roboto Mono"/>
              <a:cs typeface="Roboto Mono"/>
              <a:sym typeface="Roboto Mono"/>
            </a:endParaRPr>
          </a:p>
        </p:txBody>
      </p:sp>
      <p:sp>
        <p:nvSpPr>
          <p:cNvPr id="233" name="Google Shape;233;p31"/>
          <p:cNvSpPr txBox="1"/>
          <p:nvPr/>
        </p:nvSpPr>
        <p:spPr>
          <a:xfrm>
            <a:off x="364275" y="3356050"/>
            <a:ext cx="87351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2"/>
                </a:solidFill>
                <a:latin typeface="Roboto Serif"/>
                <a:ea typeface="Roboto Serif"/>
                <a:cs typeface="Roboto Serif"/>
                <a:sym typeface="Roboto Serif"/>
              </a:rPr>
              <a:t>En este ejemplo, estamos pasando una </a:t>
            </a:r>
            <a:r>
              <a:rPr lang="es" sz="1700">
                <a:solidFill>
                  <a:schemeClr val="lt1"/>
                </a:solidFill>
                <a:highlight>
                  <a:srgbClr val="38761D"/>
                </a:highlight>
                <a:latin typeface="Roboto Serif"/>
                <a:ea typeface="Roboto Serif"/>
                <a:cs typeface="Roboto Serif"/>
                <a:sym typeface="Roboto Serif"/>
              </a:rPr>
              <a:t>función para saber si un número es par</a:t>
            </a:r>
            <a:r>
              <a:rPr lang="es" sz="1700">
                <a:solidFill>
                  <a:schemeClr val="dk2"/>
                </a:solidFill>
                <a:latin typeface="Roboto Serif"/>
                <a:ea typeface="Roboto Serif"/>
                <a:cs typeface="Roboto Serif"/>
                <a:sym typeface="Roboto Serif"/>
              </a:rPr>
              <a:t> </a:t>
            </a:r>
            <a:r>
              <a:rPr lang="es" sz="1700" u="sng">
                <a:solidFill>
                  <a:schemeClr val="dk2"/>
                </a:solidFill>
                <a:latin typeface="Roboto Serif"/>
                <a:ea typeface="Roboto Serif"/>
                <a:cs typeface="Roboto Serif"/>
                <a:sym typeface="Roboto Serif"/>
              </a:rPr>
              <a:t>como valor</a:t>
            </a:r>
            <a:r>
              <a:rPr lang="es" sz="1700">
                <a:solidFill>
                  <a:schemeClr val="dk2"/>
                </a:solidFill>
                <a:latin typeface="Roboto Serif"/>
                <a:ea typeface="Roboto Serif"/>
                <a:cs typeface="Roboto Serif"/>
                <a:sym typeface="Roboto Serif"/>
              </a:rPr>
              <a:t> (por parámetro) al método </a:t>
            </a:r>
            <a:r>
              <a:rPr lang="es" sz="1700">
                <a:solidFill>
                  <a:schemeClr val="dk2"/>
                </a:solidFill>
                <a:latin typeface="Roboto Mono"/>
                <a:ea typeface="Roboto Mono"/>
                <a:cs typeface="Roboto Mono"/>
                <a:sym typeface="Roboto Mono"/>
              </a:rPr>
              <a:t>filter</a:t>
            </a:r>
            <a:r>
              <a:rPr lang="es" sz="1700">
                <a:solidFill>
                  <a:schemeClr val="dk2"/>
                </a:solidFill>
                <a:latin typeface="Roboto Serif"/>
                <a:ea typeface="Roboto Serif"/>
                <a:cs typeface="Roboto Serif"/>
                <a:sym typeface="Roboto Serif"/>
              </a:rPr>
              <a:t>, quien </a:t>
            </a:r>
            <a:r>
              <a:rPr lang="es" sz="1700" u="sng">
                <a:solidFill>
                  <a:schemeClr val="dk2"/>
                </a:solidFill>
                <a:latin typeface="Roboto Serif"/>
                <a:ea typeface="Roboto Serif"/>
                <a:cs typeface="Roboto Serif"/>
                <a:sym typeface="Roboto Serif"/>
              </a:rPr>
              <a:t>internamente </a:t>
            </a:r>
            <a:endParaRPr sz="1700" u="sng">
              <a:solidFill>
                <a:schemeClr val="dk2"/>
              </a:solidFill>
              <a:latin typeface="Roboto Serif"/>
              <a:ea typeface="Roboto Serif"/>
              <a:cs typeface="Roboto Serif"/>
              <a:sym typeface="Roboto Serif"/>
            </a:endParaRPr>
          </a:p>
          <a:p>
            <a:pPr indent="0" lvl="0" marL="0" rtl="0" algn="l">
              <a:spcBef>
                <a:spcPts val="0"/>
              </a:spcBef>
              <a:spcAft>
                <a:spcPts val="0"/>
              </a:spcAft>
              <a:buNone/>
            </a:pPr>
            <a:r>
              <a:rPr lang="es" sz="1700" u="sng">
                <a:solidFill>
                  <a:schemeClr val="dk2"/>
                </a:solidFill>
                <a:latin typeface="Roboto Serif"/>
                <a:ea typeface="Roboto Serif"/>
                <a:cs typeface="Roboto Serif"/>
                <a:sym typeface="Roboto Serif"/>
              </a:rPr>
              <a:t>la va a llamar</a:t>
            </a:r>
            <a:r>
              <a:rPr lang="es" sz="1700">
                <a:solidFill>
                  <a:schemeClr val="dk2"/>
                </a:solidFill>
                <a:latin typeface="Roboto Serif"/>
                <a:ea typeface="Roboto Serif"/>
                <a:cs typeface="Roboto Serif"/>
                <a:sym typeface="Roboto Serif"/>
              </a:rPr>
              <a:t> para filtrar los números de nuestra lista</a:t>
            </a:r>
            <a:endParaRPr sz="1700">
              <a:solidFill>
                <a:schemeClr val="dk2"/>
              </a:solidFill>
              <a:latin typeface="Roboto Serif"/>
              <a:ea typeface="Roboto Serif"/>
              <a:cs typeface="Roboto Serif"/>
              <a:sym typeface="Roboto Serif"/>
            </a:endParaRPr>
          </a:p>
        </p:txBody>
      </p:sp>
      <p:sp>
        <p:nvSpPr>
          <p:cNvPr id="234" name="Google Shape;234;p31"/>
          <p:cNvSpPr txBox="1"/>
          <p:nvPr/>
        </p:nvSpPr>
        <p:spPr>
          <a:xfrm>
            <a:off x="364275" y="1062888"/>
            <a:ext cx="8095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2"/>
                </a:solidFill>
                <a:latin typeface="Roboto Serif"/>
                <a:ea typeface="Roboto Serif"/>
                <a:cs typeface="Roboto Serif"/>
                <a:sym typeface="Roboto Serif"/>
              </a:rPr>
              <a:t>En JavaScript, las funciones son </a:t>
            </a:r>
            <a:r>
              <a:rPr b="1" i="1" lang="es" sz="1700">
                <a:solidFill>
                  <a:schemeClr val="dk2"/>
                </a:solidFill>
                <a:latin typeface="Roboto Serif"/>
                <a:ea typeface="Roboto Serif"/>
                <a:cs typeface="Roboto Serif"/>
                <a:sym typeface="Roboto Serif"/>
              </a:rPr>
              <a:t>first-class citizens</a:t>
            </a:r>
            <a:r>
              <a:rPr lang="es" sz="1700">
                <a:solidFill>
                  <a:schemeClr val="dk2"/>
                </a:solidFill>
                <a:latin typeface="Roboto Serif"/>
                <a:ea typeface="Roboto Serif"/>
                <a:cs typeface="Roboto Serif"/>
                <a:sym typeface="Roboto Serif"/>
              </a:rPr>
              <a:t>, es decir, se pueden manipular como valores (como si fuera un string, por ejemplo)</a:t>
            </a:r>
            <a:endParaRPr sz="1700">
              <a:solidFill>
                <a:schemeClr val="dk2"/>
              </a:solidFill>
              <a:latin typeface="Roboto Serif"/>
              <a:ea typeface="Roboto Serif"/>
              <a:cs typeface="Roboto Serif"/>
              <a:sym typeface="Roboto Serif"/>
            </a:endParaRPr>
          </a:p>
        </p:txBody>
      </p:sp>
      <p:sp>
        <p:nvSpPr>
          <p:cNvPr id="235" name="Google Shape;235;p31"/>
          <p:cNvSpPr txBox="1"/>
          <p:nvPr/>
        </p:nvSpPr>
        <p:spPr>
          <a:xfrm>
            <a:off x="5672175" y="1916675"/>
            <a:ext cx="1856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rgbClr val="93C47D"/>
                </a:solidFill>
                <a:latin typeface="Roboto Serif"/>
                <a:ea typeface="Roboto Serif"/>
                <a:cs typeface="Roboto Serif"/>
                <a:sym typeface="Roboto Serif"/>
              </a:rPr>
              <a:t>función anónima</a:t>
            </a:r>
            <a:endParaRPr sz="1500">
              <a:solidFill>
                <a:srgbClr val="93C47D"/>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100"/>
                                        <p:tgtEl>
                                          <p:spTgt spid="232"/>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1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Funciones como argumento</a:t>
            </a:r>
            <a:endParaRPr/>
          </a:p>
        </p:txBody>
      </p:sp>
      <p:sp>
        <p:nvSpPr>
          <p:cNvPr id="241" name="Google Shape;241;p32"/>
          <p:cNvSpPr txBox="1"/>
          <p:nvPr>
            <p:ph idx="1" type="body"/>
          </p:nvPr>
        </p:nvSpPr>
        <p:spPr>
          <a:xfrm>
            <a:off x="1442700" y="1916675"/>
            <a:ext cx="6258600" cy="2061900"/>
          </a:xfrm>
          <a:prstGeom prst="rect">
            <a:avLst/>
          </a:prstGeom>
          <a:solidFill>
            <a:srgbClr val="1F1F1F"/>
          </a:solidFill>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s" sz="1050">
                <a:solidFill>
                  <a:srgbClr val="569CD6"/>
                </a:solidFill>
                <a:highlight>
                  <a:srgbClr val="434343"/>
                </a:highlight>
                <a:latin typeface="Roboto Mono"/>
                <a:ea typeface="Roboto Mono"/>
                <a:cs typeface="Roboto Mono"/>
                <a:sym typeface="Roboto Mono"/>
              </a:rPr>
              <a:t>function</a:t>
            </a:r>
            <a:r>
              <a:rPr lang="es" sz="1050">
                <a:solidFill>
                  <a:srgbClr val="CCCCCC"/>
                </a:solidFill>
                <a:highlight>
                  <a:srgbClr val="434343"/>
                </a:highlight>
                <a:latin typeface="Roboto Mono"/>
                <a:ea typeface="Roboto Mono"/>
                <a:cs typeface="Roboto Mono"/>
                <a:sym typeface="Roboto Mono"/>
              </a:rPr>
              <a:t> </a:t>
            </a:r>
            <a:r>
              <a:rPr lang="es" sz="1050">
                <a:solidFill>
                  <a:srgbClr val="DCDCAA"/>
                </a:solidFill>
                <a:highlight>
                  <a:srgbClr val="434343"/>
                </a:highlight>
                <a:latin typeface="Roboto Mono"/>
                <a:ea typeface="Roboto Mono"/>
                <a:cs typeface="Roboto Mono"/>
                <a:sym typeface="Roboto Mono"/>
              </a:rPr>
              <a:t>student</a:t>
            </a:r>
            <a:r>
              <a:rPr lang="es" sz="1050">
                <a:solidFill>
                  <a:srgbClr val="CCCCCC"/>
                </a:solidFill>
                <a:highlight>
                  <a:srgbClr val="434343"/>
                </a:highlight>
                <a:latin typeface="Roboto Mono"/>
                <a:ea typeface="Roboto Mono"/>
                <a:cs typeface="Roboto Mono"/>
                <a:sym typeface="Roboto Mono"/>
              </a:rPr>
              <a:t>(){</a:t>
            </a:r>
            <a:endParaRPr sz="1050">
              <a:solidFill>
                <a:srgbClr val="CCCCCC"/>
              </a:solidFill>
              <a:highlight>
                <a:srgbClr val="434343"/>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434343"/>
                </a:highlight>
                <a:latin typeface="Roboto Mono"/>
                <a:ea typeface="Roboto Mono"/>
                <a:cs typeface="Roboto Mono"/>
                <a:sym typeface="Roboto Mono"/>
              </a:rPr>
              <a:t>    </a:t>
            </a:r>
            <a:r>
              <a:rPr lang="es" sz="1050">
                <a:solidFill>
                  <a:srgbClr val="C586C0"/>
                </a:solidFill>
                <a:highlight>
                  <a:srgbClr val="434343"/>
                </a:highlight>
                <a:latin typeface="Roboto Mono"/>
                <a:ea typeface="Roboto Mono"/>
                <a:cs typeface="Roboto Mono"/>
                <a:sym typeface="Roboto Mono"/>
              </a:rPr>
              <a:t>return</a:t>
            </a:r>
            <a:r>
              <a:rPr lang="es" sz="1050">
                <a:solidFill>
                  <a:srgbClr val="CCCCCC"/>
                </a:solidFill>
                <a:highlight>
                  <a:srgbClr val="434343"/>
                </a:highlight>
                <a:latin typeface="Roboto Mono"/>
                <a:ea typeface="Roboto Mono"/>
                <a:cs typeface="Roboto Mono"/>
                <a:sym typeface="Roboto Mono"/>
              </a:rPr>
              <a:t> </a:t>
            </a:r>
            <a:r>
              <a:rPr lang="es" sz="1050">
                <a:solidFill>
                  <a:srgbClr val="CE9178"/>
                </a:solidFill>
                <a:highlight>
                  <a:srgbClr val="434343"/>
                </a:highlight>
                <a:latin typeface="Roboto Mono"/>
                <a:ea typeface="Roboto Mono"/>
                <a:cs typeface="Roboto Mono"/>
                <a:sym typeface="Roboto Mono"/>
              </a:rPr>
              <a:t>"Alumno"</a:t>
            </a:r>
            <a:r>
              <a:rPr lang="es" sz="1050">
                <a:solidFill>
                  <a:srgbClr val="CCCCCC"/>
                </a:solidFill>
                <a:highlight>
                  <a:srgbClr val="434343"/>
                </a:highlight>
                <a:latin typeface="Roboto Mono"/>
                <a:ea typeface="Roboto Mono"/>
                <a:cs typeface="Roboto Mono"/>
                <a:sym typeface="Roboto Mono"/>
              </a:rPr>
              <a:t>;</a:t>
            </a:r>
            <a:endParaRPr sz="1050">
              <a:solidFill>
                <a:srgbClr val="CCCCCC"/>
              </a:solidFill>
              <a:highlight>
                <a:srgbClr val="434343"/>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434343"/>
                </a:highlight>
                <a:latin typeface="Roboto Mono"/>
                <a:ea typeface="Roboto Mono"/>
                <a:cs typeface="Roboto Mono"/>
                <a:sym typeface="Roboto Mono"/>
              </a:rPr>
              <a:t>}</a:t>
            </a:r>
            <a:endParaRPr sz="1050">
              <a:solidFill>
                <a:srgbClr val="CCCCCC"/>
              </a:solidFill>
              <a:highlight>
                <a:srgbClr val="434343"/>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569CD6"/>
                </a:solidFill>
                <a:highlight>
                  <a:srgbClr val="1F1F1F"/>
                </a:highlight>
                <a:latin typeface="Roboto Mono"/>
                <a:ea typeface="Roboto Mono"/>
                <a:cs typeface="Roboto Mono"/>
                <a:sym typeface="Roboto Mono"/>
              </a:rPr>
              <a:t>function</a:t>
            </a:r>
            <a:r>
              <a:rPr lang="es" sz="1050">
                <a:solidFill>
                  <a:srgbClr val="CCCCCC"/>
                </a:solidFill>
                <a:highlight>
                  <a:srgbClr val="1F1F1F"/>
                </a:highlight>
                <a:latin typeface="Roboto Mono"/>
                <a:ea typeface="Roboto Mono"/>
                <a:cs typeface="Roboto Mono"/>
                <a:sym typeface="Roboto Mono"/>
              </a:rPr>
              <a:t> </a:t>
            </a:r>
            <a:r>
              <a:rPr lang="es" sz="1050">
                <a:solidFill>
                  <a:srgbClr val="DCDCAA"/>
                </a:solidFill>
                <a:highlight>
                  <a:srgbClr val="1F1F1F"/>
                </a:highlight>
                <a:latin typeface="Roboto Mono"/>
                <a:ea typeface="Roboto Mono"/>
                <a:cs typeface="Roboto Mono"/>
                <a:sym typeface="Roboto Mono"/>
              </a:rPr>
              <a:t>greet</a:t>
            </a:r>
            <a:r>
              <a:rPr lang="es" sz="1050">
                <a:solidFill>
                  <a:srgbClr val="CCCCCC"/>
                </a:solidFill>
                <a:highlight>
                  <a:srgbClr val="1F1F1F"/>
                </a:highlight>
                <a:latin typeface="Roboto Mono"/>
                <a:ea typeface="Roboto Mono"/>
                <a:cs typeface="Roboto Mono"/>
                <a:sym typeface="Roboto Mono"/>
              </a:rPr>
              <a:t>(</a:t>
            </a:r>
            <a:r>
              <a:rPr lang="es" sz="1050">
                <a:solidFill>
                  <a:srgbClr val="9CDCFE"/>
                </a:solidFill>
                <a:highlight>
                  <a:srgbClr val="1F1F1F"/>
                </a:highlight>
                <a:latin typeface="Roboto Mono"/>
                <a:ea typeface="Roboto Mono"/>
                <a:cs typeface="Roboto Mono"/>
                <a:sym typeface="Roboto Mono"/>
              </a:rPr>
              <a:t>user</a:t>
            </a:r>
            <a:r>
              <a:rPr lang="es" sz="1050">
                <a:solidFill>
                  <a:srgbClr val="CCCCCC"/>
                </a:solidFill>
                <a:highlight>
                  <a:srgbClr val="1F1F1F"/>
                </a:highlight>
                <a:latin typeface="Roboto Mono"/>
                <a:ea typeface="Roboto Mono"/>
                <a:cs typeface="Roboto Mono"/>
                <a:sym typeface="Roboto Mono"/>
              </a:rPr>
              <a:t>){</a:t>
            </a:r>
            <a:endParaRPr sz="1050">
              <a:solidFill>
                <a:srgbClr val="CCCCCC"/>
              </a:solidFill>
              <a:highlight>
                <a:srgbClr val="1F1F1F"/>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1F1F1F"/>
                </a:highlight>
                <a:latin typeface="Roboto Mono"/>
                <a:ea typeface="Roboto Mono"/>
                <a:cs typeface="Roboto Mono"/>
                <a:sym typeface="Roboto Mono"/>
              </a:rPr>
              <a:t>    </a:t>
            </a:r>
            <a:r>
              <a:rPr lang="es" sz="1050">
                <a:solidFill>
                  <a:srgbClr val="9CDCFE"/>
                </a:solidFill>
                <a:highlight>
                  <a:srgbClr val="1F1F1F"/>
                </a:highlight>
                <a:latin typeface="Roboto Mono"/>
                <a:ea typeface="Roboto Mono"/>
                <a:cs typeface="Roboto Mono"/>
                <a:sym typeface="Roboto Mono"/>
              </a:rPr>
              <a:t>console</a:t>
            </a:r>
            <a:r>
              <a:rPr lang="es" sz="1050">
                <a:solidFill>
                  <a:srgbClr val="CCCCCC"/>
                </a:solidFill>
                <a:highlight>
                  <a:srgbClr val="1F1F1F"/>
                </a:highlight>
                <a:latin typeface="Roboto Mono"/>
                <a:ea typeface="Roboto Mono"/>
                <a:cs typeface="Roboto Mono"/>
                <a:sym typeface="Roboto Mono"/>
              </a:rPr>
              <a:t>.</a:t>
            </a:r>
            <a:r>
              <a:rPr lang="es" sz="1050">
                <a:solidFill>
                  <a:srgbClr val="DCDCAA"/>
                </a:solidFill>
                <a:highlight>
                  <a:srgbClr val="1F1F1F"/>
                </a:highlight>
                <a:latin typeface="Roboto Mono"/>
                <a:ea typeface="Roboto Mono"/>
                <a:cs typeface="Roboto Mono"/>
                <a:sym typeface="Roboto Mono"/>
              </a:rPr>
              <a:t>log</a:t>
            </a:r>
            <a:r>
              <a:rPr lang="es" sz="1050">
                <a:solidFill>
                  <a:srgbClr val="CCCCCC"/>
                </a:solidFill>
                <a:highlight>
                  <a:srgbClr val="1F1F1F"/>
                </a:highlight>
                <a:latin typeface="Roboto Mono"/>
                <a:ea typeface="Roboto Mono"/>
                <a:cs typeface="Roboto Mono"/>
                <a:sym typeface="Roboto Mono"/>
              </a:rPr>
              <a:t>(</a:t>
            </a:r>
            <a:r>
              <a:rPr lang="es" sz="1050">
                <a:solidFill>
                  <a:srgbClr val="CE9178"/>
                </a:solidFill>
                <a:highlight>
                  <a:srgbClr val="1F1F1F"/>
                </a:highlight>
                <a:latin typeface="Roboto Mono"/>
                <a:ea typeface="Roboto Mono"/>
                <a:cs typeface="Roboto Mono"/>
                <a:sym typeface="Roboto Mono"/>
              </a:rPr>
              <a:t>"Bienvenido"</a:t>
            </a:r>
            <a:r>
              <a:rPr lang="es" sz="1050">
                <a:solidFill>
                  <a:srgbClr val="CCCCCC"/>
                </a:solidFill>
                <a:highlight>
                  <a:srgbClr val="1F1F1F"/>
                </a:highlight>
                <a:latin typeface="Roboto Mono"/>
                <a:ea typeface="Roboto Mono"/>
                <a:cs typeface="Roboto Mono"/>
                <a:sym typeface="Roboto Mono"/>
              </a:rPr>
              <a:t>, </a:t>
            </a:r>
            <a:r>
              <a:rPr lang="es" sz="1050">
                <a:solidFill>
                  <a:srgbClr val="DCDCAA"/>
                </a:solidFill>
                <a:highlight>
                  <a:srgbClr val="1F1F1F"/>
                </a:highlight>
                <a:latin typeface="Roboto Mono"/>
                <a:ea typeface="Roboto Mono"/>
                <a:cs typeface="Roboto Mono"/>
                <a:sym typeface="Roboto Mono"/>
              </a:rPr>
              <a:t>user</a:t>
            </a:r>
            <a:r>
              <a:rPr lang="es" sz="1050">
                <a:solidFill>
                  <a:srgbClr val="CCCCCC"/>
                </a:solidFill>
                <a:highlight>
                  <a:srgbClr val="1F1F1F"/>
                </a:highlight>
                <a:latin typeface="Roboto Mono"/>
                <a:ea typeface="Roboto Mono"/>
                <a:cs typeface="Roboto Mono"/>
                <a:sym typeface="Roboto Mono"/>
              </a:rPr>
              <a:t>());    </a:t>
            </a:r>
            <a:endParaRPr sz="1050">
              <a:solidFill>
                <a:srgbClr val="CCCCCC"/>
              </a:solidFill>
              <a:highlight>
                <a:srgbClr val="1F1F1F"/>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1F1F1F"/>
                </a:highlight>
                <a:latin typeface="Roboto Mono"/>
                <a:ea typeface="Roboto Mono"/>
                <a:cs typeface="Roboto Mono"/>
                <a:sym typeface="Roboto Mono"/>
              </a:rPr>
              <a:t>}</a:t>
            </a:r>
            <a:endParaRPr sz="1050">
              <a:solidFill>
                <a:srgbClr val="CCCCCC"/>
              </a:solidFill>
              <a:highlight>
                <a:srgbClr val="1F1F1F"/>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6A9955"/>
                </a:solidFill>
                <a:highlight>
                  <a:srgbClr val="1F1F1F"/>
                </a:highlight>
                <a:latin typeface="Roboto Mono"/>
                <a:ea typeface="Roboto Mono"/>
                <a:cs typeface="Roboto Mono"/>
                <a:sym typeface="Roboto Mono"/>
              </a:rPr>
              <a:t>// Prints "Bienvenido Alumno"</a:t>
            </a:r>
            <a:endParaRPr sz="1050">
              <a:solidFill>
                <a:srgbClr val="6A9955"/>
              </a:solidFill>
              <a:highlight>
                <a:srgbClr val="1F1F1F"/>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569CD6"/>
                </a:solidFill>
                <a:highlight>
                  <a:srgbClr val="1F1F1F"/>
                </a:highlight>
                <a:latin typeface="Roboto Mono"/>
                <a:ea typeface="Roboto Mono"/>
                <a:cs typeface="Roboto Mono"/>
                <a:sym typeface="Roboto Mono"/>
              </a:rPr>
              <a:t>let</a:t>
            </a:r>
            <a:r>
              <a:rPr lang="es" sz="1050">
                <a:solidFill>
                  <a:srgbClr val="CCCCCC"/>
                </a:solidFill>
                <a:highlight>
                  <a:srgbClr val="1F1F1F"/>
                </a:highlight>
                <a:latin typeface="Roboto Mono"/>
                <a:ea typeface="Roboto Mono"/>
                <a:cs typeface="Roboto Mono"/>
                <a:sym typeface="Roboto Mono"/>
              </a:rPr>
              <a:t> </a:t>
            </a:r>
            <a:r>
              <a:rPr lang="es" sz="1050">
                <a:solidFill>
                  <a:srgbClr val="9CDCFE"/>
                </a:solidFill>
                <a:highlight>
                  <a:srgbClr val="1F1F1F"/>
                </a:highlight>
                <a:latin typeface="Roboto Mono"/>
                <a:ea typeface="Roboto Mono"/>
                <a:cs typeface="Roboto Mono"/>
                <a:sym typeface="Roboto Mono"/>
              </a:rPr>
              <a:t>message</a:t>
            </a:r>
            <a:r>
              <a:rPr lang="es" sz="1050">
                <a:solidFill>
                  <a:srgbClr val="CCCCCC"/>
                </a:solidFill>
                <a:highlight>
                  <a:srgbClr val="1F1F1F"/>
                </a:highlight>
                <a:latin typeface="Roboto Mono"/>
                <a:ea typeface="Roboto Mono"/>
                <a:cs typeface="Roboto Mono"/>
                <a:sym typeface="Roboto Mono"/>
              </a:rPr>
              <a:t> </a:t>
            </a:r>
            <a:r>
              <a:rPr lang="es" sz="1050">
                <a:solidFill>
                  <a:srgbClr val="D4D4D4"/>
                </a:solidFill>
                <a:highlight>
                  <a:srgbClr val="1F1F1F"/>
                </a:highlight>
                <a:latin typeface="Roboto Mono"/>
                <a:ea typeface="Roboto Mono"/>
                <a:cs typeface="Roboto Mono"/>
                <a:sym typeface="Roboto Mono"/>
              </a:rPr>
              <a:t>=</a:t>
            </a:r>
            <a:r>
              <a:rPr lang="es" sz="1050">
                <a:solidFill>
                  <a:srgbClr val="CCCCCC"/>
                </a:solidFill>
                <a:highlight>
                  <a:srgbClr val="1F1F1F"/>
                </a:highlight>
                <a:latin typeface="Roboto Mono"/>
                <a:ea typeface="Roboto Mono"/>
                <a:cs typeface="Roboto Mono"/>
                <a:sym typeface="Roboto Mono"/>
              </a:rPr>
              <a:t> </a:t>
            </a:r>
            <a:r>
              <a:rPr lang="es" sz="1050">
                <a:solidFill>
                  <a:srgbClr val="DCDCAA"/>
                </a:solidFill>
                <a:highlight>
                  <a:srgbClr val="1F1F1F"/>
                </a:highlight>
                <a:latin typeface="Roboto Mono"/>
                <a:ea typeface="Roboto Mono"/>
                <a:cs typeface="Roboto Mono"/>
                <a:sym typeface="Roboto Mono"/>
              </a:rPr>
              <a:t>greet</a:t>
            </a:r>
            <a:r>
              <a:rPr lang="es" sz="1050">
                <a:solidFill>
                  <a:srgbClr val="CCCCCC"/>
                </a:solidFill>
                <a:highlight>
                  <a:srgbClr val="1F1F1F"/>
                </a:highlight>
                <a:latin typeface="Roboto Mono"/>
                <a:ea typeface="Roboto Mono"/>
                <a:cs typeface="Roboto Mono"/>
                <a:sym typeface="Roboto Mono"/>
              </a:rPr>
              <a:t>(</a:t>
            </a:r>
            <a:r>
              <a:rPr lang="es" sz="1050">
                <a:solidFill>
                  <a:srgbClr val="DCDCAA"/>
                </a:solidFill>
                <a:highlight>
                  <a:srgbClr val="434343"/>
                </a:highlight>
                <a:latin typeface="Roboto Mono"/>
                <a:ea typeface="Roboto Mono"/>
                <a:cs typeface="Roboto Mono"/>
                <a:sym typeface="Roboto Mono"/>
              </a:rPr>
              <a:t>student</a:t>
            </a:r>
            <a:r>
              <a:rPr lang="es" sz="1050">
                <a:solidFill>
                  <a:srgbClr val="CCCCCC"/>
                </a:solidFill>
                <a:highlight>
                  <a:srgbClr val="1F1F1F"/>
                </a:highlight>
                <a:latin typeface="Roboto Mono"/>
                <a:ea typeface="Roboto Mono"/>
                <a:cs typeface="Roboto Mono"/>
                <a:sym typeface="Roboto Mono"/>
              </a:rPr>
              <a:t>);</a:t>
            </a:r>
            <a:endParaRPr sz="1050">
              <a:solidFill>
                <a:srgbClr val="CCCCCC"/>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i="1" sz="1400">
              <a:solidFill>
                <a:srgbClr val="66D9EF"/>
              </a:solidFill>
              <a:highlight>
                <a:srgbClr val="1F1F1F"/>
              </a:highlight>
              <a:latin typeface="Roboto Mono"/>
              <a:ea typeface="Roboto Mono"/>
              <a:cs typeface="Roboto Mono"/>
              <a:sym typeface="Roboto Mono"/>
            </a:endParaRPr>
          </a:p>
        </p:txBody>
      </p:sp>
      <p:sp>
        <p:nvSpPr>
          <p:cNvPr id="242" name="Google Shape;242;p32"/>
          <p:cNvSpPr txBox="1"/>
          <p:nvPr/>
        </p:nvSpPr>
        <p:spPr>
          <a:xfrm>
            <a:off x="364275" y="1062888"/>
            <a:ext cx="8095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2"/>
                </a:solidFill>
                <a:latin typeface="Roboto Serif"/>
                <a:ea typeface="Roboto Serif"/>
                <a:cs typeface="Roboto Serif"/>
                <a:sym typeface="Roboto Serif"/>
              </a:rPr>
              <a:t>Las funciones también pueden formar parte del argumento de otra función.</a:t>
            </a:r>
            <a:endParaRPr sz="1700">
              <a:solidFill>
                <a:schemeClr val="dk2"/>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100"/>
                                        <p:tgtEl>
                                          <p:spTgt spid="2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Funciones como resultado de otra función</a:t>
            </a:r>
            <a:endParaRPr/>
          </a:p>
        </p:txBody>
      </p:sp>
      <p:sp>
        <p:nvSpPr>
          <p:cNvPr id="248" name="Google Shape;248;p33"/>
          <p:cNvSpPr txBox="1"/>
          <p:nvPr>
            <p:ph idx="1" type="body"/>
          </p:nvPr>
        </p:nvSpPr>
        <p:spPr>
          <a:xfrm>
            <a:off x="1442700" y="1916675"/>
            <a:ext cx="6258600" cy="1588800"/>
          </a:xfrm>
          <a:prstGeom prst="rect">
            <a:avLst/>
          </a:prstGeom>
          <a:solidFill>
            <a:srgbClr val="1F1F1F"/>
          </a:solidFill>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s" sz="1050">
                <a:solidFill>
                  <a:srgbClr val="569CD6"/>
                </a:solidFill>
                <a:highlight>
                  <a:srgbClr val="1F1F1F"/>
                </a:highlight>
                <a:latin typeface="Roboto Mono"/>
                <a:ea typeface="Roboto Mono"/>
                <a:cs typeface="Roboto Mono"/>
                <a:sym typeface="Roboto Mono"/>
              </a:rPr>
              <a:t>const</a:t>
            </a:r>
            <a:r>
              <a:rPr lang="es" sz="1050">
                <a:solidFill>
                  <a:srgbClr val="CCCCCC"/>
                </a:solidFill>
                <a:highlight>
                  <a:srgbClr val="1F1F1F"/>
                </a:highlight>
                <a:latin typeface="Roboto Mono"/>
                <a:ea typeface="Roboto Mono"/>
                <a:cs typeface="Roboto Mono"/>
                <a:sym typeface="Roboto Mono"/>
              </a:rPr>
              <a:t> </a:t>
            </a:r>
            <a:r>
              <a:rPr lang="es" sz="1050">
                <a:solidFill>
                  <a:srgbClr val="DCDCAA"/>
                </a:solidFill>
                <a:highlight>
                  <a:srgbClr val="1F1F1F"/>
                </a:highlight>
                <a:latin typeface="Roboto Mono"/>
                <a:ea typeface="Roboto Mono"/>
                <a:cs typeface="Roboto Mono"/>
                <a:sym typeface="Roboto Mono"/>
              </a:rPr>
              <a:t>greet</a:t>
            </a:r>
            <a:r>
              <a:rPr lang="es" sz="1050">
                <a:solidFill>
                  <a:srgbClr val="CCCCCC"/>
                </a:solidFill>
                <a:highlight>
                  <a:srgbClr val="1F1F1F"/>
                </a:highlight>
                <a:latin typeface="Roboto Mono"/>
                <a:ea typeface="Roboto Mono"/>
                <a:cs typeface="Roboto Mono"/>
                <a:sym typeface="Roboto Mono"/>
              </a:rPr>
              <a:t> </a:t>
            </a:r>
            <a:r>
              <a:rPr lang="es" sz="1050">
                <a:solidFill>
                  <a:srgbClr val="D4D4D4"/>
                </a:solidFill>
                <a:highlight>
                  <a:srgbClr val="1F1F1F"/>
                </a:highlight>
                <a:latin typeface="Roboto Mono"/>
                <a:ea typeface="Roboto Mono"/>
                <a:cs typeface="Roboto Mono"/>
                <a:sym typeface="Roboto Mono"/>
              </a:rPr>
              <a:t>=</a:t>
            </a:r>
            <a:r>
              <a:rPr lang="es" sz="1050">
                <a:solidFill>
                  <a:srgbClr val="CCCCCC"/>
                </a:solidFill>
                <a:highlight>
                  <a:srgbClr val="1F1F1F"/>
                </a:highlight>
                <a:latin typeface="Roboto Mono"/>
                <a:ea typeface="Roboto Mono"/>
                <a:cs typeface="Roboto Mono"/>
                <a:sym typeface="Roboto Mono"/>
              </a:rPr>
              <a:t> </a:t>
            </a:r>
            <a:r>
              <a:rPr lang="es" sz="1050">
                <a:solidFill>
                  <a:srgbClr val="569CD6"/>
                </a:solidFill>
                <a:highlight>
                  <a:srgbClr val="1F1F1F"/>
                </a:highlight>
                <a:latin typeface="Roboto Mono"/>
                <a:ea typeface="Roboto Mono"/>
                <a:cs typeface="Roboto Mono"/>
                <a:sym typeface="Roboto Mono"/>
              </a:rPr>
              <a:t>function</a:t>
            </a:r>
            <a:r>
              <a:rPr lang="es" sz="1050">
                <a:solidFill>
                  <a:srgbClr val="CCCCCC"/>
                </a:solidFill>
                <a:highlight>
                  <a:srgbClr val="1F1F1F"/>
                </a:highlight>
                <a:latin typeface="Roboto Mono"/>
                <a:ea typeface="Roboto Mono"/>
                <a:cs typeface="Roboto Mono"/>
                <a:sym typeface="Roboto Mono"/>
              </a:rPr>
              <a:t> (</a:t>
            </a:r>
            <a:r>
              <a:rPr lang="es" sz="1050">
                <a:solidFill>
                  <a:srgbClr val="9CDCFE"/>
                </a:solidFill>
                <a:highlight>
                  <a:srgbClr val="1F1F1F"/>
                </a:highlight>
                <a:latin typeface="Roboto Mono"/>
                <a:ea typeface="Roboto Mono"/>
                <a:cs typeface="Roboto Mono"/>
                <a:sym typeface="Roboto Mono"/>
              </a:rPr>
              <a:t>valor</a:t>
            </a:r>
            <a:r>
              <a:rPr lang="es" sz="1050">
                <a:solidFill>
                  <a:srgbClr val="CCCCCC"/>
                </a:solidFill>
                <a:highlight>
                  <a:srgbClr val="1F1F1F"/>
                </a:highlight>
                <a:latin typeface="Roboto Mono"/>
                <a:ea typeface="Roboto Mono"/>
                <a:cs typeface="Roboto Mono"/>
                <a:sym typeface="Roboto Mono"/>
              </a:rPr>
              <a:t>) {</a:t>
            </a:r>
            <a:endParaRPr sz="1050">
              <a:solidFill>
                <a:srgbClr val="CCCCCC"/>
              </a:solidFill>
              <a:highlight>
                <a:srgbClr val="1F1F1F"/>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1F1F1F"/>
                </a:highlight>
                <a:latin typeface="Roboto Mono"/>
                <a:ea typeface="Roboto Mono"/>
                <a:cs typeface="Roboto Mono"/>
                <a:sym typeface="Roboto Mono"/>
              </a:rPr>
              <a:t>    </a:t>
            </a:r>
            <a:r>
              <a:rPr lang="es" sz="1050">
                <a:solidFill>
                  <a:srgbClr val="C586C0"/>
                </a:solidFill>
                <a:highlight>
                  <a:srgbClr val="1F1F1F"/>
                </a:highlight>
                <a:latin typeface="Roboto Mono"/>
                <a:ea typeface="Roboto Mono"/>
                <a:cs typeface="Roboto Mono"/>
                <a:sym typeface="Roboto Mono"/>
              </a:rPr>
              <a:t>return</a:t>
            </a:r>
            <a:r>
              <a:rPr lang="es" sz="1050">
                <a:solidFill>
                  <a:srgbClr val="CCCCCC"/>
                </a:solidFill>
                <a:highlight>
                  <a:srgbClr val="1F1F1F"/>
                </a:highlight>
                <a:latin typeface="Roboto Mono"/>
                <a:ea typeface="Roboto Mono"/>
                <a:cs typeface="Roboto Mono"/>
                <a:sym typeface="Roboto Mono"/>
              </a:rPr>
              <a:t> </a:t>
            </a:r>
            <a:r>
              <a:rPr lang="es" sz="1050">
                <a:solidFill>
                  <a:srgbClr val="569CD6"/>
                </a:solidFill>
                <a:highlight>
                  <a:srgbClr val="434343"/>
                </a:highlight>
                <a:latin typeface="Roboto Mono"/>
                <a:ea typeface="Roboto Mono"/>
                <a:cs typeface="Roboto Mono"/>
                <a:sym typeface="Roboto Mono"/>
              </a:rPr>
              <a:t>function</a:t>
            </a:r>
            <a:r>
              <a:rPr lang="es" sz="1050">
                <a:solidFill>
                  <a:srgbClr val="CCCCCC"/>
                </a:solidFill>
                <a:highlight>
                  <a:srgbClr val="434343"/>
                </a:highlight>
                <a:latin typeface="Roboto Mono"/>
                <a:ea typeface="Roboto Mono"/>
                <a:cs typeface="Roboto Mono"/>
                <a:sym typeface="Roboto Mono"/>
              </a:rPr>
              <a:t> () {</a:t>
            </a:r>
            <a:endParaRPr sz="1050">
              <a:solidFill>
                <a:srgbClr val="CCCCCC"/>
              </a:solidFill>
              <a:highlight>
                <a:srgbClr val="434343"/>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434343"/>
                </a:highlight>
                <a:latin typeface="Roboto Mono"/>
                <a:ea typeface="Roboto Mono"/>
                <a:cs typeface="Roboto Mono"/>
                <a:sym typeface="Roboto Mono"/>
              </a:rPr>
              <a:t>        </a:t>
            </a:r>
            <a:r>
              <a:rPr lang="es" sz="1050">
                <a:solidFill>
                  <a:srgbClr val="9CDCFE"/>
                </a:solidFill>
                <a:highlight>
                  <a:srgbClr val="434343"/>
                </a:highlight>
                <a:latin typeface="Roboto Mono"/>
                <a:ea typeface="Roboto Mono"/>
                <a:cs typeface="Roboto Mono"/>
                <a:sym typeface="Roboto Mono"/>
              </a:rPr>
              <a:t>console</a:t>
            </a:r>
            <a:r>
              <a:rPr lang="es" sz="1050">
                <a:solidFill>
                  <a:srgbClr val="CCCCCC"/>
                </a:solidFill>
                <a:highlight>
                  <a:srgbClr val="434343"/>
                </a:highlight>
                <a:latin typeface="Roboto Mono"/>
                <a:ea typeface="Roboto Mono"/>
                <a:cs typeface="Roboto Mono"/>
                <a:sym typeface="Roboto Mono"/>
              </a:rPr>
              <a:t>.</a:t>
            </a:r>
            <a:r>
              <a:rPr lang="es" sz="1050">
                <a:solidFill>
                  <a:srgbClr val="DCDCAA"/>
                </a:solidFill>
                <a:highlight>
                  <a:srgbClr val="434343"/>
                </a:highlight>
                <a:latin typeface="Roboto Mono"/>
                <a:ea typeface="Roboto Mono"/>
                <a:cs typeface="Roboto Mono"/>
                <a:sym typeface="Roboto Mono"/>
              </a:rPr>
              <a:t>log</a:t>
            </a:r>
            <a:r>
              <a:rPr lang="es" sz="1050">
                <a:solidFill>
                  <a:srgbClr val="CCCCCC"/>
                </a:solidFill>
                <a:highlight>
                  <a:srgbClr val="434343"/>
                </a:highlight>
                <a:latin typeface="Roboto Mono"/>
                <a:ea typeface="Roboto Mono"/>
                <a:cs typeface="Roboto Mono"/>
                <a:sym typeface="Roboto Mono"/>
              </a:rPr>
              <a:t>(</a:t>
            </a:r>
            <a:r>
              <a:rPr lang="es" sz="1050">
                <a:solidFill>
                  <a:srgbClr val="CE9178"/>
                </a:solidFill>
                <a:highlight>
                  <a:srgbClr val="434343"/>
                </a:highlight>
                <a:latin typeface="Roboto Mono"/>
                <a:ea typeface="Roboto Mono"/>
                <a:cs typeface="Roboto Mono"/>
                <a:sym typeface="Roboto Mono"/>
              </a:rPr>
              <a:t>"Bienvenido a nuestra materia,"</a:t>
            </a:r>
            <a:r>
              <a:rPr lang="es" sz="1050">
                <a:solidFill>
                  <a:srgbClr val="CCCCCC"/>
                </a:solidFill>
                <a:highlight>
                  <a:srgbClr val="434343"/>
                </a:highlight>
                <a:latin typeface="Roboto Mono"/>
                <a:ea typeface="Roboto Mono"/>
                <a:cs typeface="Roboto Mono"/>
                <a:sym typeface="Roboto Mono"/>
              </a:rPr>
              <a:t>,</a:t>
            </a:r>
            <a:r>
              <a:rPr lang="es" sz="1050">
                <a:solidFill>
                  <a:srgbClr val="9CDCFE"/>
                </a:solidFill>
                <a:highlight>
                  <a:srgbClr val="434343"/>
                </a:highlight>
                <a:latin typeface="Roboto Mono"/>
                <a:ea typeface="Roboto Mono"/>
                <a:cs typeface="Roboto Mono"/>
                <a:sym typeface="Roboto Mono"/>
              </a:rPr>
              <a:t>valor</a:t>
            </a:r>
            <a:r>
              <a:rPr lang="es" sz="1050">
                <a:solidFill>
                  <a:srgbClr val="CCCCCC"/>
                </a:solidFill>
                <a:highlight>
                  <a:srgbClr val="434343"/>
                </a:highlight>
                <a:latin typeface="Roboto Mono"/>
                <a:ea typeface="Roboto Mono"/>
                <a:cs typeface="Roboto Mono"/>
                <a:sym typeface="Roboto Mono"/>
              </a:rPr>
              <a:t>);</a:t>
            </a:r>
            <a:endParaRPr sz="1050">
              <a:solidFill>
                <a:srgbClr val="CCCCCC"/>
              </a:solidFill>
              <a:highlight>
                <a:srgbClr val="434343"/>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434343"/>
                </a:highlight>
                <a:latin typeface="Roboto Mono"/>
                <a:ea typeface="Roboto Mono"/>
                <a:cs typeface="Roboto Mono"/>
                <a:sym typeface="Roboto Mono"/>
              </a:rPr>
              <a:t>    }</a:t>
            </a:r>
            <a:endParaRPr sz="1050">
              <a:solidFill>
                <a:srgbClr val="CCCCCC"/>
              </a:solidFill>
              <a:highlight>
                <a:srgbClr val="434343"/>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CCCCCC"/>
                </a:solidFill>
                <a:highlight>
                  <a:srgbClr val="1F1F1F"/>
                </a:highlight>
                <a:latin typeface="Roboto Mono"/>
                <a:ea typeface="Roboto Mono"/>
                <a:cs typeface="Roboto Mono"/>
                <a:sym typeface="Roboto Mono"/>
              </a:rPr>
              <a:t>}</a:t>
            </a:r>
            <a:endParaRPr sz="1050">
              <a:solidFill>
                <a:srgbClr val="CCCCCC"/>
              </a:solidFill>
              <a:highlight>
                <a:srgbClr val="1F1F1F"/>
              </a:highlight>
              <a:latin typeface="Roboto Mono"/>
              <a:ea typeface="Roboto Mono"/>
              <a:cs typeface="Roboto Mono"/>
              <a:sym typeface="Roboto Mono"/>
            </a:endParaRPr>
          </a:p>
          <a:p>
            <a:pPr indent="0" lvl="0" marL="0" rtl="0" algn="l">
              <a:lnSpc>
                <a:spcPct val="135714"/>
              </a:lnSpc>
              <a:spcBef>
                <a:spcPts val="0"/>
              </a:spcBef>
              <a:spcAft>
                <a:spcPts val="0"/>
              </a:spcAft>
              <a:buNone/>
            </a:pPr>
            <a:r>
              <a:rPr lang="es" sz="1050">
                <a:solidFill>
                  <a:srgbClr val="DCDCAA"/>
                </a:solidFill>
                <a:highlight>
                  <a:srgbClr val="434343"/>
                </a:highlight>
                <a:latin typeface="Roboto Mono"/>
                <a:ea typeface="Roboto Mono"/>
                <a:cs typeface="Roboto Mono"/>
                <a:sym typeface="Roboto Mono"/>
              </a:rPr>
              <a:t>greet</a:t>
            </a:r>
            <a:r>
              <a:rPr lang="es" sz="1050">
                <a:solidFill>
                  <a:srgbClr val="CCCCCC"/>
                </a:solidFill>
                <a:highlight>
                  <a:srgbClr val="434343"/>
                </a:highlight>
                <a:latin typeface="Roboto Mono"/>
                <a:ea typeface="Roboto Mono"/>
                <a:cs typeface="Roboto Mono"/>
                <a:sym typeface="Roboto Mono"/>
              </a:rPr>
              <a:t>(</a:t>
            </a:r>
            <a:r>
              <a:rPr lang="es" sz="1050">
                <a:solidFill>
                  <a:srgbClr val="CE9178"/>
                </a:solidFill>
                <a:highlight>
                  <a:srgbClr val="434343"/>
                </a:highlight>
                <a:latin typeface="Roboto Mono"/>
                <a:ea typeface="Roboto Mono"/>
                <a:cs typeface="Roboto Mono"/>
                <a:sym typeface="Roboto Mono"/>
              </a:rPr>
              <a:t>"Juan"</a:t>
            </a:r>
            <a:r>
              <a:rPr lang="es" sz="1050">
                <a:solidFill>
                  <a:srgbClr val="CCCCCC"/>
                </a:solidFill>
                <a:highlight>
                  <a:srgbClr val="434343"/>
                </a:highlight>
                <a:latin typeface="Roboto Mono"/>
                <a:ea typeface="Roboto Mono"/>
                <a:cs typeface="Roboto Mono"/>
                <a:sym typeface="Roboto Mono"/>
              </a:rPr>
              <a:t>)</a:t>
            </a:r>
            <a:r>
              <a:rPr lang="es" sz="1050">
                <a:solidFill>
                  <a:srgbClr val="CCCCCC"/>
                </a:solidFill>
                <a:highlight>
                  <a:srgbClr val="1F1F1F"/>
                </a:highlight>
                <a:latin typeface="Roboto Mono"/>
                <a:ea typeface="Roboto Mono"/>
                <a:cs typeface="Roboto Mono"/>
                <a:sym typeface="Roboto Mono"/>
              </a:rPr>
              <a:t>();</a:t>
            </a:r>
            <a:endParaRPr sz="1050">
              <a:solidFill>
                <a:srgbClr val="CCCCCC"/>
              </a:solidFill>
              <a:highlight>
                <a:srgbClr val="1F1F1F"/>
              </a:highlight>
              <a:latin typeface="Roboto Mono"/>
              <a:ea typeface="Roboto Mono"/>
              <a:cs typeface="Roboto Mono"/>
              <a:sym typeface="Roboto Mono"/>
            </a:endParaRPr>
          </a:p>
          <a:p>
            <a:pPr indent="0" lvl="0" marL="0" rtl="0" algn="l">
              <a:lnSpc>
                <a:spcPct val="135714"/>
              </a:lnSpc>
              <a:spcBef>
                <a:spcPts val="0"/>
              </a:spcBef>
              <a:spcAft>
                <a:spcPts val="0"/>
              </a:spcAft>
              <a:buNone/>
            </a:pPr>
            <a:r>
              <a:t/>
            </a:r>
            <a:endParaRPr sz="1050">
              <a:solidFill>
                <a:srgbClr val="569CD6"/>
              </a:solidFill>
              <a:highlight>
                <a:srgbClr val="1F1F1F"/>
              </a:highlight>
              <a:latin typeface="Courier New"/>
              <a:ea typeface="Courier New"/>
              <a:cs typeface="Courier New"/>
              <a:sym typeface="Courier New"/>
            </a:endParaRPr>
          </a:p>
          <a:p>
            <a:pPr indent="0" lvl="0" marL="0" rtl="0" algn="l">
              <a:lnSpc>
                <a:spcPct val="130434"/>
              </a:lnSpc>
              <a:spcBef>
                <a:spcPts val="0"/>
              </a:spcBef>
              <a:spcAft>
                <a:spcPts val="0"/>
              </a:spcAft>
              <a:buNone/>
            </a:pPr>
            <a:r>
              <a:t/>
            </a:r>
            <a:endParaRPr i="1" sz="1400">
              <a:solidFill>
                <a:srgbClr val="66D9EF"/>
              </a:solidFill>
              <a:highlight>
                <a:srgbClr val="1F1F1F"/>
              </a:highlight>
              <a:latin typeface="Roboto Mono"/>
              <a:ea typeface="Roboto Mono"/>
              <a:cs typeface="Roboto Mono"/>
              <a:sym typeface="Roboto Mono"/>
            </a:endParaRPr>
          </a:p>
        </p:txBody>
      </p:sp>
      <p:sp>
        <p:nvSpPr>
          <p:cNvPr id="249" name="Google Shape;249;p33"/>
          <p:cNvSpPr txBox="1"/>
          <p:nvPr/>
        </p:nvSpPr>
        <p:spPr>
          <a:xfrm>
            <a:off x="364275" y="1062888"/>
            <a:ext cx="8095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2"/>
                </a:solidFill>
                <a:latin typeface="Roboto Serif"/>
                <a:ea typeface="Roboto Serif"/>
                <a:cs typeface="Roboto Serif"/>
                <a:sym typeface="Roboto Serif"/>
              </a:rPr>
              <a:t>Las funciones también pueden ser devueltas en el “return” por otra función.</a:t>
            </a:r>
            <a:endParaRPr sz="1700">
              <a:solidFill>
                <a:schemeClr val="dk2"/>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1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txBox="1"/>
          <p:nvPr>
            <p:ph type="title"/>
          </p:nvPr>
        </p:nvSpPr>
        <p:spPr>
          <a:xfrm>
            <a:off x="311700" y="333800"/>
            <a:ext cx="8520600" cy="94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Bonus track: fetch</a:t>
            </a:r>
            <a:endParaRPr>
              <a:latin typeface="Roboto Mono"/>
              <a:ea typeface="Roboto Mono"/>
              <a:cs typeface="Roboto Mono"/>
              <a:sym typeface="Roboto Mono"/>
            </a:endParaRPr>
          </a:p>
        </p:txBody>
      </p:sp>
      <p:sp>
        <p:nvSpPr>
          <p:cNvPr id="255" name="Google Shape;255;p34"/>
          <p:cNvSpPr txBox="1"/>
          <p:nvPr>
            <p:ph idx="1" type="body"/>
          </p:nvPr>
        </p:nvSpPr>
        <p:spPr>
          <a:xfrm>
            <a:off x="311700" y="1159800"/>
            <a:ext cx="6936300" cy="1291800"/>
          </a:xfrm>
          <a:prstGeom prst="rect">
            <a:avLst/>
          </a:prstGeom>
          <a:solidFill>
            <a:srgbClr val="202122"/>
          </a:solidFill>
        </p:spPr>
        <p:txBody>
          <a:bodyPr anchorCtr="0" anchor="t" bIns="91425" lIns="91425" spcFirstLastPara="1" rIns="91425" wrap="square" tIns="91425">
            <a:noAutofit/>
          </a:bodyPr>
          <a:lstStyle/>
          <a:p>
            <a:pPr indent="0" lvl="0" marL="0" rtl="0" algn="l">
              <a:lnSpc>
                <a:spcPct val="130434"/>
              </a:lnSpc>
              <a:spcBef>
                <a:spcPts val="0"/>
              </a:spcBef>
              <a:spcAft>
                <a:spcPts val="0"/>
              </a:spcAft>
              <a:buNone/>
            </a:pPr>
            <a:r>
              <a:rPr i="1" lang="es" sz="1200">
                <a:solidFill>
                  <a:srgbClr val="66D9EF"/>
                </a:solidFill>
                <a:highlight>
                  <a:srgbClr val="1F1F1F"/>
                </a:highlight>
                <a:latin typeface="Roboto Mono"/>
                <a:ea typeface="Roboto Mono"/>
                <a:cs typeface="Roboto Mono"/>
                <a:sym typeface="Roboto Mono"/>
              </a:rPr>
              <a:t>const</a:t>
            </a:r>
            <a:r>
              <a:rPr lang="es" sz="1200">
                <a:solidFill>
                  <a:srgbClr val="DDDDDD"/>
                </a:solidFill>
                <a:highlight>
                  <a:srgbClr val="1F1F1F"/>
                </a:highlight>
                <a:latin typeface="Roboto Mono"/>
                <a:ea typeface="Roboto Mono"/>
                <a:cs typeface="Roboto Mono"/>
                <a:sym typeface="Roboto Mono"/>
              </a:rPr>
              <a:t> </a:t>
            </a:r>
            <a:r>
              <a:rPr lang="es" sz="1200">
                <a:solidFill>
                  <a:srgbClr val="F8F8F2"/>
                </a:solidFill>
                <a:highlight>
                  <a:srgbClr val="1F1F1F"/>
                </a:highlight>
                <a:latin typeface="Roboto Mono"/>
                <a:ea typeface="Roboto Mono"/>
                <a:cs typeface="Roboto Mono"/>
                <a:sym typeface="Roboto Mono"/>
              </a:rPr>
              <a:t>pokemonURL</a:t>
            </a:r>
            <a:r>
              <a:rPr lang="es" sz="1200">
                <a:solidFill>
                  <a:srgbClr val="DDDDDD"/>
                </a:solidFill>
                <a:highlight>
                  <a:srgbClr val="1F1F1F"/>
                </a:highlight>
                <a:latin typeface="Roboto Mono"/>
                <a:ea typeface="Roboto Mono"/>
                <a:cs typeface="Roboto Mono"/>
                <a:sym typeface="Roboto Mono"/>
              </a:rPr>
              <a:t> </a:t>
            </a:r>
            <a:r>
              <a:rPr lang="es" sz="1200">
                <a:solidFill>
                  <a:srgbClr val="F92672"/>
                </a:solidFill>
                <a:highlight>
                  <a:srgbClr val="1F1F1F"/>
                </a:highlight>
                <a:latin typeface="Roboto Mono"/>
                <a:ea typeface="Roboto Mono"/>
                <a:cs typeface="Roboto Mono"/>
                <a:sym typeface="Roboto Mono"/>
              </a:rPr>
              <a:t>=</a:t>
            </a:r>
            <a:r>
              <a:rPr lang="es" sz="1200">
                <a:solidFill>
                  <a:srgbClr val="DDDDDD"/>
                </a:solidFill>
                <a:highlight>
                  <a:srgbClr val="1F1F1F"/>
                </a:highlight>
                <a:latin typeface="Roboto Mono"/>
                <a:ea typeface="Roboto Mono"/>
                <a:cs typeface="Roboto Mono"/>
                <a:sym typeface="Roboto Mono"/>
              </a:rPr>
              <a:t> </a:t>
            </a:r>
            <a:r>
              <a:rPr lang="es" sz="1300">
                <a:solidFill>
                  <a:srgbClr val="E6DB74"/>
                </a:solidFill>
                <a:highlight>
                  <a:srgbClr val="1F1F1F"/>
                </a:highlight>
                <a:latin typeface="Roboto Mono"/>
                <a:ea typeface="Roboto Mono"/>
                <a:cs typeface="Roboto Mono"/>
                <a:sym typeface="Roboto Mono"/>
              </a:rPr>
              <a:t>"</a:t>
            </a:r>
            <a:r>
              <a:rPr lang="es" sz="1200">
                <a:solidFill>
                  <a:srgbClr val="E6DB74"/>
                </a:solidFill>
                <a:highlight>
                  <a:srgbClr val="1F1F1F"/>
                </a:highlight>
                <a:latin typeface="Roboto Mono"/>
                <a:ea typeface="Roboto Mono"/>
                <a:cs typeface="Roboto Mono"/>
                <a:sym typeface="Roboto Mono"/>
              </a:rPr>
              <a:t>https://pokeapi.co/api/v2/pokemon?limit=3&amp;offset=0</a:t>
            </a:r>
            <a:r>
              <a:rPr lang="es" sz="1300">
                <a:solidFill>
                  <a:srgbClr val="E6DB74"/>
                </a:solidFill>
                <a:highlight>
                  <a:srgbClr val="1F1F1F"/>
                </a:highlight>
                <a:latin typeface="Roboto Mono"/>
                <a:ea typeface="Roboto Mono"/>
                <a:cs typeface="Roboto Mono"/>
                <a:sym typeface="Roboto Mono"/>
              </a:rPr>
              <a:t>"</a:t>
            </a:r>
            <a:endParaRPr sz="1300">
              <a:solidFill>
                <a:srgbClr val="E6DB74"/>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2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200">
                <a:solidFill>
                  <a:srgbClr val="A6E22E"/>
                </a:solidFill>
                <a:highlight>
                  <a:srgbClr val="1F1F1F"/>
                </a:highlight>
                <a:latin typeface="Roboto Mono"/>
                <a:ea typeface="Roboto Mono"/>
                <a:cs typeface="Roboto Mono"/>
                <a:sym typeface="Roboto Mono"/>
              </a:rPr>
              <a:t>fetch</a:t>
            </a:r>
            <a:r>
              <a:rPr lang="es" sz="1200">
                <a:solidFill>
                  <a:srgbClr val="DDDDDD"/>
                </a:solidFill>
                <a:highlight>
                  <a:srgbClr val="1F1F1F"/>
                </a:highlight>
                <a:latin typeface="Roboto Mono"/>
                <a:ea typeface="Roboto Mono"/>
                <a:cs typeface="Roboto Mono"/>
                <a:sym typeface="Roboto Mono"/>
              </a:rPr>
              <a:t>(</a:t>
            </a:r>
            <a:r>
              <a:rPr lang="es" sz="1200">
                <a:solidFill>
                  <a:srgbClr val="F8F8F2"/>
                </a:solidFill>
                <a:highlight>
                  <a:srgbClr val="1F1F1F"/>
                </a:highlight>
                <a:latin typeface="Roboto Mono"/>
                <a:ea typeface="Roboto Mono"/>
                <a:cs typeface="Roboto Mono"/>
                <a:sym typeface="Roboto Mono"/>
              </a:rPr>
              <a:t>pokemonURL</a:t>
            </a:r>
            <a:r>
              <a:rPr lang="es" sz="1200">
                <a:solidFill>
                  <a:srgbClr val="DDDDDD"/>
                </a:solidFill>
                <a:highlight>
                  <a:srgbClr val="1F1F1F"/>
                </a:highlight>
                <a:latin typeface="Roboto Mono"/>
                <a:ea typeface="Roboto Mono"/>
                <a:cs typeface="Roboto Mono"/>
                <a:sym typeface="Roboto Mono"/>
              </a:rPr>
              <a:t>)</a:t>
            </a:r>
            <a:endParaRPr sz="12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200">
                <a:solidFill>
                  <a:srgbClr val="DDDDDD"/>
                </a:solidFill>
                <a:highlight>
                  <a:srgbClr val="1F1F1F"/>
                </a:highlight>
                <a:latin typeface="Roboto Mono"/>
                <a:ea typeface="Roboto Mono"/>
                <a:cs typeface="Roboto Mono"/>
                <a:sym typeface="Roboto Mono"/>
              </a:rPr>
              <a:t>    .</a:t>
            </a:r>
            <a:r>
              <a:rPr lang="es" sz="1200">
                <a:solidFill>
                  <a:srgbClr val="A6E22E"/>
                </a:solidFill>
                <a:highlight>
                  <a:srgbClr val="1F1F1F"/>
                </a:highlight>
                <a:latin typeface="Roboto Mono"/>
                <a:ea typeface="Roboto Mono"/>
                <a:cs typeface="Roboto Mono"/>
                <a:sym typeface="Roboto Mono"/>
              </a:rPr>
              <a:t>then</a:t>
            </a:r>
            <a:r>
              <a:rPr lang="es" sz="1200">
                <a:solidFill>
                  <a:srgbClr val="DDDDDD"/>
                </a:solidFill>
                <a:highlight>
                  <a:srgbClr val="1F1F1F"/>
                </a:highlight>
                <a:latin typeface="Roboto Mono"/>
                <a:ea typeface="Roboto Mono"/>
                <a:cs typeface="Roboto Mono"/>
                <a:sym typeface="Roboto Mono"/>
              </a:rPr>
              <a:t>(</a:t>
            </a:r>
            <a:r>
              <a:rPr i="1" lang="es" sz="1200">
                <a:solidFill>
                  <a:srgbClr val="FD971F"/>
                </a:solidFill>
                <a:highlight>
                  <a:srgbClr val="1F1F1F"/>
                </a:highlight>
                <a:latin typeface="Roboto Mono"/>
                <a:ea typeface="Roboto Mono"/>
                <a:cs typeface="Roboto Mono"/>
                <a:sym typeface="Roboto Mono"/>
              </a:rPr>
              <a:t>response</a:t>
            </a:r>
            <a:r>
              <a:rPr lang="es" sz="1200">
                <a:solidFill>
                  <a:srgbClr val="DDDDDD"/>
                </a:solidFill>
                <a:highlight>
                  <a:srgbClr val="1F1F1F"/>
                </a:highlight>
                <a:latin typeface="Roboto Mono"/>
                <a:ea typeface="Roboto Mono"/>
                <a:cs typeface="Roboto Mono"/>
                <a:sym typeface="Roboto Mono"/>
              </a:rPr>
              <a:t> </a:t>
            </a:r>
            <a:r>
              <a:rPr i="1" lang="es" sz="1200">
                <a:solidFill>
                  <a:srgbClr val="66D9EF"/>
                </a:solidFill>
                <a:highlight>
                  <a:srgbClr val="1F1F1F"/>
                </a:highlight>
                <a:latin typeface="Roboto Mono"/>
                <a:ea typeface="Roboto Mono"/>
                <a:cs typeface="Roboto Mono"/>
                <a:sym typeface="Roboto Mono"/>
              </a:rPr>
              <a:t>=&gt;</a:t>
            </a:r>
            <a:r>
              <a:rPr lang="es" sz="1200">
                <a:solidFill>
                  <a:srgbClr val="DDDDDD"/>
                </a:solidFill>
                <a:highlight>
                  <a:srgbClr val="1F1F1F"/>
                </a:highlight>
                <a:latin typeface="Roboto Mono"/>
                <a:ea typeface="Roboto Mono"/>
                <a:cs typeface="Roboto Mono"/>
                <a:sym typeface="Roboto Mono"/>
              </a:rPr>
              <a:t> </a:t>
            </a:r>
            <a:r>
              <a:rPr lang="es" sz="1200">
                <a:solidFill>
                  <a:srgbClr val="F8F8F2"/>
                </a:solidFill>
                <a:highlight>
                  <a:srgbClr val="1F1F1F"/>
                </a:highlight>
                <a:latin typeface="Roboto Mono"/>
                <a:ea typeface="Roboto Mono"/>
                <a:cs typeface="Roboto Mono"/>
                <a:sym typeface="Roboto Mono"/>
              </a:rPr>
              <a:t>response</a:t>
            </a:r>
            <a:r>
              <a:rPr lang="es" sz="1200">
                <a:solidFill>
                  <a:srgbClr val="DDDDDD"/>
                </a:solidFill>
                <a:highlight>
                  <a:srgbClr val="1F1F1F"/>
                </a:highlight>
                <a:latin typeface="Roboto Mono"/>
                <a:ea typeface="Roboto Mono"/>
                <a:cs typeface="Roboto Mono"/>
                <a:sym typeface="Roboto Mono"/>
              </a:rPr>
              <a:t>.</a:t>
            </a:r>
            <a:r>
              <a:rPr lang="es" sz="1200">
                <a:solidFill>
                  <a:srgbClr val="A6E22E"/>
                </a:solidFill>
                <a:highlight>
                  <a:srgbClr val="1F1F1F"/>
                </a:highlight>
                <a:latin typeface="Roboto Mono"/>
                <a:ea typeface="Roboto Mono"/>
                <a:cs typeface="Roboto Mono"/>
                <a:sym typeface="Roboto Mono"/>
              </a:rPr>
              <a:t>json</a:t>
            </a:r>
            <a:r>
              <a:rPr lang="es" sz="1200">
                <a:solidFill>
                  <a:srgbClr val="DDDDDD"/>
                </a:solidFill>
                <a:highlight>
                  <a:srgbClr val="1F1F1F"/>
                </a:highlight>
                <a:latin typeface="Roboto Mono"/>
                <a:ea typeface="Roboto Mono"/>
                <a:cs typeface="Roboto Mono"/>
                <a:sym typeface="Roboto Mono"/>
              </a:rPr>
              <a:t>())</a:t>
            </a:r>
            <a:endParaRPr sz="12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200">
                <a:solidFill>
                  <a:srgbClr val="DDDDDD"/>
                </a:solidFill>
                <a:highlight>
                  <a:srgbClr val="1F1F1F"/>
                </a:highlight>
                <a:latin typeface="Roboto Mono"/>
                <a:ea typeface="Roboto Mono"/>
                <a:cs typeface="Roboto Mono"/>
                <a:sym typeface="Roboto Mono"/>
              </a:rPr>
              <a:t>    .</a:t>
            </a:r>
            <a:r>
              <a:rPr lang="es" sz="1200">
                <a:solidFill>
                  <a:srgbClr val="A6E22E"/>
                </a:solidFill>
                <a:highlight>
                  <a:srgbClr val="1F1F1F"/>
                </a:highlight>
                <a:latin typeface="Roboto Mono"/>
                <a:ea typeface="Roboto Mono"/>
                <a:cs typeface="Roboto Mono"/>
                <a:sym typeface="Roboto Mono"/>
              </a:rPr>
              <a:t>then</a:t>
            </a:r>
            <a:r>
              <a:rPr lang="es" sz="1200">
                <a:solidFill>
                  <a:srgbClr val="DDDDDD"/>
                </a:solidFill>
                <a:highlight>
                  <a:srgbClr val="1F1F1F"/>
                </a:highlight>
                <a:latin typeface="Roboto Mono"/>
                <a:ea typeface="Roboto Mono"/>
                <a:cs typeface="Roboto Mono"/>
                <a:sym typeface="Roboto Mono"/>
              </a:rPr>
              <a:t>(</a:t>
            </a:r>
            <a:r>
              <a:rPr i="1" lang="es" sz="1200">
                <a:solidFill>
                  <a:srgbClr val="FD971F"/>
                </a:solidFill>
                <a:highlight>
                  <a:srgbClr val="1F1F1F"/>
                </a:highlight>
                <a:latin typeface="Roboto Mono"/>
                <a:ea typeface="Roboto Mono"/>
                <a:cs typeface="Roboto Mono"/>
                <a:sym typeface="Roboto Mono"/>
              </a:rPr>
              <a:t>json</a:t>
            </a:r>
            <a:r>
              <a:rPr lang="es" sz="1200">
                <a:solidFill>
                  <a:srgbClr val="DDDDDD"/>
                </a:solidFill>
                <a:highlight>
                  <a:srgbClr val="1F1F1F"/>
                </a:highlight>
                <a:latin typeface="Roboto Mono"/>
                <a:ea typeface="Roboto Mono"/>
                <a:cs typeface="Roboto Mono"/>
                <a:sym typeface="Roboto Mono"/>
              </a:rPr>
              <a:t> </a:t>
            </a:r>
            <a:r>
              <a:rPr i="1" lang="es" sz="1200">
                <a:solidFill>
                  <a:srgbClr val="66D9EF"/>
                </a:solidFill>
                <a:highlight>
                  <a:srgbClr val="1F1F1F"/>
                </a:highlight>
                <a:latin typeface="Roboto Mono"/>
                <a:ea typeface="Roboto Mono"/>
                <a:cs typeface="Roboto Mono"/>
                <a:sym typeface="Roboto Mono"/>
              </a:rPr>
              <a:t>=&gt;</a:t>
            </a:r>
            <a:r>
              <a:rPr lang="es" sz="1200">
                <a:solidFill>
                  <a:srgbClr val="DDDDDD"/>
                </a:solidFill>
                <a:highlight>
                  <a:srgbClr val="1F1F1F"/>
                </a:highlight>
                <a:latin typeface="Roboto Mono"/>
                <a:ea typeface="Roboto Mono"/>
                <a:cs typeface="Roboto Mono"/>
                <a:sym typeface="Roboto Mono"/>
              </a:rPr>
              <a:t> </a:t>
            </a:r>
            <a:r>
              <a:rPr lang="es" sz="1200">
                <a:solidFill>
                  <a:srgbClr val="F8F8F2"/>
                </a:solidFill>
                <a:highlight>
                  <a:srgbClr val="1F1F1F"/>
                </a:highlight>
                <a:latin typeface="Roboto Mono"/>
                <a:ea typeface="Roboto Mono"/>
                <a:cs typeface="Roboto Mono"/>
                <a:sym typeface="Roboto Mono"/>
              </a:rPr>
              <a:t>console</a:t>
            </a:r>
            <a:r>
              <a:rPr lang="es" sz="1200">
                <a:solidFill>
                  <a:srgbClr val="DDDDDD"/>
                </a:solidFill>
                <a:highlight>
                  <a:srgbClr val="1F1F1F"/>
                </a:highlight>
                <a:latin typeface="Roboto Mono"/>
                <a:ea typeface="Roboto Mono"/>
                <a:cs typeface="Roboto Mono"/>
                <a:sym typeface="Roboto Mono"/>
              </a:rPr>
              <a:t>.</a:t>
            </a:r>
            <a:r>
              <a:rPr lang="es" sz="1200">
                <a:solidFill>
                  <a:srgbClr val="A6E22E"/>
                </a:solidFill>
                <a:highlight>
                  <a:srgbClr val="1F1F1F"/>
                </a:highlight>
                <a:latin typeface="Roboto Mono"/>
                <a:ea typeface="Roboto Mono"/>
                <a:cs typeface="Roboto Mono"/>
                <a:sym typeface="Roboto Mono"/>
              </a:rPr>
              <a:t>log</a:t>
            </a:r>
            <a:r>
              <a:rPr lang="es" sz="1200">
                <a:solidFill>
                  <a:srgbClr val="DDDDDD"/>
                </a:solidFill>
                <a:highlight>
                  <a:srgbClr val="1F1F1F"/>
                </a:highlight>
                <a:latin typeface="Roboto Mono"/>
                <a:ea typeface="Roboto Mono"/>
                <a:cs typeface="Roboto Mono"/>
                <a:sym typeface="Roboto Mono"/>
              </a:rPr>
              <a:t>(</a:t>
            </a:r>
            <a:r>
              <a:rPr lang="es" sz="1200">
                <a:solidFill>
                  <a:srgbClr val="F8F8F2"/>
                </a:solidFill>
                <a:highlight>
                  <a:srgbClr val="1F1F1F"/>
                </a:highlight>
                <a:latin typeface="Roboto Mono"/>
                <a:ea typeface="Roboto Mono"/>
                <a:cs typeface="Roboto Mono"/>
                <a:sym typeface="Roboto Mono"/>
              </a:rPr>
              <a:t>json</a:t>
            </a:r>
            <a:r>
              <a:rPr lang="es" sz="1200">
                <a:solidFill>
                  <a:srgbClr val="DDDDDD"/>
                </a:solidFill>
                <a:highlight>
                  <a:srgbClr val="1F1F1F"/>
                </a:highlight>
                <a:latin typeface="Roboto Mono"/>
                <a:ea typeface="Roboto Mono"/>
                <a:cs typeface="Roboto Mono"/>
                <a:sym typeface="Roboto Mono"/>
              </a:rPr>
              <a:t>))</a:t>
            </a:r>
            <a:endParaRPr sz="1200">
              <a:latin typeface="Roboto Mono"/>
              <a:ea typeface="Roboto Mono"/>
              <a:cs typeface="Roboto Mono"/>
              <a:sym typeface="Roboto Mono"/>
            </a:endParaRPr>
          </a:p>
        </p:txBody>
      </p:sp>
      <p:sp>
        <p:nvSpPr>
          <p:cNvPr id="256" name="Google Shape;256;p34"/>
          <p:cNvSpPr txBox="1"/>
          <p:nvPr/>
        </p:nvSpPr>
        <p:spPr>
          <a:xfrm>
            <a:off x="1391250" y="2552500"/>
            <a:ext cx="6238800" cy="2145600"/>
          </a:xfrm>
          <a:prstGeom prst="rect">
            <a:avLst/>
          </a:prstGeom>
          <a:noFill/>
          <a:ln>
            <a:noFill/>
          </a:ln>
        </p:spPr>
        <p:txBody>
          <a:bodyPr anchorCtr="0" anchor="t" bIns="91425" lIns="91425" spcFirstLastPara="1" rIns="91425" wrap="square" tIns="91425">
            <a:spAutoFit/>
          </a:bodyPr>
          <a:lstStyle/>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count: 1302,</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next: 'https://pokeapi.co/api/v2/pokemon?offset=3&amp;limit=3',</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previous: null,</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results: [</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 name: 'bulbasaur', url: 'https://pokeapi.co/api/v2/pokemon/1/' },</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 name: 'ivysaur', url: 'https://pokeapi.co/api/v2/pokemon/2/' },</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 name: 'venusaur', url: 'https://pokeapi.co/api/v2/pokemon/3/' }</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  ]</a:t>
            </a:r>
            <a:endParaRPr b="1" sz="1000">
              <a:solidFill>
                <a:srgbClr val="1F1F1F"/>
              </a:solidFill>
              <a:latin typeface="Roboto Mono"/>
              <a:ea typeface="Roboto Mono"/>
              <a:cs typeface="Roboto Mono"/>
              <a:sym typeface="Roboto Mono"/>
            </a:endParaRPr>
          </a:p>
          <a:p>
            <a:pPr indent="0" lvl="0" marL="0" rtl="0" algn="l">
              <a:lnSpc>
                <a:spcPct val="130434"/>
              </a:lnSpc>
              <a:spcBef>
                <a:spcPts val="0"/>
              </a:spcBef>
              <a:spcAft>
                <a:spcPts val="0"/>
              </a:spcAft>
              <a:buNone/>
            </a:pPr>
            <a:r>
              <a:rPr b="1" lang="es" sz="1000">
                <a:solidFill>
                  <a:srgbClr val="1F1F1F"/>
                </a:solidFill>
                <a:latin typeface="Roboto Mono"/>
                <a:ea typeface="Roboto Mono"/>
                <a:cs typeface="Roboto Mono"/>
                <a:sym typeface="Roboto Mono"/>
              </a:rPr>
              <a:t>}</a:t>
            </a:r>
            <a:endParaRPr b="1" sz="1000">
              <a:solidFill>
                <a:schemeClr val="dk2"/>
              </a:solidFill>
              <a:latin typeface="Roboto Serif"/>
              <a:ea typeface="Roboto Serif"/>
              <a:cs typeface="Roboto Serif"/>
              <a:sym typeface="Roboto Serif"/>
            </a:endParaRPr>
          </a:p>
        </p:txBody>
      </p:sp>
      <p:pic>
        <p:nvPicPr>
          <p:cNvPr id="257" name="Google Shape;257;p34"/>
          <p:cNvPicPr preferRelativeResize="0"/>
          <p:nvPr/>
        </p:nvPicPr>
        <p:blipFill>
          <a:blip r:embed="rId3">
            <a:alphaModFix/>
          </a:blip>
          <a:stretch>
            <a:fillRect/>
          </a:stretch>
        </p:blipFill>
        <p:spPr>
          <a:xfrm>
            <a:off x="6990224" y="1580625"/>
            <a:ext cx="2518362" cy="1781750"/>
          </a:xfrm>
          <a:prstGeom prst="rect">
            <a:avLst/>
          </a:prstGeom>
          <a:noFill/>
          <a:ln>
            <a:noFill/>
          </a:ln>
        </p:spPr>
      </p:pic>
      <p:sp>
        <p:nvSpPr>
          <p:cNvPr id="258" name="Google Shape;258;p34"/>
          <p:cNvSpPr txBox="1"/>
          <p:nvPr/>
        </p:nvSpPr>
        <p:spPr>
          <a:xfrm>
            <a:off x="4630700" y="1712700"/>
            <a:ext cx="2518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rgbClr val="FF00FF"/>
                </a:solidFill>
                <a:latin typeface="Roboto Serif"/>
                <a:ea typeface="Roboto Serif"/>
                <a:cs typeface="Roboto Serif"/>
                <a:sym typeface="Roboto Serif"/>
              </a:rPr>
              <a:t>Bonus del bonus: </a:t>
            </a:r>
            <a:endParaRPr sz="1600">
              <a:solidFill>
                <a:srgbClr val="FF00FF"/>
              </a:solidFill>
              <a:latin typeface="Roboto Serif"/>
              <a:ea typeface="Roboto Serif"/>
              <a:cs typeface="Roboto Serif"/>
              <a:sym typeface="Roboto Serif"/>
            </a:endParaRPr>
          </a:p>
          <a:p>
            <a:pPr indent="0" lvl="0" marL="0" rtl="0" algn="l">
              <a:spcBef>
                <a:spcPts val="0"/>
              </a:spcBef>
              <a:spcAft>
                <a:spcPts val="0"/>
              </a:spcAft>
              <a:buNone/>
            </a:pPr>
            <a:r>
              <a:rPr lang="es" sz="1600">
                <a:solidFill>
                  <a:srgbClr val="FF00FF"/>
                </a:solidFill>
                <a:latin typeface="Roboto Serif"/>
                <a:ea typeface="Roboto Serif"/>
                <a:cs typeface="Roboto Serif"/>
                <a:sym typeface="Roboto Serif"/>
              </a:rPr>
              <a:t>tipo de dato </a:t>
            </a:r>
            <a:r>
              <a:rPr lang="es" sz="1600">
                <a:solidFill>
                  <a:srgbClr val="FF00FF"/>
                </a:solidFill>
                <a:latin typeface="Roboto Mono"/>
                <a:ea typeface="Roboto Mono"/>
                <a:cs typeface="Roboto Mono"/>
                <a:sym typeface="Roboto Mono"/>
              </a:rPr>
              <a:t>Promise</a:t>
            </a:r>
            <a:endParaRPr sz="1600">
              <a:solidFill>
                <a:srgbClr val="FF00FF"/>
              </a:solidFill>
              <a:latin typeface="Roboto Mono"/>
              <a:ea typeface="Roboto Mono"/>
              <a:cs typeface="Roboto Mono"/>
              <a:sym typeface="Roboto Mono"/>
            </a:endParaRPr>
          </a:p>
        </p:txBody>
      </p:sp>
      <p:cxnSp>
        <p:nvCxnSpPr>
          <p:cNvPr id="259" name="Google Shape;259;p34"/>
          <p:cNvCxnSpPr>
            <a:stCxn id="258" idx="1"/>
          </p:cNvCxnSpPr>
          <p:nvPr/>
        </p:nvCxnSpPr>
        <p:spPr>
          <a:xfrm flipH="1">
            <a:off x="3971600" y="2051250"/>
            <a:ext cx="659100" cy="12900"/>
          </a:xfrm>
          <a:prstGeom prst="straightConnector1">
            <a:avLst/>
          </a:prstGeom>
          <a:noFill/>
          <a:ln cap="flat" cmpd="sng" w="19050">
            <a:solidFill>
              <a:srgbClr val="FF00FF"/>
            </a:solidFill>
            <a:prstDash val="solid"/>
            <a:round/>
            <a:headEnd len="med" w="med" type="none"/>
            <a:tailEnd len="med" w="med" type="triangle"/>
          </a:ln>
        </p:spPr>
      </p:cxnSp>
      <p:cxnSp>
        <p:nvCxnSpPr>
          <p:cNvPr id="260" name="Google Shape;260;p34"/>
          <p:cNvCxnSpPr>
            <a:stCxn id="258" idx="1"/>
          </p:cNvCxnSpPr>
          <p:nvPr/>
        </p:nvCxnSpPr>
        <p:spPr>
          <a:xfrm flipH="1">
            <a:off x="3912800" y="2051250"/>
            <a:ext cx="717900" cy="189000"/>
          </a:xfrm>
          <a:prstGeom prst="straightConnector1">
            <a:avLst/>
          </a:prstGeom>
          <a:noFill/>
          <a:ln cap="flat" cmpd="sng" w="19050">
            <a:solidFill>
              <a:srgbClr val="FF00FF"/>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5"/>
          <p:cNvSpPr txBox="1"/>
          <p:nvPr>
            <p:ph type="title"/>
          </p:nvPr>
        </p:nvSpPr>
        <p:spPr>
          <a:xfrm>
            <a:off x="490250" y="526350"/>
            <a:ext cx="69339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Integración con HTML y CSS</a:t>
            </a:r>
            <a:endParaRPr/>
          </a:p>
        </p:txBody>
      </p:sp>
      <p:pic>
        <p:nvPicPr>
          <p:cNvPr id="266" name="Google Shape;266;p35"/>
          <p:cNvPicPr preferRelativeResize="0"/>
          <p:nvPr/>
        </p:nvPicPr>
        <p:blipFill>
          <a:blip r:embed="rId3">
            <a:alphaModFix/>
          </a:blip>
          <a:stretch>
            <a:fillRect/>
          </a:stretch>
        </p:blipFill>
        <p:spPr>
          <a:xfrm>
            <a:off x="6239175" y="1425623"/>
            <a:ext cx="2904825" cy="3717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6"/>
          <p:cNvSpPr txBox="1"/>
          <p:nvPr>
            <p:ph type="title"/>
          </p:nvPr>
        </p:nvSpPr>
        <p:spPr>
          <a:xfrm>
            <a:off x="311700" y="313275"/>
            <a:ext cx="8520600" cy="105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DOM</a:t>
            </a:r>
            <a:r>
              <a:rPr lang="es"/>
              <a:t>: modificando nuestra </a:t>
            </a:r>
            <a:endParaRPr/>
          </a:p>
          <a:p>
            <a:pPr indent="0" lvl="0" marL="0" rtl="0" algn="l">
              <a:spcBef>
                <a:spcPts val="0"/>
              </a:spcBef>
              <a:spcAft>
                <a:spcPts val="0"/>
              </a:spcAft>
              <a:buNone/>
            </a:pPr>
            <a:r>
              <a:rPr lang="es"/>
              <a:t>página Web desde JavaScript</a:t>
            </a:r>
            <a:endParaRPr/>
          </a:p>
        </p:txBody>
      </p:sp>
      <p:sp>
        <p:nvSpPr>
          <p:cNvPr id="272" name="Google Shape;272;p36"/>
          <p:cNvSpPr txBox="1"/>
          <p:nvPr>
            <p:ph idx="1" type="body"/>
          </p:nvPr>
        </p:nvSpPr>
        <p:spPr>
          <a:xfrm>
            <a:off x="311700" y="1534525"/>
            <a:ext cx="8520600" cy="27507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s" sz="1500"/>
              <a:t>El </a:t>
            </a:r>
            <a:r>
              <a:rPr b="1" lang="es" sz="1500"/>
              <a:t>DOM </a:t>
            </a:r>
            <a:r>
              <a:rPr b="1" i="1" lang="es" sz="1500"/>
              <a:t>(</a:t>
            </a:r>
            <a:r>
              <a:rPr b="1" i="1" lang="es" sz="1500"/>
              <a:t>Document Object Model)</a:t>
            </a:r>
            <a:r>
              <a:rPr i="1" lang="es" sz="1500"/>
              <a:t> </a:t>
            </a:r>
            <a:r>
              <a:rPr lang="es" sz="1500"/>
              <a:t>es una interfaz de </a:t>
            </a:r>
            <a:endParaRPr sz="1500"/>
          </a:p>
          <a:p>
            <a:pPr indent="0" lvl="0" marL="0" rtl="0" algn="l">
              <a:lnSpc>
                <a:spcPct val="105000"/>
              </a:lnSpc>
              <a:spcBef>
                <a:spcPts val="0"/>
              </a:spcBef>
              <a:spcAft>
                <a:spcPts val="0"/>
              </a:spcAft>
              <a:buNone/>
            </a:pPr>
            <a:r>
              <a:rPr lang="es" sz="1500"/>
              <a:t>programación para representar elementos HTML </a:t>
            </a:r>
            <a:endParaRPr sz="1500"/>
          </a:p>
          <a:p>
            <a:pPr indent="0" lvl="0" marL="0" rtl="0" algn="l">
              <a:lnSpc>
                <a:spcPct val="105000"/>
              </a:lnSpc>
              <a:spcBef>
                <a:spcPts val="0"/>
              </a:spcBef>
              <a:spcAft>
                <a:spcPts val="0"/>
              </a:spcAft>
              <a:buNone/>
            </a:pPr>
            <a:r>
              <a:rPr lang="es" sz="1500"/>
              <a:t>como objetos en JavaScript. Permite la manipulación </a:t>
            </a:r>
            <a:endParaRPr sz="1500"/>
          </a:p>
          <a:p>
            <a:pPr indent="0" lvl="0" marL="0" rtl="0" algn="l">
              <a:lnSpc>
                <a:spcPct val="105000"/>
              </a:lnSpc>
              <a:spcBef>
                <a:spcPts val="0"/>
              </a:spcBef>
              <a:spcAft>
                <a:spcPts val="0"/>
              </a:spcAft>
              <a:buNone/>
            </a:pPr>
            <a:r>
              <a:rPr lang="es" sz="1500"/>
              <a:t>de nuestra página Web a través del código.</a:t>
            </a:r>
            <a:endParaRPr sz="1500"/>
          </a:p>
          <a:p>
            <a:pPr indent="0" lvl="0" marL="0" rtl="0" algn="l">
              <a:lnSpc>
                <a:spcPct val="105000"/>
              </a:lnSpc>
              <a:spcBef>
                <a:spcPts val="0"/>
              </a:spcBef>
              <a:spcAft>
                <a:spcPts val="0"/>
              </a:spcAft>
              <a:buNone/>
            </a:pPr>
            <a:r>
              <a:t/>
            </a:r>
            <a:endParaRPr sz="1600"/>
          </a:p>
          <a:p>
            <a:pPr indent="-317500" lvl="0" marL="457200" rtl="0" algn="l">
              <a:lnSpc>
                <a:spcPct val="105000"/>
              </a:lnSpc>
              <a:spcBef>
                <a:spcPts val="0"/>
              </a:spcBef>
              <a:spcAft>
                <a:spcPts val="0"/>
              </a:spcAft>
              <a:buSzPts val="1400"/>
              <a:buChar char="●"/>
            </a:pPr>
            <a:r>
              <a:rPr lang="es" sz="1400"/>
              <a:t>Cada </a:t>
            </a:r>
            <a:r>
              <a:rPr lang="es" sz="1400" u="sng"/>
              <a:t>elemento</a:t>
            </a:r>
            <a:r>
              <a:rPr lang="es" sz="1400"/>
              <a:t> HTML es un </a:t>
            </a:r>
            <a:r>
              <a:rPr lang="es" sz="1400" u="sng"/>
              <a:t>objeto</a:t>
            </a:r>
            <a:r>
              <a:rPr lang="es" sz="1400"/>
              <a:t> en JavaScript</a:t>
            </a:r>
            <a:endParaRPr sz="1400"/>
          </a:p>
          <a:p>
            <a:pPr indent="0" lvl="0" marL="457200" rtl="0" algn="l">
              <a:lnSpc>
                <a:spcPct val="105000"/>
              </a:lnSpc>
              <a:spcBef>
                <a:spcPts val="0"/>
              </a:spcBef>
              <a:spcAft>
                <a:spcPts val="0"/>
              </a:spcAft>
              <a:buNone/>
            </a:pPr>
            <a:r>
              <a:t/>
            </a:r>
            <a:endParaRPr sz="1400"/>
          </a:p>
          <a:p>
            <a:pPr indent="-317500" lvl="0" marL="457200" rtl="0" algn="l">
              <a:lnSpc>
                <a:spcPct val="105000"/>
              </a:lnSpc>
              <a:spcBef>
                <a:spcPts val="0"/>
              </a:spcBef>
              <a:spcAft>
                <a:spcPts val="0"/>
              </a:spcAft>
              <a:buSzPts val="1400"/>
              <a:buChar char="●"/>
            </a:pPr>
            <a:r>
              <a:rPr lang="es" sz="1400"/>
              <a:t>Cada </a:t>
            </a:r>
            <a:r>
              <a:rPr lang="es" sz="1400" u="sng"/>
              <a:t>atributo de ese elemento</a:t>
            </a:r>
            <a:r>
              <a:rPr lang="es" sz="1400"/>
              <a:t> HTML es una </a:t>
            </a:r>
            <a:r>
              <a:rPr lang="es" sz="1400" u="sng"/>
              <a:t>propiedad de ese objeto</a:t>
            </a:r>
            <a:r>
              <a:rPr lang="es" sz="1400"/>
              <a:t> en JavaScript</a:t>
            </a:r>
            <a:endParaRPr sz="1400"/>
          </a:p>
          <a:p>
            <a:pPr indent="0" lvl="0" marL="457200" rtl="0" algn="l">
              <a:lnSpc>
                <a:spcPct val="105000"/>
              </a:lnSpc>
              <a:spcBef>
                <a:spcPts val="0"/>
              </a:spcBef>
              <a:spcAft>
                <a:spcPts val="0"/>
              </a:spcAft>
              <a:buNone/>
            </a:pPr>
            <a:r>
              <a:t/>
            </a:r>
            <a:endParaRPr sz="1400"/>
          </a:p>
          <a:p>
            <a:pPr indent="-317500" lvl="0" marL="457200" rtl="0" algn="l">
              <a:lnSpc>
                <a:spcPct val="105000"/>
              </a:lnSpc>
              <a:spcBef>
                <a:spcPts val="0"/>
              </a:spcBef>
              <a:spcAft>
                <a:spcPts val="0"/>
              </a:spcAft>
              <a:buSzPts val="1400"/>
              <a:buChar char="●"/>
            </a:pPr>
            <a:r>
              <a:rPr lang="es" sz="1400"/>
              <a:t>Los elementos HTML responden a </a:t>
            </a:r>
            <a:r>
              <a:rPr lang="es" sz="1400" u="sng"/>
              <a:t>eventos</a:t>
            </a:r>
            <a:r>
              <a:rPr lang="es" sz="1400"/>
              <a:t>. Esos eventos en </a:t>
            </a:r>
            <a:endParaRPr sz="1400"/>
          </a:p>
          <a:p>
            <a:pPr indent="0" lvl="0" marL="457200" rtl="0" algn="l">
              <a:lnSpc>
                <a:spcPct val="105000"/>
              </a:lnSpc>
              <a:spcBef>
                <a:spcPts val="0"/>
              </a:spcBef>
              <a:spcAft>
                <a:spcPts val="0"/>
              </a:spcAft>
              <a:buNone/>
            </a:pPr>
            <a:r>
              <a:rPr lang="es" sz="1400"/>
              <a:t>JavaScript se representan como </a:t>
            </a:r>
            <a:r>
              <a:rPr lang="es" sz="1400" u="sng"/>
              <a:t>funciones asignadas al objeto</a:t>
            </a:r>
            <a:r>
              <a:rPr lang="es" sz="1400"/>
              <a:t>.</a:t>
            </a:r>
            <a:endParaRPr sz="1400"/>
          </a:p>
        </p:txBody>
      </p:sp>
      <p:pic>
        <p:nvPicPr>
          <p:cNvPr id="273" name="Google Shape;273;p36"/>
          <p:cNvPicPr preferRelativeResize="0"/>
          <p:nvPr/>
        </p:nvPicPr>
        <p:blipFill>
          <a:blip r:embed="rId3">
            <a:alphaModFix/>
          </a:blip>
          <a:stretch>
            <a:fillRect/>
          </a:stretch>
        </p:blipFill>
        <p:spPr>
          <a:xfrm>
            <a:off x="6091575" y="418950"/>
            <a:ext cx="2646776" cy="22643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7"/>
          <p:cNvSpPr txBox="1"/>
          <p:nvPr>
            <p:ph type="title"/>
          </p:nvPr>
        </p:nvSpPr>
        <p:spPr>
          <a:xfrm>
            <a:off x="311700" y="313275"/>
            <a:ext cx="8520600" cy="105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¿Cómo se usa el DOM?</a:t>
            </a:r>
            <a:endParaRPr/>
          </a:p>
        </p:txBody>
      </p:sp>
      <p:sp>
        <p:nvSpPr>
          <p:cNvPr id="279" name="Google Shape;279;p37"/>
          <p:cNvSpPr txBox="1"/>
          <p:nvPr>
            <p:ph idx="1" type="body"/>
          </p:nvPr>
        </p:nvSpPr>
        <p:spPr>
          <a:xfrm>
            <a:off x="311700" y="1132050"/>
            <a:ext cx="8520600" cy="29475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s" u="sng"/>
              <a:t>Ejemplo</a:t>
            </a:r>
            <a:r>
              <a:rPr lang="es"/>
              <a:t>: obtener el </a:t>
            </a:r>
            <a:r>
              <a:rPr lang="es">
                <a:highlight>
                  <a:srgbClr val="F9CB9C"/>
                </a:highlight>
              </a:rPr>
              <a:t>contenido </a:t>
            </a:r>
            <a:r>
              <a:rPr lang="es"/>
              <a:t>del segundo párrafo</a:t>
            </a:r>
            <a:endParaRPr/>
          </a:p>
          <a:p>
            <a:pPr indent="0" lvl="0" marL="0" rtl="0" algn="l">
              <a:lnSpc>
                <a:spcPct val="105000"/>
              </a:lnSpc>
              <a:spcBef>
                <a:spcPts val="0"/>
              </a:spcBef>
              <a:spcAft>
                <a:spcPts val="0"/>
              </a:spcAft>
              <a:buNone/>
            </a:pPr>
            <a:r>
              <a:t/>
            </a:r>
            <a:endParaRPr sz="1500"/>
          </a:p>
          <a:p>
            <a:pPr indent="0" lvl="0" marL="0" rtl="0" algn="l">
              <a:lnSpc>
                <a:spcPct val="105000"/>
              </a:lnSpc>
              <a:spcBef>
                <a:spcPts val="0"/>
              </a:spcBef>
              <a:spcAft>
                <a:spcPts val="0"/>
              </a:spcAft>
              <a:buNone/>
            </a:pPr>
            <a:r>
              <a:t/>
            </a:r>
            <a:endParaRPr sz="1500"/>
          </a:p>
          <a:p>
            <a:pPr indent="0" lvl="0" marL="0" rtl="0" algn="l">
              <a:lnSpc>
                <a:spcPct val="105000"/>
              </a:lnSpc>
              <a:spcBef>
                <a:spcPts val="0"/>
              </a:spcBef>
              <a:spcAft>
                <a:spcPts val="0"/>
              </a:spcAft>
              <a:buNone/>
            </a:pPr>
            <a:r>
              <a:rPr lang="es" sz="1500"/>
              <a:t>HTML:</a:t>
            </a:r>
            <a:endParaRPr sz="1500"/>
          </a:p>
          <a:p>
            <a:pPr indent="0" lvl="0" marL="0" rtl="0" algn="l">
              <a:lnSpc>
                <a:spcPct val="115000"/>
              </a:lnSpc>
              <a:spcBef>
                <a:spcPts val="0"/>
              </a:spcBef>
              <a:spcAft>
                <a:spcPts val="0"/>
              </a:spcAft>
              <a:buNone/>
            </a:pPr>
            <a:r>
              <a:rPr b="1" lang="es" sz="1400">
                <a:latin typeface="Roboto Mono"/>
                <a:ea typeface="Roboto Mono"/>
                <a:cs typeface="Roboto Mono"/>
                <a:sym typeface="Roboto Mono"/>
              </a:rPr>
              <a:t>				&lt;p&gt;Hola mundo!&lt;/p&gt; </a:t>
            </a:r>
            <a:endParaRPr b="1" sz="1400">
              <a:latin typeface="Roboto Mono"/>
              <a:ea typeface="Roboto Mono"/>
              <a:cs typeface="Roboto Mono"/>
              <a:sym typeface="Roboto Mono"/>
            </a:endParaRPr>
          </a:p>
          <a:p>
            <a:pPr indent="457200" lvl="0" marL="1371600" rtl="0" algn="l">
              <a:lnSpc>
                <a:spcPct val="115000"/>
              </a:lnSpc>
              <a:spcBef>
                <a:spcPts val="0"/>
              </a:spcBef>
              <a:spcAft>
                <a:spcPts val="0"/>
              </a:spcAft>
              <a:buNone/>
            </a:pPr>
            <a:r>
              <a:rPr b="1" lang="es" sz="1400">
                <a:latin typeface="Roboto Mono"/>
                <a:ea typeface="Roboto Mono"/>
                <a:cs typeface="Roboto Mono"/>
                <a:sym typeface="Roboto Mono"/>
              </a:rPr>
              <a:t>&lt;p&gt;¡Aguante FIUBA!&lt;/p&gt;</a:t>
            </a:r>
            <a:endParaRPr b="1" sz="1400">
              <a:latin typeface="Roboto Mono"/>
              <a:ea typeface="Roboto Mono"/>
              <a:cs typeface="Roboto Mono"/>
              <a:sym typeface="Roboto Mono"/>
            </a:endParaRPr>
          </a:p>
          <a:p>
            <a:pPr indent="0" lvl="0" marL="0" rtl="0" algn="l">
              <a:lnSpc>
                <a:spcPct val="105000"/>
              </a:lnSpc>
              <a:spcBef>
                <a:spcPts val="0"/>
              </a:spcBef>
              <a:spcAft>
                <a:spcPts val="0"/>
              </a:spcAft>
              <a:buNone/>
            </a:pPr>
            <a:r>
              <a:t/>
            </a:r>
            <a:endParaRPr sz="1500"/>
          </a:p>
          <a:p>
            <a:pPr indent="0" lvl="0" marL="0" rtl="0" algn="l">
              <a:lnSpc>
                <a:spcPct val="105000"/>
              </a:lnSpc>
              <a:spcBef>
                <a:spcPts val="0"/>
              </a:spcBef>
              <a:spcAft>
                <a:spcPts val="0"/>
              </a:spcAft>
              <a:buNone/>
            </a:pPr>
            <a:r>
              <a:rPr lang="es" sz="1500"/>
              <a:t>En JavaScript:</a:t>
            </a:r>
            <a:endParaRPr sz="1500"/>
          </a:p>
          <a:p>
            <a:pPr indent="0" lvl="0" marL="0" rtl="0" algn="l">
              <a:lnSpc>
                <a:spcPct val="115000"/>
              </a:lnSpc>
              <a:spcBef>
                <a:spcPts val="0"/>
              </a:spcBef>
              <a:spcAft>
                <a:spcPts val="0"/>
              </a:spcAft>
              <a:buNone/>
            </a:pPr>
            <a:r>
              <a:rPr b="1" lang="es" sz="1400"/>
              <a:t>				</a:t>
            </a:r>
            <a:r>
              <a:rPr b="1" lang="es" sz="1400">
                <a:latin typeface="Roboto Mono"/>
                <a:ea typeface="Roboto Mono"/>
                <a:cs typeface="Roboto Mono"/>
                <a:sym typeface="Roboto Mono"/>
              </a:rPr>
              <a:t>const parrafos = </a:t>
            </a:r>
            <a:r>
              <a:rPr b="1" lang="es" sz="1400">
                <a:highlight>
                  <a:srgbClr val="FAC0FB"/>
                </a:highlight>
                <a:latin typeface="Roboto Mono"/>
                <a:ea typeface="Roboto Mono"/>
                <a:cs typeface="Roboto Mono"/>
                <a:sym typeface="Roboto Mono"/>
              </a:rPr>
              <a:t>document</a:t>
            </a:r>
            <a:r>
              <a:rPr b="1" lang="es" sz="1400">
                <a:latin typeface="Roboto Mono"/>
                <a:ea typeface="Roboto Mono"/>
                <a:cs typeface="Roboto Mono"/>
                <a:sym typeface="Roboto Mono"/>
              </a:rPr>
              <a:t>.getElementsByTagName("p")</a:t>
            </a:r>
            <a:endParaRPr b="1" sz="1400">
              <a:latin typeface="Roboto Mono"/>
              <a:ea typeface="Roboto Mono"/>
              <a:cs typeface="Roboto Mono"/>
              <a:sym typeface="Roboto Mono"/>
            </a:endParaRPr>
          </a:p>
          <a:p>
            <a:pPr indent="0" lvl="0" marL="0" rtl="0" algn="l">
              <a:lnSpc>
                <a:spcPct val="115000"/>
              </a:lnSpc>
              <a:spcBef>
                <a:spcPts val="0"/>
              </a:spcBef>
              <a:spcAft>
                <a:spcPts val="0"/>
              </a:spcAft>
              <a:buNone/>
            </a:pPr>
            <a:r>
              <a:rPr b="1" lang="es" sz="1400">
                <a:latin typeface="Roboto Mono"/>
                <a:ea typeface="Roboto Mono"/>
                <a:cs typeface="Roboto Mono"/>
                <a:sym typeface="Roboto Mono"/>
              </a:rPr>
              <a:t>				const textoParrafo2 = </a:t>
            </a:r>
            <a:r>
              <a:rPr b="1" lang="es" sz="1400">
                <a:latin typeface="Roboto Mono"/>
                <a:ea typeface="Roboto Mono"/>
                <a:cs typeface="Roboto Mono"/>
                <a:sym typeface="Roboto Mono"/>
              </a:rPr>
              <a:t>parrafos[1]</a:t>
            </a:r>
            <a:r>
              <a:rPr b="1" lang="es" sz="1400">
                <a:highlight>
                  <a:srgbClr val="F9CB9C"/>
                </a:highlight>
                <a:latin typeface="Roboto Mono"/>
                <a:ea typeface="Roboto Mono"/>
                <a:cs typeface="Roboto Mono"/>
                <a:sym typeface="Roboto Mono"/>
              </a:rPr>
              <a:t>.innerText</a:t>
            </a:r>
            <a:endParaRPr b="1" sz="1400">
              <a:highlight>
                <a:srgbClr val="F9CB9C"/>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 sz="1400">
                <a:latin typeface="Roboto Mono"/>
                <a:ea typeface="Roboto Mono"/>
                <a:cs typeface="Roboto Mono"/>
                <a:sym typeface="Roboto Mono"/>
              </a:rPr>
              <a:t>				console.log(</a:t>
            </a:r>
            <a:r>
              <a:rPr b="1" lang="es" sz="1400">
                <a:latin typeface="Roboto Mono"/>
                <a:ea typeface="Roboto Mono"/>
                <a:cs typeface="Roboto Mono"/>
                <a:sym typeface="Roboto Mono"/>
              </a:rPr>
              <a:t>textoParrafo2</a:t>
            </a:r>
            <a:r>
              <a:rPr b="1" lang="es" sz="1400">
                <a:latin typeface="Roboto Mono"/>
                <a:ea typeface="Roboto Mono"/>
                <a:cs typeface="Roboto Mono"/>
                <a:sym typeface="Roboto Mono"/>
              </a:rPr>
              <a:t>)</a:t>
            </a:r>
            <a:endParaRPr sz="1500"/>
          </a:p>
        </p:txBody>
      </p:sp>
      <p:cxnSp>
        <p:nvCxnSpPr>
          <p:cNvPr id="280" name="Google Shape;280;p37"/>
          <p:cNvCxnSpPr/>
          <p:nvPr/>
        </p:nvCxnSpPr>
        <p:spPr>
          <a:xfrm flipH="1">
            <a:off x="4535075" y="2540975"/>
            <a:ext cx="1434900" cy="610800"/>
          </a:xfrm>
          <a:prstGeom prst="straightConnector1">
            <a:avLst/>
          </a:prstGeom>
          <a:noFill/>
          <a:ln cap="flat" cmpd="sng" w="19050">
            <a:solidFill>
              <a:srgbClr val="FF00FF"/>
            </a:solidFill>
            <a:prstDash val="solid"/>
            <a:round/>
            <a:headEnd len="med" w="med" type="none"/>
            <a:tailEnd len="med" w="med" type="triangle"/>
          </a:ln>
        </p:spPr>
      </p:cxnSp>
      <p:sp>
        <p:nvSpPr>
          <p:cNvPr id="281" name="Google Shape;281;p37"/>
          <p:cNvSpPr txBox="1"/>
          <p:nvPr/>
        </p:nvSpPr>
        <p:spPr>
          <a:xfrm>
            <a:off x="5969975" y="1881600"/>
            <a:ext cx="2745900" cy="826500"/>
          </a:xfrm>
          <a:prstGeom prst="rect">
            <a:avLst/>
          </a:prstGeom>
          <a:noFill/>
          <a:ln cap="flat" cmpd="sng" w="19050">
            <a:solidFill>
              <a:srgbClr val="FF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rgbClr val="FF00FF"/>
                </a:solidFill>
                <a:latin typeface="Roboto Serif"/>
                <a:ea typeface="Roboto Serif"/>
                <a:cs typeface="Roboto Serif"/>
                <a:sym typeface="Roboto Serif"/>
              </a:rPr>
              <a:t>Palabra reservada: el objeto que representa nuestro documento HTML</a:t>
            </a:r>
            <a:endParaRPr b="1">
              <a:solidFill>
                <a:srgbClr val="FF00FF"/>
              </a:solidFill>
              <a:latin typeface="Roboto Serif"/>
              <a:ea typeface="Roboto Serif"/>
              <a:cs typeface="Roboto Serif"/>
              <a:sym typeface="Roboto Serif"/>
            </a:endParaRPr>
          </a:p>
        </p:txBody>
      </p:sp>
      <p:sp>
        <p:nvSpPr>
          <p:cNvPr id="282" name="Google Shape;282;p37"/>
          <p:cNvSpPr txBox="1"/>
          <p:nvPr/>
        </p:nvSpPr>
        <p:spPr>
          <a:xfrm>
            <a:off x="2080900" y="4126550"/>
            <a:ext cx="6585600" cy="415500"/>
          </a:xfrm>
          <a:prstGeom prst="rect">
            <a:avLst/>
          </a:prstGeom>
          <a:noFill/>
          <a:ln>
            <a:noFill/>
          </a:ln>
        </p:spPr>
        <p:txBody>
          <a:bodyPr anchorCtr="0" anchor="t" bIns="91425" lIns="91425" spcFirstLastPara="1" rIns="91425" wrap="square" tIns="91425">
            <a:spAutoFit/>
          </a:bodyPr>
          <a:lstStyle/>
          <a:p>
            <a:pPr indent="0" lvl="0" marL="0" rtl="0" algn="l">
              <a:lnSpc>
                <a:spcPct val="105000"/>
              </a:lnSpc>
              <a:spcBef>
                <a:spcPts val="0"/>
              </a:spcBef>
              <a:spcAft>
                <a:spcPts val="0"/>
              </a:spcAft>
              <a:buNone/>
            </a:pPr>
            <a:r>
              <a:rPr lang="es" sz="1500">
                <a:solidFill>
                  <a:schemeClr val="dk2"/>
                </a:solidFill>
                <a:latin typeface="Roboto Serif"/>
                <a:ea typeface="Roboto Serif"/>
                <a:cs typeface="Roboto Serif"/>
                <a:sym typeface="Roboto Serif"/>
              </a:rPr>
              <a:t>“</a:t>
            </a:r>
            <a:r>
              <a:rPr lang="es">
                <a:solidFill>
                  <a:schemeClr val="dk2"/>
                </a:solidFill>
                <a:latin typeface="Roboto Serif"/>
                <a:ea typeface="Roboto Serif"/>
                <a:cs typeface="Roboto Serif"/>
                <a:sym typeface="Roboto Serif"/>
              </a:rPr>
              <a:t>¡Aguante FIUBA!</a:t>
            </a:r>
            <a:r>
              <a:rPr lang="es" sz="1500">
                <a:solidFill>
                  <a:schemeClr val="dk2"/>
                </a:solidFill>
                <a:latin typeface="Roboto Serif"/>
                <a:ea typeface="Roboto Serif"/>
                <a:cs typeface="Roboto Serif"/>
                <a:sym typeface="Roboto Serif"/>
              </a:rPr>
              <a:t>”</a:t>
            </a:r>
            <a:endParaRPr sz="1800">
              <a:solidFill>
                <a:schemeClr val="dk2"/>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8"/>
          <p:cNvSpPr txBox="1"/>
          <p:nvPr>
            <p:ph type="title"/>
          </p:nvPr>
        </p:nvSpPr>
        <p:spPr>
          <a:xfrm>
            <a:off x="311700" y="313275"/>
            <a:ext cx="8520600" cy="1050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¿Qué se puede hacer en el DOM con Javascript?</a:t>
            </a:r>
            <a:endParaRPr/>
          </a:p>
        </p:txBody>
      </p:sp>
      <p:sp>
        <p:nvSpPr>
          <p:cNvPr id="288" name="Google Shape;288;p38"/>
          <p:cNvSpPr txBox="1"/>
          <p:nvPr>
            <p:ph idx="1" type="body"/>
          </p:nvPr>
        </p:nvSpPr>
        <p:spPr>
          <a:xfrm>
            <a:off x="311700" y="1132050"/>
            <a:ext cx="8520600" cy="29475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s"/>
              <a:t>P</a:t>
            </a:r>
            <a:r>
              <a:rPr lang="es"/>
              <a:t>uede cambiar todos los elementos HTML en la página</a:t>
            </a:r>
            <a:endParaRPr/>
          </a:p>
          <a:p>
            <a:pPr indent="-342900" lvl="0" marL="457200" rtl="0" algn="l">
              <a:lnSpc>
                <a:spcPct val="150000"/>
              </a:lnSpc>
              <a:spcBef>
                <a:spcPts val="0"/>
              </a:spcBef>
              <a:spcAft>
                <a:spcPts val="0"/>
              </a:spcAft>
              <a:buSzPts val="1800"/>
              <a:buChar char="●"/>
            </a:pPr>
            <a:r>
              <a:rPr lang="es"/>
              <a:t>Puede cambiar todos los atributos HTML en la página</a:t>
            </a:r>
            <a:endParaRPr/>
          </a:p>
          <a:p>
            <a:pPr indent="-342900" lvl="0" marL="457200" rtl="0" algn="l">
              <a:lnSpc>
                <a:spcPct val="150000"/>
              </a:lnSpc>
              <a:spcBef>
                <a:spcPts val="0"/>
              </a:spcBef>
              <a:spcAft>
                <a:spcPts val="0"/>
              </a:spcAft>
              <a:buSzPts val="1800"/>
              <a:buChar char="●"/>
            </a:pPr>
            <a:r>
              <a:rPr lang="es"/>
              <a:t>Puede cambiar todos los estilos CSS en la página</a:t>
            </a:r>
            <a:endParaRPr/>
          </a:p>
          <a:p>
            <a:pPr indent="-342900" lvl="0" marL="457200" rtl="0" algn="l">
              <a:lnSpc>
                <a:spcPct val="150000"/>
              </a:lnSpc>
              <a:spcBef>
                <a:spcPts val="0"/>
              </a:spcBef>
              <a:spcAft>
                <a:spcPts val="0"/>
              </a:spcAft>
              <a:buSzPts val="1800"/>
              <a:buChar char="●"/>
            </a:pPr>
            <a:r>
              <a:rPr lang="es"/>
              <a:t>Puede eliminar elementos y atributos HTML existentes</a:t>
            </a:r>
            <a:endParaRPr/>
          </a:p>
          <a:p>
            <a:pPr indent="-342900" lvl="0" marL="457200" rtl="0" algn="l">
              <a:lnSpc>
                <a:spcPct val="150000"/>
              </a:lnSpc>
              <a:spcBef>
                <a:spcPts val="0"/>
              </a:spcBef>
              <a:spcAft>
                <a:spcPts val="0"/>
              </a:spcAft>
              <a:buSzPts val="1800"/>
              <a:buChar char="●"/>
            </a:pPr>
            <a:r>
              <a:rPr lang="es"/>
              <a:t>Puede agregar nuevos elementos y atributos HTML</a:t>
            </a:r>
            <a:endParaRPr/>
          </a:p>
          <a:p>
            <a:pPr indent="-342900" lvl="0" marL="457200" rtl="0" algn="l">
              <a:lnSpc>
                <a:spcPct val="150000"/>
              </a:lnSpc>
              <a:spcBef>
                <a:spcPts val="0"/>
              </a:spcBef>
              <a:spcAft>
                <a:spcPts val="0"/>
              </a:spcAft>
              <a:buSzPts val="1800"/>
              <a:buChar char="●"/>
            </a:pPr>
            <a:r>
              <a:rPr lang="es"/>
              <a:t>Puede reaccionar a todos los eventos HTML existentes en la página</a:t>
            </a:r>
            <a:endParaRPr/>
          </a:p>
          <a:p>
            <a:pPr indent="-342900" lvl="0" marL="457200" rtl="0" algn="l">
              <a:lnSpc>
                <a:spcPct val="150000"/>
              </a:lnSpc>
              <a:spcBef>
                <a:spcPts val="0"/>
              </a:spcBef>
              <a:spcAft>
                <a:spcPts val="0"/>
              </a:spcAft>
              <a:buSzPts val="1800"/>
              <a:buChar char="●"/>
            </a:pPr>
            <a:r>
              <a:rPr lang="es"/>
              <a:t>Puede crear nuevos eventos HTML en la página</a:t>
            </a:r>
            <a:endParaRPr sz="1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9"/>
          <p:cNvSpPr txBox="1"/>
          <p:nvPr>
            <p:ph type="title"/>
          </p:nvPr>
        </p:nvSpPr>
        <p:spPr>
          <a:xfrm>
            <a:off x="311700" y="313275"/>
            <a:ext cx="8520600" cy="720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Algunas f</a:t>
            </a:r>
            <a:r>
              <a:rPr lang="es"/>
              <a:t>unciones y props.</a:t>
            </a:r>
            <a:r>
              <a:rPr lang="es"/>
              <a:t> básicas del DOM</a:t>
            </a:r>
            <a:endParaRPr/>
          </a:p>
        </p:txBody>
      </p:sp>
      <p:sp>
        <p:nvSpPr>
          <p:cNvPr id="294" name="Google Shape;294;p39"/>
          <p:cNvSpPr txBox="1"/>
          <p:nvPr>
            <p:ph idx="1" type="body"/>
          </p:nvPr>
        </p:nvSpPr>
        <p:spPr>
          <a:xfrm>
            <a:off x="311700" y="972525"/>
            <a:ext cx="8955000" cy="3522600"/>
          </a:xfrm>
          <a:prstGeom prst="rect">
            <a:avLst/>
          </a:prstGeom>
        </p:spPr>
        <p:txBody>
          <a:bodyPr anchorCtr="0" anchor="t" bIns="91425" lIns="91425" spcFirstLastPara="1" rIns="91425" wrap="square" tIns="91425">
            <a:normAutofit lnSpcReduction="10000"/>
          </a:bodyPr>
          <a:lstStyle/>
          <a:p>
            <a:pPr indent="-330200" lvl="0" marL="457200" rtl="0" algn="l">
              <a:lnSpc>
                <a:spcPct val="115000"/>
              </a:lnSpc>
              <a:spcBef>
                <a:spcPts val="0"/>
              </a:spcBef>
              <a:spcAft>
                <a:spcPts val="0"/>
              </a:spcAft>
              <a:buSzPts val="1600"/>
              <a:buFont typeface="Roboto Mono"/>
              <a:buChar char="●"/>
            </a:pPr>
            <a:r>
              <a:rPr b="1" i="1" lang="es" sz="1600">
                <a:latin typeface="Roboto Mono"/>
                <a:ea typeface="Roboto Mono"/>
                <a:cs typeface="Roboto Mono"/>
                <a:sym typeface="Roboto Mono"/>
              </a:rPr>
              <a:t>document</a:t>
            </a:r>
            <a:r>
              <a:rPr lang="es" sz="1600">
                <a:latin typeface="Roboto Mono"/>
                <a:ea typeface="Roboto Mono"/>
                <a:cs typeface="Roboto Mono"/>
                <a:sym typeface="Roboto Mono"/>
              </a:rPr>
              <a:t>.getElementsByTagName(</a:t>
            </a:r>
            <a:r>
              <a:rPr i="1" lang="es" sz="1600">
                <a:latin typeface="Roboto Mono"/>
                <a:ea typeface="Roboto Mono"/>
                <a:cs typeface="Roboto Mono"/>
                <a:sym typeface="Roboto Mono"/>
              </a:rPr>
              <a:t>...</a:t>
            </a:r>
            <a:r>
              <a:rPr lang="es" sz="1600">
                <a:latin typeface="Roboto Mono"/>
                <a:ea typeface="Roboto Mono"/>
                <a:cs typeface="Roboto Mono"/>
                <a:sym typeface="Roboto Mono"/>
              </a:rPr>
              <a:t>)</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b="1" i="1" lang="es" sz="1600">
                <a:latin typeface="Roboto Mono"/>
                <a:ea typeface="Roboto Mono"/>
                <a:cs typeface="Roboto Mono"/>
                <a:sym typeface="Roboto Mono"/>
              </a:rPr>
              <a:t>document</a:t>
            </a:r>
            <a:r>
              <a:rPr lang="es" sz="1600">
                <a:latin typeface="Roboto Mono"/>
                <a:ea typeface="Roboto Mono"/>
                <a:cs typeface="Roboto Mono"/>
                <a:sym typeface="Roboto Mono"/>
              </a:rPr>
              <a:t>.getElementById(</a:t>
            </a:r>
            <a:r>
              <a:rPr i="1" lang="es" sz="1600">
                <a:latin typeface="Roboto Mono"/>
                <a:ea typeface="Roboto Mono"/>
                <a:cs typeface="Roboto Mono"/>
                <a:sym typeface="Roboto Mono"/>
              </a:rPr>
              <a:t>...</a:t>
            </a:r>
            <a:r>
              <a:rPr lang="es" sz="1600">
                <a:latin typeface="Roboto Mono"/>
                <a:ea typeface="Roboto Mono"/>
                <a:cs typeface="Roboto Mono"/>
                <a:sym typeface="Roboto Mono"/>
              </a:rPr>
              <a:t>)</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b="1" i="1" lang="es" sz="1600">
                <a:latin typeface="Roboto Mono"/>
                <a:ea typeface="Roboto Mono"/>
                <a:cs typeface="Roboto Mono"/>
                <a:sym typeface="Roboto Mono"/>
              </a:rPr>
              <a:t>document</a:t>
            </a:r>
            <a:r>
              <a:rPr lang="es" sz="1600">
                <a:latin typeface="Roboto Mono"/>
                <a:ea typeface="Roboto Mono"/>
                <a:cs typeface="Roboto Mono"/>
                <a:sym typeface="Roboto Mono"/>
              </a:rPr>
              <a:t>.getElementsByClassName(</a:t>
            </a:r>
            <a:r>
              <a:rPr i="1" lang="es" sz="1600">
                <a:latin typeface="Roboto Mono"/>
                <a:ea typeface="Roboto Mono"/>
                <a:cs typeface="Roboto Mono"/>
                <a:sym typeface="Roboto Mono"/>
              </a:rPr>
              <a:t>...</a:t>
            </a:r>
            <a:r>
              <a:rPr lang="es" sz="1600">
                <a:latin typeface="Roboto Mono"/>
                <a:ea typeface="Roboto Mono"/>
                <a:cs typeface="Roboto Mono"/>
                <a:sym typeface="Roboto Mono"/>
              </a:rPr>
              <a:t>)</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b="1" i="1" lang="es" sz="1600">
                <a:latin typeface="Roboto Mono"/>
                <a:ea typeface="Roboto Mono"/>
                <a:cs typeface="Roboto Mono"/>
                <a:sym typeface="Roboto Mono"/>
              </a:rPr>
              <a:t>document</a:t>
            </a:r>
            <a:r>
              <a:rPr lang="es" sz="1600">
                <a:latin typeface="Roboto Mono"/>
                <a:ea typeface="Roboto Mono"/>
                <a:cs typeface="Roboto Mono"/>
                <a:sym typeface="Roboto Mono"/>
              </a:rPr>
              <a:t>.createElement(...)</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b="1" i="1" lang="es" sz="1600">
                <a:latin typeface="Roboto Mono"/>
                <a:ea typeface="Roboto Mono"/>
                <a:cs typeface="Roboto Mono"/>
                <a:sym typeface="Roboto Mono"/>
              </a:rPr>
              <a:t>document.body</a:t>
            </a:r>
            <a:endParaRPr b="1" i="1" sz="1600">
              <a:latin typeface="Roboto Mono"/>
              <a:ea typeface="Roboto Mono"/>
              <a:cs typeface="Roboto Mono"/>
              <a:sym typeface="Roboto Mono"/>
            </a:endParaRPr>
          </a:p>
          <a:p>
            <a:pPr indent="0" lvl="0" marL="457200" rtl="0" algn="l">
              <a:lnSpc>
                <a:spcPct val="115000"/>
              </a:lnSpc>
              <a:spcBef>
                <a:spcPts val="0"/>
              </a:spcBef>
              <a:spcAft>
                <a:spcPts val="0"/>
              </a:spcAft>
              <a:buNone/>
            </a:pPr>
            <a:r>
              <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lang="es" sz="1600">
                <a:latin typeface="Roboto Mono"/>
                <a:ea typeface="Roboto Mono"/>
                <a:cs typeface="Roboto Mono"/>
                <a:sym typeface="Roboto Mono"/>
              </a:rPr>
              <a:t>elemento.append(...)</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lang="es" sz="1600">
                <a:latin typeface="Roboto Mono"/>
                <a:ea typeface="Roboto Mono"/>
                <a:cs typeface="Roboto Mono"/>
                <a:sym typeface="Roboto Mono"/>
              </a:rPr>
              <a:t>elemento</a:t>
            </a:r>
            <a:r>
              <a:rPr lang="es" sz="1600">
                <a:latin typeface="Roboto Mono"/>
                <a:ea typeface="Roboto Mono"/>
                <a:cs typeface="Roboto Mono"/>
                <a:sym typeface="Roboto Mono"/>
              </a:rPr>
              <a:t>.appendChild(...)</a:t>
            </a:r>
            <a:endParaRPr sz="1600">
              <a:latin typeface="Roboto Mono"/>
              <a:ea typeface="Roboto Mono"/>
              <a:cs typeface="Roboto Mono"/>
              <a:sym typeface="Roboto Mono"/>
            </a:endParaRPr>
          </a:p>
          <a:p>
            <a:pPr indent="0" lvl="0" marL="457200" rtl="0" algn="l">
              <a:lnSpc>
                <a:spcPct val="115000"/>
              </a:lnSpc>
              <a:spcBef>
                <a:spcPts val="0"/>
              </a:spcBef>
              <a:spcAft>
                <a:spcPts val="0"/>
              </a:spcAft>
              <a:buNone/>
            </a:pPr>
            <a:r>
              <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lang="es" sz="1600">
                <a:latin typeface="Roboto Mono"/>
                <a:ea typeface="Roboto Mono"/>
                <a:cs typeface="Roboto Mono"/>
                <a:sym typeface="Roboto Mono"/>
              </a:rPr>
              <a:t>elemento</a:t>
            </a:r>
            <a:r>
              <a:rPr lang="es" sz="1600">
                <a:latin typeface="Roboto Mono"/>
                <a:ea typeface="Roboto Mono"/>
                <a:cs typeface="Roboto Mono"/>
                <a:sym typeface="Roboto Mono"/>
              </a:rPr>
              <a:t>.innerText</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lang="es" sz="1600">
                <a:latin typeface="Roboto Mono"/>
                <a:ea typeface="Roboto Mono"/>
                <a:cs typeface="Roboto Mono"/>
                <a:sym typeface="Roboto Mono"/>
              </a:rPr>
              <a:t>elemento</a:t>
            </a:r>
            <a:r>
              <a:rPr lang="es" sz="1600">
                <a:latin typeface="Roboto Mono"/>
                <a:ea typeface="Roboto Mono"/>
                <a:cs typeface="Roboto Mono"/>
                <a:sym typeface="Roboto Mono"/>
              </a:rPr>
              <a:t>.innerHTML</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lang="es" sz="1600">
                <a:latin typeface="Roboto Mono"/>
                <a:ea typeface="Roboto Mono"/>
                <a:cs typeface="Roboto Mono"/>
                <a:sym typeface="Roboto Mono"/>
              </a:rPr>
              <a:t>elemento</a:t>
            </a:r>
            <a:r>
              <a:rPr lang="es" sz="1600">
                <a:latin typeface="Roboto Mono"/>
                <a:ea typeface="Roboto Mono"/>
                <a:cs typeface="Roboto Mono"/>
                <a:sym typeface="Roboto Mono"/>
              </a:rPr>
              <a:t>.style</a:t>
            </a:r>
            <a:endParaRPr sz="1600">
              <a:latin typeface="Roboto Mono"/>
              <a:ea typeface="Roboto Mono"/>
              <a:cs typeface="Roboto Mono"/>
              <a:sym typeface="Roboto Mono"/>
            </a:endParaRPr>
          </a:p>
          <a:p>
            <a:pPr indent="-330200" lvl="0" marL="457200" rtl="0" algn="l">
              <a:lnSpc>
                <a:spcPct val="115000"/>
              </a:lnSpc>
              <a:spcBef>
                <a:spcPts val="0"/>
              </a:spcBef>
              <a:spcAft>
                <a:spcPts val="0"/>
              </a:spcAft>
              <a:buSzPts val="1600"/>
              <a:buFont typeface="Roboto Mono"/>
              <a:buChar char="●"/>
            </a:pPr>
            <a:r>
              <a:rPr lang="es" sz="1600">
                <a:latin typeface="Roboto Mono"/>
                <a:ea typeface="Roboto Mono"/>
                <a:cs typeface="Roboto Mono"/>
                <a:sym typeface="Roboto Mono"/>
              </a:rPr>
              <a:t>elemento</a:t>
            </a:r>
            <a:r>
              <a:rPr lang="es" sz="1600">
                <a:latin typeface="Roboto Mono"/>
                <a:ea typeface="Roboto Mono"/>
                <a:cs typeface="Roboto Mono"/>
                <a:sym typeface="Roboto Mono"/>
              </a:rPr>
              <a:t>.parentElement</a:t>
            </a:r>
            <a:endParaRPr sz="1600">
              <a:latin typeface="Roboto Mono"/>
              <a:ea typeface="Roboto Mono"/>
              <a:cs typeface="Roboto Mono"/>
              <a:sym typeface="Roboto Mono"/>
            </a:endParaRPr>
          </a:p>
        </p:txBody>
      </p:sp>
      <p:sp>
        <p:nvSpPr>
          <p:cNvPr id="295" name="Google Shape;295;p39"/>
          <p:cNvSpPr txBox="1"/>
          <p:nvPr/>
        </p:nvSpPr>
        <p:spPr>
          <a:xfrm>
            <a:off x="4442500" y="3087650"/>
            <a:ext cx="4425000" cy="585000"/>
          </a:xfrm>
          <a:prstGeom prst="rect">
            <a:avLst/>
          </a:prstGeom>
          <a:noFill/>
          <a:ln cap="flat" cmpd="sng" w="19050">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300">
                <a:solidFill>
                  <a:srgbClr val="6AA84F"/>
                </a:solidFill>
                <a:latin typeface="Roboto Serif"/>
                <a:ea typeface="Roboto Serif"/>
                <a:cs typeface="Roboto Serif"/>
                <a:sym typeface="Roboto Serif"/>
              </a:rPr>
              <a:t>Más info acerca del DOM acá:</a:t>
            </a:r>
            <a:endParaRPr sz="1300">
              <a:solidFill>
                <a:srgbClr val="6AA84F"/>
              </a:solidFill>
              <a:latin typeface="Roboto Serif"/>
              <a:ea typeface="Roboto Serif"/>
              <a:cs typeface="Roboto Serif"/>
              <a:sym typeface="Roboto Serif"/>
            </a:endParaRPr>
          </a:p>
          <a:p>
            <a:pPr indent="0" lvl="0" marL="0" rtl="0" algn="l">
              <a:spcBef>
                <a:spcPts val="0"/>
              </a:spcBef>
              <a:spcAft>
                <a:spcPts val="0"/>
              </a:spcAft>
              <a:buNone/>
            </a:pPr>
            <a:r>
              <a:rPr b="1" i="1" lang="es" sz="1300">
                <a:solidFill>
                  <a:srgbClr val="6AA84F"/>
                </a:solidFill>
                <a:latin typeface="Roboto Serif"/>
                <a:ea typeface="Roboto Serif"/>
                <a:cs typeface="Roboto Serif"/>
                <a:sym typeface="Roboto Serif"/>
              </a:rPr>
              <a:t>https://www.w3schools.com/js/js_htmldom.asp</a:t>
            </a:r>
            <a:endParaRPr b="1" i="1" sz="1300">
              <a:solidFill>
                <a:srgbClr val="6AA84F"/>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0"/>
          <p:cNvSpPr txBox="1"/>
          <p:nvPr>
            <p:ph type="title"/>
          </p:nvPr>
        </p:nvSpPr>
        <p:spPr>
          <a:xfrm>
            <a:off x="311700" y="333800"/>
            <a:ext cx="8520600" cy="957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t>Eventos</a:t>
            </a:r>
            <a:r>
              <a:rPr lang="es"/>
              <a:t>: nuestra página responde a acciones del usuario</a:t>
            </a:r>
            <a:endParaRPr/>
          </a:p>
        </p:txBody>
      </p:sp>
      <p:sp>
        <p:nvSpPr>
          <p:cNvPr id="301" name="Google Shape;301;p40"/>
          <p:cNvSpPr txBox="1"/>
          <p:nvPr>
            <p:ph idx="1" type="body"/>
          </p:nvPr>
        </p:nvSpPr>
        <p:spPr>
          <a:xfrm>
            <a:off x="311700" y="1396400"/>
            <a:ext cx="8520600" cy="69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600"/>
              <a:t>¿Qué pasa si </a:t>
            </a:r>
            <a:r>
              <a:rPr lang="es" sz="1600"/>
              <a:t>hago</a:t>
            </a:r>
            <a:r>
              <a:rPr lang="es" sz="1600"/>
              <a:t> click en un botón? ¿Cómo responde nuestra página ante este suceso? Esta situación es lo que se conoce como un </a:t>
            </a:r>
            <a:r>
              <a:rPr b="1" lang="es" sz="1600"/>
              <a:t>evento</a:t>
            </a:r>
            <a:r>
              <a:rPr lang="es" sz="1600"/>
              <a:t>. </a:t>
            </a:r>
            <a:endParaRPr sz="1600"/>
          </a:p>
        </p:txBody>
      </p:sp>
      <p:sp>
        <p:nvSpPr>
          <p:cNvPr id="302" name="Google Shape;302;p40"/>
          <p:cNvSpPr txBox="1"/>
          <p:nvPr/>
        </p:nvSpPr>
        <p:spPr>
          <a:xfrm>
            <a:off x="333150" y="2200700"/>
            <a:ext cx="8477700" cy="19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600">
                <a:solidFill>
                  <a:schemeClr val="dk2"/>
                </a:solidFill>
                <a:latin typeface="Roboto Serif"/>
                <a:ea typeface="Roboto Serif"/>
                <a:cs typeface="Roboto Serif"/>
                <a:sym typeface="Roboto Serif"/>
              </a:rPr>
              <a:t>Para definir la </a:t>
            </a:r>
            <a:r>
              <a:rPr lang="es" sz="1600" u="sng">
                <a:solidFill>
                  <a:schemeClr val="dk2"/>
                </a:solidFill>
                <a:latin typeface="Roboto Serif"/>
                <a:ea typeface="Roboto Serif"/>
                <a:cs typeface="Roboto Serif"/>
                <a:sym typeface="Roboto Serif"/>
              </a:rPr>
              <a:t>respuesta a un determinado evento</a:t>
            </a:r>
            <a:r>
              <a:rPr lang="es" sz="1600">
                <a:solidFill>
                  <a:schemeClr val="dk2"/>
                </a:solidFill>
                <a:latin typeface="Roboto Serif"/>
                <a:ea typeface="Roboto Serif"/>
                <a:cs typeface="Roboto Serif"/>
                <a:sym typeface="Roboto Serif"/>
              </a:rPr>
              <a:t> de nuestra página Web necesitamos:</a:t>
            </a:r>
            <a:endParaRPr sz="1600">
              <a:solidFill>
                <a:schemeClr val="dk2"/>
              </a:solidFill>
              <a:latin typeface="Roboto Serif"/>
              <a:ea typeface="Roboto Serif"/>
              <a:cs typeface="Roboto Serif"/>
              <a:sym typeface="Roboto Serif"/>
            </a:endParaRPr>
          </a:p>
          <a:p>
            <a:pPr indent="0" lvl="0" marL="0" rtl="0" algn="l">
              <a:lnSpc>
                <a:spcPct val="115000"/>
              </a:lnSpc>
              <a:spcBef>
                <a:spcPts val="0"/>
              </a:spcBef>
              <a:spcAft>
                <a:spcPts val="0"/>
              </a:spcAft>
              <a:buNone/>
            </a:pPr>
            <a:r>
              <a:t/>
            </a:r>
            <a:endParaRPr sz="1600">
              <a:solidFill>
                <a:schemeClr val="dk2"/>
              </a:solidFill>
              <a:latin typeface="Roboto Serif"/>
              <a:ea typeface="Roboto Serif"/>
              <a:cs typeface="Roboto Serif"/>
              <a:sym typeface="Roboto Serif"/>
            </a:endParaRPr>
          </a:p>
          <a:p>
            <a:pPr indent="-330200" lvl="0" marL="457200" rtl="0" algn="l">
              <a:lnSpc>
                <a:spcPct val="115000"/>
              </a:lnSpc>
              <a:spcBef>
                <a:spcPts val="0"/>
              </a:spcBef>
              <a:spcAft>
                <a:spcPts val="0"/>
              </a:spcAft>
              <a:buClr>
                <a:schemeClr val="dk2"/>
              </a:buClr>
              <a:buSzPts val="1600"/>
              <a:buFont typeface="Roboto Serif"/>
              <a:buChar char="●"/>
            </a:pPr>
            <a:r>
              <a:rPr lang="es" sz="1600">
                <a:solidFill>
                  <a:schemeClr val="dk2"/>
                </a:solidFill>
                <a:latin typeface="Roboto Serif"/>
                <a:ea typeface="Roboto Serif"/>
                <a:cs typeface="Roboto Serif"/>
                <a:sym typeface="Roboto Serif"/>
              </a:rPr>
              <a:t>Un </a:t>
            </a:r>
            <a:r>
              <a:rPr lang="es" sz="1600" u="sng">
                <a:solidFill>
                  <a:schemeClr val="dk2"/>
                </a:solidFill>
                <a:latin typeface="Roboto Serif"/>
                <a:ea typeface="Roboto Serif"/>
                <a:cs typeface="Roboto Serif"/>
                <a:sym typeface="Roboto Serif"/>
              </a:rPr>
              <a:t>objeto del DOM</a:t>
            </a:r>
            <a:r>
              <a:rPr lang="es" sz="1600">
                <a:solidFill>
                  <a:schemeClr val="dk2"/>
                </a:solidFill>
                <a:latin typeface="Roboto Serif"/>
                <a:ea typeface="Roboto Serif"/>
                <a:cs typeface="Roboto Serif"/>
                <a:sym typeface="Roboto Serif"/>
              </a:rPr>
              <a:t> que “escuche” el evento (por ejemplo, un </a:t>
            </a:r>
            <a:r>
              <a:rPr lang="es" sz="1600">
                <a:solidFill>
                  <a:schemeClr val="dk2"/>
                </a:solidFill>
                <a:latin typeface="Roboto Mono"/>
                <a:ea typeface="Roboto Mono"/>
                <a:cs typeface="Roboto Mono"/>
                <a:sym typeface="Roboto Mono"/>
              </a:rPr>
              <a:t>button</a:t>
            </a:r>
            <a:r>
              <a:rPr lang="es" sz="1600">
                <a:solidFill>
                  <a:schemeClr val="dk2"/>
                </a:solidFill>
                <a:latin typeface="Roboto Serif"/>
                <a:ea typeface="Roboto Serif"/>
                <a:cs typeface="Roboto Serif"/>
                <a:sym typeface="Roboto Serif"/>
              </a:rPr>
              <a:t>)</a:t>
            </a:r>
            <a:endParaRPr sz="1600">
              <a:solidFill>
                <a:schemeClr val="dk2"/>
              </a:solidFill>
              <a:latin typeface="Roboto Serif"/>
              <a:ea typeface="Roboto Serif"/>
              <a:cs typeface="Roboto Serif"/>
              <a:sym typeface="Roboto Serif"/>
            </a:endParaRPr>
          </a:p>
          <a:p>
            <a:pPr indent="-330200" lvl="0" marL="457200" rtl="0" algn="l">
              <a:lnSpc>
                <a:spcPct val="115000"/>
              </a:lnSpc>
              <a:spcBef>
                <a:spcPts val="1000"/>
              </a:spcBef>
              <a:spcAft>
                <a:spcPts val="1000"/>
              </a:spcAft>
              <a:buClr>
                <a:schemeClr val="dk2"/>
              </a:buClr>
              <a:buSzPts val="1600"/>
              <a:buFont typeface="Roboto Serif"/>
              <a:buChar char="●"/>
            </a:pPr>
            <a:r>
              <a:rPr lang="es" sz="1600">
                <a:solidFill>
                  <a:schemeClr val="dk2"/>
                </a:solidFill>
                <a:latin typeface="Roboto Serif"/>
                <a:ea typeface="Roboto Serif"/>
                <a:cs typeface="Roboto Serif"/>
                <a:sym typeface="Roboto Serif"/>
              </a:rPr>
              <a:t>Una </a:t>
            </a:r>
            <a:r>
              <a:rPr lang="es" sz="1600" u="sng">
                <a:solidFill>
                  <a:schemeClr val="dk2"/>
                </a:solidFill>
                <a:latin typeface="Roboto Serif"/>
                <a:ea typeface="Roboto Serif"/>
                <a:cs typeface="Roboto Serif"/>
                <a:sym typeface="Roboto Serif"/>
              </a:rPr>
              <a:t>función asignada a ese objeto</a:t>
            </a:r>
            <a:r>
              <a:rPr lang="es" sz="1600">
                <a:solidFill>
                  <a:schemeClr val="dk2"/>
                </a:solidFill>
                <a:latin typeface="Roboto Serif"/>
                <a:ea typeface="Roboto Serif"/>
                <a:cs typeface="Roboto Serif"/>
                <a:sym typeface="Roboto Serif"/>
              </a:rPr>
              <a:t> que realice una acción cada vez que el objeto reciba una señal de ese evento.</a:t>
            </a:r>
            <a:endParaRPr sz="1800">
              <a:solidFill>
                <a:schemeClr val="dk2"/>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1"/>
          <p:cNvSpPr txBox="1"/>
          <p:nvPr>
            <p:ph type="title"/>
          </p:nvPr>
        </p:nvSpPr>
        <p:spPr>
          <a:xfrm>
            <a:off x="311700" y="333800"/>
            <a:ext cx="8520600" cy="95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Escuchando un evento</a:t>
            </a:r>
            <a:endParaRPr/>
          </a:p>
        </p:txBody>
      </p:sp>
      <p:sp>
        <p:nvSpPr>
          <p:cNvPr id="308" name="Google Shape;308;p41"/>
          <p:cNvSpPr txBox="1"/>
          <p:nvPr>
            <p:ph idx="1" type="body"/>
          </p:nvPr>
        </p:nvSpPr>
        <p:spPr>
          <a:xfrm>
            <a:off x="311700" y="1320200"/>
            <a:ext cx="8520600" cy="18435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500" u="sng"/>
              <a:t>Ejemplo:</a:t>
            </a:r>
            <a:r>
              <a:rPr lang="es" sz="1500"/>
              <a:t> </a:t>
            </a:r>
            <a:r>
              <a:rPr lang="es" sz="1500">
                <a:highlight>
                  <a:srgbClr val="E6DB74"/>
                </a:highlight>
              </a:rPr>
              <a:t>mostrar una alerta</a:t>
            </a:r>
            <a:r>
              <a:rPr lang="es" sz="1500"/>
              <a:t> cada vez que se </a:t>
            </a:r>
            <a:r>
              <a:rPr lang="es" sz="1500">
                <a:highlight>
                  <a:srgbClr val="A6E22E"/>
                </a:highlight>
              </a:rPr>
              <a:t>haga click en</a:t>
            </a:r>
            <a:r>
              <a:rPr lang="es" sz="1500"/>
              <a:t> un </a:t>
            </a:r>
            <a:r>
              <a:rPr b="1" lang="es" sz="1500">
                <a:solidFill>
                  <a:srgbClr val="FD971F"/>
                </a:solidFill>
              </a:rPr>
              <a:t>botón</a:t>
            </a:r>
            <a:endParaRPr b="1" sz="1500">
              <a:solidFill>
                <a:srgbClr val="FD971F"/>
              </a:solidFill>
            </a:endParaRPr>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rPr lang="es" sz="1500"/>
              <a:t>HTML:</a:t>
            </a:r>
            <a:endParaRPr sz="1500"/>
          </a:p>
          <a:p>
            <a:pPr indent="0" lvl="0" marL="0" rtl="0" algn="l">
              <a:lnSpc>
                <a:spcPct val="115000"/>
              </a:lnSpc>
              <a:spcBef>
                <a:spcPts val="0"/>
              </a:spcBef>
              <a:spcAft>
                <a:spcPts val="0"/>
              </a:spcAft>
              <a:buNone/>
            </a:pPr>
            <a:r>
              <a:rPr lang="es" sz="1500"/>
              <a:t>			</a:t>
            </a:r>
            <a:r>
              <a:rPr b="1" lang="es" sz="1500">
                <a:latin typeface="Roboto Mono"/>
                <a:ea typeface="Roboto Mono"/>
                <a:cs typeface="Roboto Mono"/>
                <a:sym typeface="Roboto Mono"/>
              </a:rPr>
              <a:t>&lt;button </a:t>
            </a:r>
            <a:r>
              <a:rPr b="1" lang="es" sz="1500">
                <a:solidFill>
                  <a:srgbClr val="FD971F"/>
                </a:solidFill>
                <a:latin typeface="Roboto Mono"/>
                <a:ea typeface="Roboto Mono"/>
                <a:cs typeface="Roboto Mono"/>
                <a:sym typeface="Roboto Mono"/>
              </a:rPr>
              <a:t>id=</a:t>
            </a:r>
            <a:r>
              <a:rPr b="1" lang="es" sz="1500">
                <a:solidFill>
                  <a:srgbClr val="FF9900"/>
                </a:solidFill>
                <a:latin typeface="Roboto Mono"/>
                <a:ea typeface="Roboto Mono"/>
                <a:cs typeface="Roboto Mono"/>
                <a:sym typeface="Roboto Mono"/>
              </a:rPr>
              <a:t>"alerta"</a:t>
            </a:r>
            <a:r>
              <a:rPr b="1" lang="es" sz="1500">
                <a:latin typeface="Roboto Mono"/>
                <a:ea typeface="Roboto Mono"/>
                <a:cs typeface="Roboto Mono"/>
                <a:sym typeface="Roboto Mono"/>
              </a:rPr>
              <a:t>&gt;Pulse aquí!&lt;/button&gt;</a:t>
            </a:r>
            <a:endParaRPr b="1" sz="1500">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lang="es" sz="1500"/>
              <a:t>JavaScript:</a:t>
            </a:r>
            <a:endParaRPr b="1" sz="1500">
              <a:latin typeface="Roboto Mono"/>
              <a:ea typeface="Roboto Mono"/>
              <a:cs typeface="Roboto Mono"/>
              <a:sym typeface="Roboto Mono"/>
            </a:endParaRPr>
          </a:p>
        </p:txBody>
      </p:sp>
      <p:sp>
        <p:nvSpPr>
          <p:cNvPr id="309" name="Google Shape;309;p41"/>
          <p:cNvSpPr txBox="1"/>
          <p:nvPr/>
        </p:nvSpPr>
        <p:spPr>
          <a:xfrm>
            <a:off x="1727650" y="2899525"/>
            <a:ext cx="7175100" cy="134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500">
                <a:solidFill>
                  <a:schemeClr val="dk2"/>
                </a:solidFill>
                <a:latin typeface="Roboto Mono"/>
                <a:ea typeface="Roboto Mono"/>
                <a:cs typeface="Roboto Mono"/>
                <a:sym typeface="Roboto Mono"/>
              </a:rPr>
              <a:t>const botonAlerta = document.</a:t>
            </a:r>
            <a:r>
              <a:rPr b="1" lang="es" sz="1500">
                <a:solidFill>
                  <a:srgbClr val="FD971F"/>
                </a:solidFill>
                <a:latin typeface="Roboto Mono"/>
                <a:ea typeface="Roboto Mono"/>
                <a:cs typeface="Roboto Mono"/>
                <a:sym typeface="Roboto Mono"/>
              </a:rPr>
              <a:t>getElementById</a:t>
            </a:r>
            <a:r>
              <a:rPr b="1" lang="es" sz="1500">
                <a:solidFill>
                  <a:srgbClr val="FF9900"/>
                </a:solidFill>
                <a:latin typeface="Roboto Mono"/>
                <a:ea typeface="Roboto Mono"/>
                <a:cs typeface="Roboto Mono"/>
                <a:sym typeface="Roboto Mono"/>
              </a:rPr>
              <a:t>("alerta")</a:t>
            </a:r>
            <a:endParaRPr b="1" sz="1500">
              <a:solidFill>
                <a:srgbClr val="FF9900"/>
              </a:solidFill>
              <a:latin typeface="Roboto Mono"/>
              <a:ea typeface="Roboto Mono"/>
              <a:cs typeface="Roboto Mono"/>
              <a:sym typeface="Roboto Mono"/>
            </a:endParaRPr>
          </a:p>
          <a:p>
            <a:pPr indent="0" lvl="0" marL="0" rtl="0" algn="l">
              <a:lnSpc>
                <a:spcPct val="115000"/>
              </a:lnSpc>
              <a:spcBef>
                <a:spcPts val="1000"/>
              </a:spcBef>
              <a:spcAft>
                <a:spcPts val="0"/>
              </a:spcAft>
              <a:buNone/>
            </a:pPr>
            <a:r>
              <a:rPr b="1" lang="es" sz="1500">
                <a:solidFill>
                  <a:schemeClr val="dk2"/>
                </a:solidFill>
                <a:latin typeface="Roboto Mono"/>
                <a:ea typeface="Roboto Mono"/>
                <a:cs typeface="Roboto Mono"/>
                <a:sym typeface="Roboto Mono"/>
              </a:rPr>
              <a:t>botonAlerta.</a:t>
            </a:r>
            <a:r>
              <a:rPr b="1" lang="es" sz="1500">
                <a:solidFill>
                  <a:schemeClr val="dk2"/>
                </a:solidFill>
                <a:highlight>
                  <a:srgbClr val="A6E22E"/>
                </a:highlight>
                <a:latin typeface="Roboto Mono"/>
                <a:ea typeface="Roboto Mono"/>
                <a:cs typeface="Roboto Mono"/>
                <a:sym typeface="Roboto Mono"/>
              </a:rPr>
              <a:t>addEventListener</a:t>
            </a:r>
            <a:r>
              <a:rPr b="1" lang="es" sz="1500">
                <a:solidFill>
                  <a:schemeClr val="dk2"/>
                </a:solidFill>
                <a:latin typeface="Roboto Mono"/>
                <a:ea typeface="Roboto Mono"/>
                <a:cs typeface="Roboto Mono"/>
                <a:sym typeface="Roboto Mono"/>
              </a:rPr>
              <a:t>(</a:t>
            </a:r>
            <a:r>
              <a:rPr b="1" lang="es" sz="1500">
                <a:solidFill>
                  <a:schemeClr val="dk2"/>
                </a:solidFill>
                <a:highlight>
                  <a:srgbClr val="A6E22E"/>
                </a:highlight>
                <a:latin typeface="Roboto Mono"/>
                <a:ea typeface="Roboto Mono"/>
                <a:cs typeface="Roboto Mono"/>
                <a:sym typeface="Roboto Mono"/>
              </a:rPr>
              <a:t>"click"</a:t>
            </a:r>
            <a:r>
              <a:rPr b="1" lang="es" sz="1500">
                <a:solidFill>
                  <a:schemeClr val="dk2"/>
                </a:solidFill>
                <a:latin typeface="Roboto Mono"/>
                <a:ea typeface="Roboto Mono"/>
                <a:cs typeface="Roboto Mono"/>
                <a:sym typeface="Roboto Mono"/>
              </a:rPr>
              <a:t>,</a:t>
            </a:r>
            <a:r>
              <a:rPr b="1" lang="es" sz="1500">
                <a:solidFill>
                  <a:schemeClr val="dk2"/>
                </a:solidFill>
                <a:highlight>
                  <a:srgbClr val="E6DB74"/>
                </a:highlight>
                <a:latin typeface="Roboto Mono"/>
                <a:ea typeface="Roboto Mono"/>
                <a:cs typeface="Roboto Mono"/>
                <a:sym typeface="Roboto Mono"/>
              </a:rPr>
              <a:t>function(event) {</a:t>
            </a:r>
            <a:endParaRPr b="1" sz="1500">
              <a:solidFill>
                <a:schemeClr val="dk2"/>
              </a:solidFill>
              <a:highlight>
                <a:srgbClr val="E6DB74"/>
              </a:highlight>
              <a:latin typeface="Roboto Mono"/>
              <a:ea typeface="Roboto Mono"/>
              <a:cs typeface="Roboto Mono"/>
              <a:sym typeface="Roboto Mono"/>
            </a:endParaRPr>
          </a:p>
          <a:p>
            <a:pPr indent="457200" lvl="0" marL="0" rtl="0" algn="l">
              <a:lnSpc>
                <a:spcPct val="115000"/>
              </a:lnSpc>
              <a:spcBef>
                <a:spcPts val="0"/>
              </a:spcBef>
              <a:spcAft>
                <a:spcPts val="0"/>
              </a:spcAft>
              <a:buNone/>
            </a:pPr>
            <a:r>
              <a:rPr b="1" lang="es" sz="1500">
                <a:solidFill>
                  <a:schemeClr val="dk2"/>
                </a:solidFill>
                <a:highlight>
                  <a:srgbClr val="E6DB74"/>
                </a:highlight>
                <a:latin typeface="Roboto Mono"/>
                <a:ea typeface="Roboto Mono"/>
                <a:cs typeface="Roboto Mono"/>
                <a:sym typeface="Roboto Mono"/>
              </a:rPr>
              <a:t>alert("Hola mundo!")</a:t>
            </a:r>
            <a:endParaRPr b="1" sz="1500">
              <a:solidFill>
                <a:schemeClr val="dk2"/>
              </a:solidFill>
              <a:highlight>
                <a:srgbClr val="E6DB74"/>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 sz="1500">
                <a:solidFill>
                  <a:schemeClr val="dk2"/>
                </a:solidFill>
                <a:highlight>
                  <a:srgbClr val="E6DB74"/>
                </a:highlight>
                <a:latin typeface="Roboto Mono"/>
                <a:ea typeface="Roboto Mono"/>
                <a:cs typeface="Roboto Mono"/>
                <a:sym typeface="Roboto Mono"/>
              </a:rPr>
              <a:t>}</a:t>
            </a:r>
            <a:r>
              <a:rPr b="1" lang="es" sz="1500">
                <a:solidFill>
                  <a:schemeClr val="dk2"/>
                </a:solidFill>
                <a:latin typeface="Roboto Mono"/>
                <a:ea typeface="Roboto Mono"/>
                <a:cs typeface="Roboto Mono"/>
                <a:sym typeface="Roboto Mono"/>
              </a:rPr>
              <a:t>)</a:t>
            </a:r>
            <a:endParaRPr sz="1800">
              <a:solidFill>
                <a:schemeClr val="dk2"/>
              </a:solidFill>
              <a:latin typeface="Roboto Serif"/>
              <a:ea typeface="Roboto Serif"/>
              <a:cs typeface="Roboto Serif"/>
              <a:sym typeface="Roboto Serif"/>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2"/>
          <p:cNvSpPr txBox="1"/>
          <p:nvPr>
            <p:ph type="title"/>
          </p:nvPr>
        </p:nvSpPr>
        <p:spPr>
          <a:xfrm>
            <a:off x="311700" y="333800"/>
            <a:ext cx="8520600" cy="66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Escuchando un evento (op. 2)</a:t>
            </a:r>
            <a:endParaRPr/>
          </a:p>
        </p:txBody>
      </p:sp>
      <p:sp>
        <p:nvSpPr>
          <p:cNvPr id="315" name="Google Shape;315;p42"/>
          <p:cNvSpPr txBox="1"/>
          <p:nvPr>
            <p:ph idx="1" type="body"/>
          </p:nvPr>
        </p:nvSpPr>
        <p:spPr>
          <a:xfrm>
            <a:off x="311700" y="1320200"/>
            <a:ext cx="8520600" cy="2884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s" sz="1500"/>
              <a:t>(Otra forma de resolverlo)</a:t>
            </a:r>
            <a:endParaRPr b="1" sz="1500"/>
          </a:p>
          <a:p>
            <a:pPr indent="0" lvl="0" marL="0" rtl="0" algn="l">
              <a:lnSpc>
                <a:spcPct val="115000"/>
              </a:lnSpc>
              <a:spcBef>
                <a:spcPts val="0"/>
              </a:spcBef>
              <a:spcAft>
                <a:spcPts val="0"/>
              </a:spcAft>
              <a:buNone/>
            </a:pPr>
            <a:r>
              <a:t/>
            </a:r>
            <a:endParaRPr sz="1200"/>
          </a:p>
          <a:p>
            <a:pPr indent="0" lvl="0" marL="0" rtl="0" algn="l">
              <a:lnSpc>
                <a:spcPct val="115000"/>
              </a:lnSpc>
              <a:spcBef>
                <a:spcPts val="0"/>
              </a:spcBef>
              <a:spcAft>
                <a:spcPts val="0"/>
              </a:spcAft>
              <a:buNone/>
            </a:pPr>
            <a:r>
              <a:rPr lang="es" sz="1500"/>
              <a:t>HTML:</a:t>
            </a:r>
            <a:endParaRPr sz="1500"/>
          </a:p>
          <a:p>
            <a:pPr indent="0" lvl="0" marL="0" rtl="0" algn="l">
              <a:lnSpc>
                <a:spcPct val="115000"/>
              </a:lnSpc>
              <a:spcBef>
                <a:spcPts val="0"/>
              </a:spcBef>
              <a:spcAft>
                <a:spcPts val="0"/>
              </a:spcAft>
              <a:buNone/>
            </a:pPr>
            <a:r>
              <a:rPr lang="es" sz="1500"/>
              <a:t>			</a:t>
            </a:r>
            <a:r>
              <a:rPr b="1" lang="es" sz="1500">
                <a:latin typeface="Roboto Mono"/>
                <a:ea typeface="Roboto Mono"/>
                <a:cs typeface="Roboto Mono"/>
                <a:sym typeface="Roboto Mono"/>
              </a:rPr>
              <a:t>&lt;button </a:t>
            </a:r>
            <a:r>
              <a:rPr b="1" lang="es" sz="1500">
                <a:solidFill>
                  <a:srgbClr val="FD971F"/>
                </a:solidFill>
                <a:latin typeface="Roboto Mono"/>
                <a:ea typeface="Roboto Mono"/>
                <a:cs typeface="Roboto Mono"/>
                <a:sym typeface="Roboto Mono"/>
              </a:rPr>
              <a:t>id=</a:t>
            </a:r>
            <a:r>
              <a:rPr b="1" lang="es" sz="1500">
                <a:solidFill>
                  <a:srgbClr val="FF9900"/>
                </a:solidFill>
                <a:latin typeface="Roboto Mono"/>
                <a:ea typeface="Roboto Mono"/>
                <a:cs typeface="Roboto Mono"/>
                <a:sym typeface="Roboto Mono"/>
              </a:rPr>
              <a:t>"alerta"</a:t>
            </a:r>
            <a:r>
              <a:rPr b="1" lang="es" sz="1500">
                <a:latin typeface="Roboto Mono"/>
                <a:ea typeface="Roboto Mono"/>
                <a:cs typeface="Roboto Mono"/>
                <a:sym typeface="Roboto Mono"/>
              </a:rPr>
              <a:t>&gt;Pulse aquí!&lt;/button&gt;</a:t>
            </a:r>
            <a:endParaRPr b="1" sz="1500">
              <a:latin typeface="Roboto Mono"/>
              <a:ea typeface="Roboto Mono"/>
              <a:cs typeface="Roboto Mono"/>
              <a:sym typeface="Roboto Mono"/>
            </a:endParaRPr>
          </a:p>
          <a:p>
            <a:pPr indent="0" lvl="0" marL="0" rtl="0" algn="l">
              <a:lnSpc>
                <a:spcPct val="115000"/>
              </a:lnSpc>
              <a:spcBef>
                <a:spcPts val="0"/>
              </a:spcBef>
              <a:spcAft>
                <a:spcPts val="0"/>
              </a:spcAft>
              <a:buNone/>
            </a:pPr>
            <a:r>
              <a:t/>
            </a:r>
            <a:endParaRPr sz="1000"/>
          </a:p>
          <a:p>
            <a:pPr indent="0" lvl="0" marL="0" rtl="0" algn="l">
              <a:lnSpc>
                <a:spcPct val="115000"/>
              </a:lnSpc>
              <a:spcBef>
                <a:spcPts val="0"/>
              </a:spcBef>
              <a:spcAft>
                <a:spcPts val="0"/>
              </a:spcAft>
              <a:buNone/>
            </a:pPr>
            <a:r>
              <a:rPr lang="es" sz="1500"/>
              <a:t>JavaScript:</a:t>
            </a:r>
            <a:endParaRPr sz="1500"/>
          </a:p>
          <a:p>
            <a:pPr indent="0" lvl="0" marL="0" rtl="0" algn="l">
              <a:lnSpc>
                <a:spcPct val="150000"/>
              </a:lnSpc>
              <a:spcBef>
                <a:spcPts val="0"/>
              </a:spcBef>
              <a:spcAft>
                <a:spcPts val="0"/>
              </a:spcAft>
              <a:buNone/>
            </a:pPr>
            <a:r>
              <a:rPr lang="es" sz="1500"/>
              <a:t>			</a:t>
            </a:r>
            <a:r>
              <a:rPr b="1" lang="es" sz="1500">
                <a:latin typeface="Roboto Mono"/>
                <a:ea typeface="Roboto Mono"/>
                <a:cs typeface="Roboto Mono"/>
                <a:sym typeface="Roboto Mono"/>
              </a:rPr>
              <a:t>const botonAlerta = document.</a:t>
            </a:r>
            <a:r>
              <a:rPr b="1" lang="es" sz="1500">
                <a:solidFill>
                  <a:srgbClr val="FD971F"/>
                </a:solidFill>
                <a:latin typeface="Roboto Mono"/>
                <a:ea typeface="Roboto Mono"/>
                <a:cs typeface="Roboto Mono"/>
                <a:sym typeface="Roboto Mono"/>
              </a:rPr>
              <a:t>getElementById("alerta")</a:t>
            </a:r>
            <a:endParaRPr b="1" sz="1500">
              <a:solidFill>
                <a:srgbClr val="FD971F"/>
              </a:solidFill>
              <a:latin typeface="Roboto Mono"/>
              <a:ea typeface="Roboto Mono"/>
              <a:cs typeface="Roboto Mono"/>
              <a:sym typeface="Roboto Mono"/>
            </a:endParaRPr>
          </a:p>
          <a:p>
            <a:pPr indent="0" lvl="0" marL="0" rtl="0" algn="l">
              <a:lnSpc>
                <a:spcPct val="115000"/>
              </a:lnSpc>
              <a:spcBef>
                <a:spcPts val="0"/>
              </a:spcBef>
              <a:spcAft>
                <a:spcPts val="0"/>
              </a:spcAft>
              <a:buNone/>
            </a:pPr>
            <a:r>
              <a:rPr b="1" lang="es" sz="1500">
                <a:latin typeface="Roboto Mono"/>
                <a:ea typeface="Roboto Mono"/>
                <a:cs typeface="Roboto Mono"/>
                <a:sym typeface="Roboto Mono"/>
              </a:rPr>
              <a:t>			botonAlerta.</a:t>
            </a:r>
            <a:r>
              <a:rPr b="1" lang="es" sz="1500">
                <a:highlight>
                  <a:srgbClr val="A6E22E"/>
                </a:highlight>
                <a:latin typeface="Roboto Mono"/>
                <a:ea typeface="Roboto Mono"/>
                <a:cs typeface="Roboto Mono"/>
                <a:sym typeface="Roboto Mono"/>
              </a:rPr>
              <a:t>onclick</a:t>
            </a:r>
            <a:r>
              <a:rPr b="1" lang="es" sz="1500">
                <a:latin typeface="Roboto Mono"/>
                <a:ea typeface="Roboto Mono"/>
                <a:cs typeface="Roboto Mono"/>
                <a:sym typeface="Roboto Mono"/>
              </a:rPr>
              <a:t> = </a:t>
            </a:r>
            <a:r>
              <a:rPr b="1" lang="es" sz="1500">
                <a:highlight>
                  <a:srgbClr val="E6DB74"/>
                </a:highlight>
                <a:latin typeface="Roboto Mono"/>
                <a:ea typeface="Roboto Mono"/>
                <a:cs typeface="Roboto Mono"/>
                <a:sym typeface="Roboto Mono"/>
              </a:rPr>
              <a:t>function(event) {</a:t>
            </a:r>
            <a:endParaRPr b="1" sz="1500">
              <a:highlight>
                <a:srgbClr val="E6DB74"/>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 sz="1500">
                <a:highlight>
                  <a:srgbClr val="E6DB74"/>
                </a:highlight>
                <a:latin typeface="Roboto Mono"/>
                <a:ea typeface="Roboto Mono"/>
                <a:cs typeface="Roboto Mono"/>
                <a:sym typeface="Roboto Mono"/>
              </a:rPr>
              <a:t>				alert("Hola mundo!")</a:t>
            </a:r>
            <a:endParaRPr b="1" sz="1500">
              <a:highlight>
                <a:srgbClr val="E6DB74"/>
              </a:highlight>
              <a:latin typeface="Roboto Mono"/>
              <a:ea typeface="Roboto Mono"/>
              <a:cs typeface="Roboto Mono"/>
              <a:sym typeface="Roboto Mono"/>
            </a:endParaRPr>
          </a:p>
          <a:p>
            <a:pPr indent="0" lvl="0" marL="0" rtl="0" algn="l">
              <a:lnSpc>
                <a:spcPct val="115000"/>
              </a:lnSpc>
              <a:spcBef>
                <a:spcPts val="0"/>
              </a:spcBef>
              <a:spcAft>
                <a:spcPts val="0"/>
              </a:spcAft>
              <a:buNone/>
            </a:pPr>
            <a:r>
              <a:rPr b="1" lang="es" sz="1500">
                <a:highlight>
                  <a:srgbClr val="E6DB74"/>
                </a:highlight>
                <a:latin typeface="Roboto Mono"/>
                <a:ea typeface="Roboto Mono"/>
                <a:cs typeface="Roboto Mono"/>
                <a:sym typeface="Roboto Mono"/>
              </a:rPr>
              <a:t>			}</a:t>
            </a:r>
            <a:endParaRPr b="1" sz="1500">
              <a:highlight>
                <a:srgbClr val="E6DB74"/>
              </a:highlight>
              <a:latin typeface="Roboto Mono"/>
              <a:ea typeface="Roboto Mono"/>
              <a:cs typeface="Roboto Mono"/>
              <a:sym typeface="Roboto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Importando scripts en nuestra página Web</a:t>
            </a:r>
            <a:endParaRPr/>
          </a:p>
        </p:txBody>
      </p:sp>
      <p:sp>
        <p:nvSpPr>
          <p:cNvPr id="321" name="Google Shape;321;p43"/>
          <p:cNvSpPr txBox="1"/>
          <p:nvPr>
            <p:ph idx="1" type="body"/>
          </p:nvPr>
        </p:nvSpPr>
        <p:spPr>
          <a:xfrm>
            <a:off x="311700" y="1352850"/>
            <a:ext cx="8520600" cy="3156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a:t>Existen 2 formas de importar código JavaScript a nuestro documento HTML:</a:t>
            </a:r>
            <a:endParaRPr/>
          </a:p>
          <a:p>
            <a:pPr indent="0" lvl="0" marL="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s" u="sng"/>
              <a:t>Insertando el código</a:t>
            </a:r>
            <a:r>
              <a:rPr lang="es"/>
              <a:t> dentro del elemento </a:t>
            </a:r>
            <a:r>
              <a:rPr b="1" lang="es">
                <a:latin typeface="Roboto Mono"/>
                <a:ea typeface="Roboto Mono"/>
                <a:cs typeface="Roboto Mono"/>
                <a:sym typeface="Roboto Mono"/>
              </a:rPr>
              <a:t>&lt;script&gt;</a:t>
            </a:r>
            <a:endParaRPr i="1"/>
          </a:p>
          <a:p>
            <a:pPr indent="-342900" lvl="0" marL="457200" rtl="0" algn="l">
              <a:lnSpc>
                <a:spcPct val="115000"/>
              </a:lnSpc>
              <a:spcBef>
                <a:spcPts val="0"/>
              </a:spcBef>
              <a:spcAft>
                <a:spcPts val="0"/>
              </a:spcAft>
              <a:buSzPts val="1800"/>
              <a:buChar char="●"/>
            </a:pPr>
            <a:r>
              <a:rPr lang="es" u="sng"/>
              <a:t>Enlazando un archivo .js</a:t>
            </a:r>
            <a:r>
              <a:rPr lang="es"/>
              <a:t> en el atributo </a:t>
            </a:r>
            <a:r>
              <a:rPr b="1" lang="es">
                <a:latin typeface="Roboto Mono"/>
                <a:ea typeface="Roboto Mono"/>
                <a:cs typeface="Roboto Mono"/>
                <a:sym typeface="Roboto Mono"/>
              </a:rPr>
              <a:t>src</a:t>
            </a:r>
            <a:r>
              <a:rPr lang="es"/>
              <a:t> de la etiqueta </a:t>
            </a:r>
            <a:r>
              <a:rPr b="1" lang="es">
                <a:latin typeface="Roboto Mono"/>
                <a:ea typeface="Roboto Mono"/>
                <a:cs typeface="Roboto Mono"/>
                <a:sym typeface="Roboto Mono"/>
              </a:rPr>
              <a:t>&lt;script&gt;</a:t>
            </a:r>
            <a:endParaRPr b="1">
              <a:latin typeface="Roboto Mono"/>
              <a:ea typeface="Roboto Mono"/>
              <a:cs typeface="Roboto Mono"/>
              <a:sym typeface="Roboto Mono"/>
            </a:endParaRPr>
          </a:p>
          <a:p>
            <a:pPr indent="0" lvl="0" marL="0" rtl="0" algn="l">
              <a:lnSpc>
                <a:spcPct val="115000"/>
              </a:lnSpc>
              <a:spcBef>
                <a:spcPts val="0"/>
              </a:spcBef>
              <a:spcAft>
                <a:spcPts val="0"/>
              </a:spcAft>
              <a:buNone/>
            </a:pPr>
            <a:r>
              <a:t/>
            </a:r>
            <a:endParaRPr b="1">
              <a:latin typeface="Roboto Mono"/>
              <a:ea typeface="Roboto Mono"/>
              <a:cs typeface="Roboto Mono"/>
              <a:sym typeface="Roboto Mono"/>
            </a:endParaRPr>
          </a:p>
          <a:p>
            <a:pPr indent="0" lvl="0" marL="0" rtl="0" algn="l">
              <a:lnSpc>
                <a:spcPct val="115000"/>
              </a:lnSpc>
              <a:spcBef>
                <a:spcPts val="0"/>
              </a:spcBef>
              <a:spcAft>
                <a:spcPts val="0"/>
              </a:spcAft>
              <a:buNone/>
            </a:pPr>
            <a:r>
              <a:t/>
            </a:r>
            <a:endParaRPr b="1">
              <a:latin typeface="Roboto Mono"/>
              <a:ea typeface="Roboto Mono"/>
              <a:cs typeface="Roboto Mono"/>
              <a:sym typeface="Roboto Mono"/>
            </a:endParaRPr>
          </a:p>
          <a:p>
            <a:pPr indent="0" lvl="0" marL="0" rtl="0" algn="l">
              <a:lnSpc>
                <a:spcPct val="115000"/>
              </a:lnSpc>
              <a:spcBef>
                <a:spcPts val="0"/>
              </a:spcBef>
              <a:spcAft>
                <a:spcPts val="0"/>
              </a:spcAft>
              <a:buNone/>
            </a:pPr>
            <a:r>
              <a:rPr lang="es"/>
              <a:t>La etiqueta </a:t>
            </a:r>
            <a:r>
              <a:rPr b="1" lang="es">
                <a:latin typeface="Roboto Mono"/>
                <a:ea typeface="Roboto Mono"/>
                <a:cs typeface="Roboto Mono"/>
                <a:sym typeface="Roboto Mono"/>
              </a:rPr>
              <a:t>&lt;script&gt;</a:t>
            </a:r>
            <a:r>
              <a:rPr lang="es"/>
              <a:t> se coloca al final del </a:t>
            </a:r>
            <a:r>
              <a:rPr i="1" lang="es"/>
              <a:t>body</a:t>
            </a:r>
            <a:endParaRPr/>
          </a:p>
          <a:p>
            <a:pPr indent="0" lvl="0" marL="0" rtl="0" algn="l">
              <a:lnSpc>
                <a:spcPct val="115000"/>
              </a:lnSpc>
              <a:spcBef>
                <a:spcPts val="0"/>
              </a:spcBef>
              <a:spcAft>
                <a:spcPts val="0"/>
              </a:spcAft>
              <a:buNone/>
            </a:pPr>
            <a:r>
              <a:t/>
            </a:r>
            <a:endParaRPr b="1">
              <a:latin typeface="Roboto Mono"/>
              <a:ea typeface="Roboto Mono"/>
              <a:cs typeface="Roboto Mono"/>
              <a:sym typeface="Roboto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Importando scripts en nuestra página Web</a:t>
            </a:r>
            <a:endParaRPr/>
          </a:p>
        </p:txBody>
      </p:sp>
      <p:sp>
        <p:nvSpPr>
          <p:cNvPr id="327" name="Google Shape;327;p44"/>
          <p:cNvSpPr txBox="1"/>
          <p:nvPr>
            <p:ph idx="1" type="body"/>
          </p:nvPr>
        </p:nvSpPr>
        <p:spPr>
          <a:xfrm>
            <a:off x="381800" y="1414150"/>
            <a:ext cx="4569000" cy="2818200"/>
          </a:xfrm>
          <a:prstGeom prst="rect">
            <a:avLst/>
          </a:prstGeom>
          <a:solidFill>
            <a:srgbClr val="202122"/>
          </a:solidFill>
        </p:spPr>
        <p:txBody>
          <a:bodyPr anchorCtr="0" anchor="t" bIns="91425" lIns="91425" spcFirstLastPara="1" rIns="91425" wrap="square" tIns="91425">
            <a:noAutofit/>
          </a:bodyPr>
          <a:lstStyle/>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&lt;!</a:t>
            </a:r>
            <a:r>
              <a:rPr lang="es" sz="900">
                <a:solidFill>
                  <a:srgbClr val="F92672"/>
                </a:solidFill>
                <a:highlight>
                  <a:srgbClr val="1F1F1F"/>
                </a:highlight>
                <a:latin typeface="Roboto Mono"/>
                <a:ea typeface="Roboto Mono"/>
                <a:cs typeface="Roboto Mono"/>
                <a:sym typeface="Roboto Mono"/>
              </a:rPr>
              <a:t>DOCTYPE</a:t>
            </a:r>
            <a:r>
              <a:rPr lang="es" sz="900">
                <a:solidFill>
                  <a:srgbClr val="DDDDDD"/>
                </a:solidFill>
                <a:highlight>
                  <a:srgbClr val="1F1F1F"/>
                </a:highlight>
                <a:latin typeface="Roboto Mono"/>
                <a:ea typeface="Roboto Mono"/>
                <a:cs typeface="Roboto Mono"/>
                <a:sym typeface="Roboto Mono"/>
              </a:rPr>
              <a:t> </a:t>
            </a:r>
            <a:r>
              <a:rPr lang="es" sz="900">
                <a:solidFill>
                  <a:srgbClr val="A6E22E"/>
                </a:solidFill>
                <a:highlight>
                  <a:srgbClr val="1F1F1F"/>
                </a:highlight>
                <a:latin typeface="Roboto Mono"/>
                <a:ea typeface="Roboto Mono"/>
                <a:cs typeface="Roboto Mono"/>
                <a:sym typeface="Roboto Mono"/>
              </a:rPr>
              <a:t>html</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&lt;</a:t>
            </a:r>
            <a:r>
              <a:rPr lang="es" sz="900">
                <a:solidFill>
                  <a:srgbClr val="F92672"/>
                </a:solidFill>
                <a:highlight>
                  <a:srgbClr val="1F1F1F"/>
                </a:highlight>
                <a:latin typeface="Roboto Mono"/>
                <a:ea typeface="Roboto Mono"/>
                <a:cs typeface="Roboto Mono"/>
                <a:sym typeface="Roboto Mono"/>
              </a:rPr>
              <a:t>html</a:t>
            </a:r>
            <a:r>
              <a:rPr lang="es" sz="900">
                <a:solidFill>
                  <a:srgbClr val="DDDDDD"/>
                </a:solidFill>
                <a:highlight>
                  <a:srgbClr val="1F1F1F"/>
                </a:highlight>
                <a:latin typeface="Roboto Mono"/>
                <a:ea typeface="Roboto Mono"/>
                <a:cs typeface="Roboto Mono"/>
                <a:sym typeface="Roboto Mono"/>
              </a:rPr>
              <a:t> </a:t>
            </a:r>
            <a:r>
              <a:rPr lang="es" sz="900">
                <a:solidFill>
                  <a:srgbClr val="A6E22E"/>
                </a:solidFill>
                <a:highlight>
                  <a:srgbClr val="1F1F1F"/>
                </a:highlight>
                <a:latin typeface="Roboto Mono"/>
                <a:ea typeface="Roboto Mono"/>
                <a:cs typeface="Roboto Mono"/>
                <a:sym typeface="Roboto Mono"/>
              </a:rPr>
              <a:t>lang</a:t>
            </a:r>
            <a:r>
              <a:rPr lang="es" sz="900">
                <a:solidFill>
                  <a:srgbClr val="DDDDDD"/>
                </a:solidFill>
                <a:highlight>
                  <a:srgbClr val="1F1F1F"/>
                </a:highlight>
                <a:latin typeface="Roboto Mono"/>
                <a:ea typeface="Roboto Mono"/>
                <a:cs typeface="Roboto Mono"/>
                <a:sym typeface="Roboto Mono"/>
              </a:rPr>
              <a:t>=</a:t>
            </a:r>
            <a:r>
              <a:rPr lang="es" sz="900">
                <a:solidFill>
                  <a:srgbClr val="E6DB74"/>
                </a:solidFill>
                <a:highlight>
                  <a:srgbClr val="1F1F1F"/>
                </a:highlight>
                <a:latin typeface="Roboto Mono"/>
                <a:ea typeface="Roboto Mono"/>
                <a:cs typeface="Roboto Mono"/>
                <a:sym typeface="Roboto Mono"/>
              </a:rPr>
              <a:t>"es"</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&lt;</a:t>
            </a:r>
            <a:r>
              <a:rPr lang="es" sz="900">
                <a:solidFill>
                  <a:srgbClr val="F92672"/>
                </a:solidFill>
                <a:highlight>
                  <a:srgbClr val="1F1F1F"/>
                </a:highlight>
                <a:latin typeface="Roboto Mono"/>
                <a:ea typeface="Roboto Mono"/>
                <a:cs typeface="Roboto Mono"/>
                <a:sym typeface="Roboto Mono"/>
              </a:rPr>
              <a:t>head</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&lt;</a:t>
            </a:r>
            <a:r>
              <a:rPr lang="es" sz="900">
                <a:solidFill>
                  <a:srgbClr val="F92672"/>
                </a:solidFill>
                <a:highlight>
                  <a:srgbClr val="1F1F1F"/>
                </a:highlight>
                <a:latin typeface="Roboto Mono"/>
                <a:ea typeface="Roboto Mono"/>
                <a:cs typeface="Roboto Mono"/>
                <a:sym typeface="Roboto Mono"/>
              </a:rPr>
              <a:t>title</a:t>
            </a:r>
            <a:r>
              <a:rPr lang="es" sz="900">
                <a:solidFill>
                  <a:srgbClr val="DDDDDD"/>
                </a:solidFill>
                <a:highlight>
                  <a:srgbClr val="1F1F1F"/>
                </a:highlight>
                <a:latin typeface="Roboto Mono"/>
                <a:ea typeface="Roboto Mono"/>
                <a:cs typeface="Roboto Mono"/>
                <a:sym typeface="Roboto Mono"/>
              </a:rPr>
              <a:t>&gt;Mi página Web&lt;/</a:t>
            </a:r>
            <a:r>
              <a:rPr lang="es" sz="900">
                <a:solidFill>
                  <a:srgbClr val="F92672"/>
                </a:solidFill>
                <a:highlight>
                  <a:srgbClr val="1F1F1F"/>
                </a:highlight>
                <a:latin typeface="Roboto Mono"/>
                <a:ea typeface="Roboto Mono"/>
                <a:cs typeface="Roboto Mono"/>
                <a:sym typeface="Roboto Mono"/>
              </a:rPr>
              <a:t>title</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&lt;/</a:t>
            </a:r>
            <a:r>
              <a:rPr lang="es" sz="900">
                <a:solidFill>
                  <a:srgbClr val="F92672"/>
                </a:solidFill>
                <a:highlight>
                  <a:srgbClr val="1F1F1F"/>
                </a:highlight>
                <a:latin typeface="Roboto Mono"/>
                <a:ea typeface="Roboto Mono"/>
                <a:cs typeface="Roboto Mono"/>
                <a:sym typeface="Roboto Mono"/>
              </a:rPr>
              <a:t>head</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&lt;</a:t>
            </a:r>
            <a:r>
              <a:rPr lang="es" sz="900">
                <a:solidFill>
                  <a:srgbClr val="F92672"/>
                </a:solidFill>
                <a:highlight>
                  <a:srgbClr val="1F1F1F"/>
                </a:highlight>
                <a:latin typeface="Roboto Mono"/>
                <a:ea typeface="Roboto Mono"/>
                <a:cs typeface="Roboto Mono"/>
                <a:sym typeface="Roboto Mono"/>
              </a:rPr>
              <a:t>body</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    &lt;</a:t>
            </a:r>
            <a:r>
              <a:rPr lang="es" sz="900">
                <a:solidFill>
                  <a:srgbClr val="F92672"/>
                </a:solidFill>
                <a:highlight>
                  <a:srgbClr val="1F1F1F"/>
                </a:highlight>
                <a:latin typeface="Roboto Mono"/>
                <a:ea typeface="Roboto Mono"/>
                <a:cs typeface="Roboto Mono"/>
                <a:sym typeface="Roboto Mono"/>
              </a:rPr>
              <a:t>button</a:t>
            </a:r>
            <a:r>
              <a:rPr lang="es" sz="900">
                <a:solidFill>
                  <a:srgbClr val="DDDDDD"/>
                </a:solidFill>
                <a:highlight>
                  <a:srgbClr val="1F1F1F"/>
                </a:highlight>
                <a:latin typeface="Roboto Mono"/>
                <a:ea typeface="Roboto Mono"/>
                <a:cs typeface="Roboto Mono"/>
                <a:sym typeface="Roboto Mono"/>
              </a:rPr>
              <a:t> </a:t>
            </a:r>
            <a:r>
              <a:rPr lang="es" sz="900">
                <a:solidFill>
                  <a:srgbClr val="A6E22E"/>
                </a:solidFill>
                <a:highlight>
                  <a:srgbClr val="1F1F1F"/>
                </a:highlight>
                <a:latin typeface="Roboto Mono"/>
                <a:ea typeface="Roboto Mono"/>
                <a:cs typeface="Roboto Mono"/>
                <a:sym typeface="Roboto Mono"/>
              </a:rPr>
              <a:t>id</a:t>
            </a:r>
            <a:r>
              <a:rPr lang="es" sz="900">
                <a:solidFill>
                  <a:srgbClr val="DDDDDD"/>
                </a:solidFill>
                <a:highlight>
                  <a:srgbClr val="1F1F1F"/>
                </a:highlight>
                <a:latin typeface="Roboto Mono"/>
                <a:ea typeface="Roboto Mono"/>
                <a:cs typeface="Roboto Mono"/>
                <a:sym typeface="Roboto Mono"/>
              </a:rPr>
              <a:t>=</a:t>
            </a:r>
            <a:r>
              <a:rPr lang="es" sz="900">
                <a:solidFill>
                  <a:srgbClr val="E6DB74"/>
                </a:solidFill>
                <a:highlight>
                  <a:srgbClr val="1F1F1F"/>
                </a:highlight>
                <a:latin typeface="Roboto Mono"/>
                <a:ea typeface="Roboto Mono"/>
                <a:cs typeface="Roboto Mono"/>
                <a:sym typeface="Roboto Mono"/>
              </a:rPr>
              <a:t>"alerta"</a:t>
            </a:r>
            <a:r>
              <a:rPr lang="es" sz="900">
                <a:solidFill>
                  <a:srgbClr val="DDDDDD"/>
                </a:solidFill>
                <a:highlight>
                  <a:srgbClr val="1F1F1F"/>
                </a:highlight>
                <a:latin typeface="Roboto Mono"/>
                <a:ea typeface="Roboto Mono"/>
                <a:cs typeface="Roboto Mono"/>
                <a:sym typeface="Roboto Mono"/>
              </a:rPr>
              <a:t>&gt;Pulse aquí!&lt;/</a:t>
            </a:r>
            <a:r>
              <a:rPr lang="es" sz="900">
                <a:solidFill>
                  <a:srgbClr val="F92672"/>
                </a:solidFill>
                <a:highlight>
                  <a:srgbClr val="1F1F1F"/>
                </a:highlight>
                <a:latin typeface="Roboto Mono"/>
                <a:ea typeface="Roboto Mono"/>
                <a:cs typeface="Roboto Mono"/>
                <a:sym typeface="Roboto Mono"/>
              </a:rPr>
              <a:t>button</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434343"/>
                </a:highlight>
                <a:latin typeface="Roboto Mono"/>
                <a:ea typeface="Roboto Mono"/>
                <a:cs typeface="Roboto Mono"/>
                <a:sym typeface="Roboto Mono"/>
              </a:rPr>
              <a:t>    </a:t>
            </a:r>
            <a:r>
              <a:rPr lang="es" sz="900">
                <a:solidFill>
                  <a:srgbClr val="F8F8F2"/>
                </a:solidFill>
                <a:highlight>
                  <a:srgbClr val="434343"/>
                </a:highlight>
                <a:latin typeface="Roboto Mono"/>
                <a:ea typeface="Roboto Mono"/>
                <a:cs typeface="Roboto Mono"/>
                <a:sym typeface="Roboto Mono"/>
              </a:rPr>
              <a:t>&lt;</a:t>
            </a:r>
            <a:r>
              <a:rPr lang="es" sz="900">
                <a:solidFill>
                  <a:srgbClr val="F92672"/>
                </a:solidFill>
                <a:highlight>
                  <a:srgbClr val="434343"/>
                </a:highlight>
                <a:latin typeface="Roboto Mono"/>
                <a:ea typeface="Roboto Mono"/>
                <a:cs typeface="Roboto Mono"/>
                <a:sym typeface="Roboto Mono"/>
              </a:rPr>
              <a:t>script</a:t>
            </a:r>
            <a:r>
              <a:rPr lang="es" sz="900">
                <a:solidFill>
                  <a:srgbClr val="F8F8F2"/>
                </a:solidFill>
                <a:highlight>
                  <a:srgbClr val="434343"/>
                </a:highlight>
                <a:latin typeface="Roboto Mono"/>
                <a:ea typeface="Roboto Mono"/>
                <a:cs typeface="Roboto Mono"/>
                <a:sym typeface="Roboto Mono"/>
              </a:rPr>
              <a:t>&gt;</a:t>
            </a:r>
            <a:endParaRPr sz="900">
              <a:solidFill>
                <a:srgbClr val="F8F8F2"/>
              </a:solidFill>
              <a:highlight>
                <a:srgbClr val="434343"/>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F8F8F2"/>
                </a:solidFill>
                <a:highlight>
                  <a:srgbClr val="434343"/>
                </a:highlight>
                <a:latin typeface="Roboto Mono"/>
                <a:ea typeface="Roboto Mono"/>
                <a:cs typeface="Roboto Mono"/>
                <a:sym typeface="Roboto Mono"/>
              </a:rPr>
              <a:t>        </a:t>
            </a:r>
            <a:r>
              <a:rPr i="1" lang="es" sz="900">
                <a:solidFill>
                  <a:srgbClr val="66D9EF"/>
                </a:solidFill>
                <a:highlight>
                  <a:srgbClr val="434343"/>
                </a:highlight>
                <a:latin typeface="Roboto Mono"/>
                <a:ea typeface="Roboto Mono"/>
                <a:cs typeface="Roboto Mono"/>
                <a:sym typeface="Roboto Mono"/>
              </a:rPr>
              <a:t>const</a:t>
            </a:r>
            <a:r>
              <a:rPr lang="es" sz="900">
                <a:solidFill>
                  <a:srgbClr val="F8F8F2"/>
                </a:solidFill>
                <a:highlight>
                  <a:srgbClr val="434343"/>
                </a:highlight>
                <a:latin typeface="Roboto Mono"/>
                <a:ea typeface="Roboto Mono"/>
                <a:cs typeface="Roboto Mono"/>
                <a:sym typeface="Roboto Mono"/>
              </a:rPr>
              <a:t> botonAlerta </a:t>
            </a:r>
            <a:r>
              <a:rPr lang="es" sz="900">
                <a:solidFill>
                  <a:srgbClr val="F92672"/>
                </a:solidFill>
                <a:highlight>
                  <a:srgbClr val="434343"/>
                </a:highlight>
                <a:latin typeface="Roboto Mono"/>
                <a:ea typeface="Roboto Mono"/>
                <a:cs typeface="Roboto Mono"/>
                <a:sym typeface="Roboto Mono"/>
              </a:rPr>
              <a:t>=</a:t>
            </a:r>
            <a:r>
              <a:rPr lang="es" sz="900">
                <a:solidFill>
                  <a:srgbClr val="F8F8F2"/>
                </a:solidFill>
                <a:highlight>
                  <a:srgbClr val="434343"/>
                </a:highlight>
                <a:latin typeface="Roboto Mono"/>
                <a:ea typeface="Roboto Mono"/>
                <a:cs typeface="Roboto Mono"/>
                <a:sym typeface="Roboto Mono"/>
              </a:rPr>
              <a:t> document.</a:t>
            </a:r>
            <a:r>
              <a:rPr lang="es" sz="900">
                <a:solidFill>
                  <a:srgbClr val="A6E22E"/>
                </a:solidFill>
                <a:highlight>
                  <a:srgbClr val="434343"/>
                </a:highlight>
                <a:latin typeface="Roboto Mono"/>
                <a:ea typeface="Roboto Mono"/>
                <a:cs typeface="Roboto Mono"/>
                <a:sym typeface="Roboto Mono"/>
              </a:rPr>
              <a:t>getElementById</a:t>
            </a:r>
            <a:r>
              <a:rPr lang="es" sz="900">
                <a:solidFill>
                  <a:srgbClr val="F8F8F2"/>
                </a:solidFill>
                <a:highlight>
                  <a:srgbClr val="434343"/>
                </a:highlight>
                <a:latin typeface="Roboto Mono"/>
                <a:ea typeface="Roboto Mono"/>
                <a:cs typeface="Roboto Mono"/>
                <a:sym typeface="Roboto Mono"/>
              </a:rPr>
              <a:t>(</a:t>
            </a:r>
            <a:r>
              <a:rPr lang="es" sz="900">
                <a:solidFill>
                  <a:srgbClr val="E6DB74"/>
                </a:solidFill>
                <a:highlight>
                  <a:srgbClr val="434343"/>
                </a:highlight>
                <a:latin typeface="Roboto Mono"/>
                <a:ea typeface="Roboto Mono"/>
                <a:cs typeface="Roboto Mono"/>
                <a:sym typeface="Roboto Mono"/>
              </a:rPr>
              <a:t>"alerta"</a:t>
            </a:r>
            <a:r>
              <a:rPr lang="es" sz="900">
                <a:solidFill>
                  <a:srgbClr val="F8F8F2"/>
                </a:solidFill>
                <a:highlight>
                  <a:srgbClr val="434343"/>
                </a:highlight>
                <a:latin typeface="Roboto Mono"/>
                <a:ea typeface="Roboto Mono"/>
                <a:cs typeface="Roboto Mono"/>
                <a:sym typeface="Roboto Mono"/>
              </a:rPr>
              <a:t>)</a:t>
            </a:r>
            <a:endParaRPr sz="900">
              <a:solidFill>
                <a:srgbClr val="F8F8F2"/>
              </a:solidFill>
              <a:highlight>
                <a:srgbClr val="434343"/>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F8F8F2"/>
                </a:solidFill>
                <a:highlight>
                  <a:srgbClr val="434343"/>
                </a:highlight>
                <a:latin typeface="Roboto Mono"/>
                <a:ea typeface="Roboto Mono"/>
                <a:cs typeface="Roboto Mono"/>
                <a:sym typeface="Roboto Mono"/>
              </a:rPr>
              <a:t>        botonAlerta.</a:t>
            </a:r>
            <a:r>
              <a:rPr lang="es" sz="900">
                <a:solidFill>
                  <a:srgbClr val="A6E22E"/>
                </a:solidFill>
                <a:highlight>
                  <a:srgbClr val="434343"/>
                </a:highlight>
                <a:latin typeface="Roboto Mono"/>
                <a:ea typeface="Roboto Mono"/>
                <a:cs typeface="Roboto Mono"/>
                <a:sym typeface="Roboto Mono"/>
              </a:rPr>
              <a:t>addEventListener</a:t>
            </a:r>
            <a:r>
              <a:rPr lang="es" sz="900">
                <a:solidFill>
                  <a:srgbClr val="F8F8F2"/>
                </a:solidFill>
                <a:highlight>
                  <a:srgbClr val="434343"/>
                </a:highlight>
                <a:latin typeface="Roboto Mono"/>
                <a:ea typeface="Roboto Mono"/>
                <a:cs typeface="Roboto Mono"/>
                <a:sym typeface="Roboto Mono"/>
              </a:rPr>
              <a:t>(</a:t>
            </a:r>
            <a:r>
              <a:rPr lang="es" sz="900">
                <a:solidFill>
                  <a:srgbClr val="E6DB74"/>
                </a:solidFill>
                <a:highlight>
                  <a:srgbClr val="434343"/>
                </a:highlight>
                <a:latin typeface="Roboto Mono"/>
                <a:ea typeface="Roboto Mono"/>
                <a:cs typeface="Roboto Mono"/>
                <a:sym typeface="Roboto Mono"/>
              </a:rPr>
              <a:t>"click"</a:t>
            </a:r>
            <a:r>
              <a:rPr lang="es" sz="900">
                <a:solidFill>
                  <a:srgbClr val="F8F8F2"/>
                </a:solidFill>
                <a:highlight>
                  <a:srgbClr val="434343"/>
                </a:highlight>
                <a:latin typeface="Roboto Mono"/>
                <a:ea typeface="Roboto Mono"/>
                <a:cs typeface="Roboto Mono"/>
                <a:sym typeface="Roboto Mono"/>
              </a:rPr>
              <a:t>, </a:t>
            </a:r>
            <a:r>
              <a:rPr i="1" lang="es" sz="900">
                <a:solidFill>
                  <a:srgbClr val="66D9EF"/>
                </a:solidFill>
                <a:highlight>
                  <a:srgbClr val="434343"/>
                </a:highlight>
                <a:latin typeface="Roboto Mono"/>
                <a:ea typeface="Roboto Mono"/>
                <a:cs typeface="Roboto Mono"/>
                <a:sym typeface="Roboto Mono"/>
              </a:rPr>
              <a:t>function</a:t>
            </a:r>
            <a:r>
              <a:rPr lang="es" sz="900">
                <a:solidFill>
                  <a:srgbClr val="F8F8F2"/>
                </a:solidFill>
                <a:highlight>
                  <a:srgbClr val="434343"/>
                </a:highlight>
                <a:latin typeface="Roboto Mono"/>
                <a:ea typeface="Roboto Mono"/>
                <a:cs typeface="Roboto Mono"/>
                <a:sym typeface="Roboto Mono"/>
              </a:rPr>
              <a:t>(</a:t>
            </a:r>
            <a:r>
              <a:rPr i="1" lang="es" sz="900">
                <a:solidFill>
                  <a:srgbClr val="FD971F"/>
                </a:solidFill>
                <a:highlight>
                  <a:srgbClr val="434343"/>
                </a:highlight>
                <a:latin typeface="Roboto Mono"/>
                <a:ea typeface="Roboto Mono"/>
                <a:cs typeface="Roboto Mono"/>
                <a:sym typeface="Roboto Mono"/>
              </a:rPr>
              <a:t>event</a:t>
            </a:r>
            <a:r>
              <a:rPr lang="es" sz="900">
                <a:solidFill>
                  <a:srgbClr val="F8F8F2"/>
                </a:solidFill>
                <a:highlight>
                  <a:srgbClr val="434343"/>
                </a:highlight>
                <a:latin typeface="Roboto Mono"/>
                <a:ea typeface="Roboto Mono"/>
                <a:cs typeface="Roboto Mono"/>
                <a:sym typeface="Roboto Mono"/>
              </a:rPr>
              <a:t>) {</a:t>
            </a:r>
            <a:endParaRPr sz="900">
              <a:solidFill>
                <a:srgbClr val="F8F8F2"/>
              </a:solidFill>
              <a:highlight>
                <a:srgbClr val="434343"/>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F8F8F2"/>
                </a:solidFill>
                <a:highlight>
                  <a:srgbClr val="434343"/>
                </a:highlight>
                <a:latin typeface="Roboto Mono"/>
                <a:ea typeface="Roboto Mono"/>
                <a:cs typeface="Roboto Mono"/>
                <a:sym typeface="Roboto Mono"/>
              </a:rPr>
              <a:t>            </a:t>
            </a:r>
            <a:r>
              <a:rPr lang="es" sz="900">
                <a:solidFill>
                  <a:srgbClr val="A6E22E"/>
                </a:solidFill>
                <a:highlight>
                  <a:srgbClr val="434343"/>
                </a:highlight>
                <a:latin typeface="Roboto Mono"/>
                <a:ea typeface="Roboto Mono"/>
                <a:cs typeface="Roboto Mono"/>
                <a:sym typeface="Roboto Mono"/>
              </a:rPr>
              <a:t>alert</a:t>
            </a:r>
            <a:r>
              <a:rPr lang="es" sz="900">
                <a:solidFill>
                  <a:srgbClr val="F8F8F2"/>
                </a:solidFill>
                <a:highlight>
                  <a:srgbClr val="434343"/>
                </a:highlight>
                <a:latin typeface="Roboto Mono"/>
                <a:ea typeface="Roboto Mono"/>
                <a:cs typeface="Roboto Mono"/>
                <a:sym typeface="Roboto Mono"/>
              </a:rPr>
              <a:t>(</a:t>
            </a:r>
            <a:r>
              <a:rPr lang="es" sz="900">
                <a:solidFill>
                  <a:srgbClr val="E6DB74"/>
                </a:solidFill>
                <a:highlight>
                  <a:srgbClr val="434343"/>
                </a:highlight>
                <a:latin typeface="Roboto Mono"/>
                <a:ea typeface="Roboto Mono"/>
                <a:cs typeface="Roboto Mono"/>
                <a:sym typeface="Roboto Mono"/>
              </a:rPr>
              <a:t>"Hola mundo!"</a:t>
            </a:r>
            <a:r>
              <a:rPr lang="es" sz="900">
                <a:solidFill>
                  <a:srgbClr val="F8F8F2"/>
                </a:solidFill>
                <a:highlight>
                  <a:srgbClr val="434343"/>
                </a:highlight>
                <a:latin typeface="Roboto Mono"/>
                <a:ea typeface="Roboto Mono"/>
                <a:cs typeface="Roboto Mono"/>
                <a:sym typeface="Roboto Mono"/>
              </a:rPr>
              <a:t>)</a:t>
            </a:r>
            <a:endParaRPr sz="900">
              <a:solidFill>
                <a:srgbClr val="F8F8F2"/>
              </a:solidFill>
              <a:highlight>
                <a:srgbClr val="434343"/>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F8F8F2"/>
                </a:solidFill>
                <a:highlight>
                  <a:srgbClr val="434343"/>
                </a:highlight>
                <a:latin typeface="Roboto Mono"/>
                <a:ea typeface="Roboto Mono"/>
                <a:cs typeface="Roboto Mono"/>
                <a:sym typeface="Roboto Mono"/>
              </a:rPr>
              <a:t>        })</a:t>
            </a:r>
            <a:endParaRPr sz="900">
              <a:solidFill>
                <a:srgbClr val="F8F8F2"/>
              </a:solidFill>
              <a:highlight>
                <a:srgbClr val="434343"/>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F8F8F2"/>
                </a:solidFill>
                <a:highlight>
                  <a:srgbClr val="434343"/>
                </a:highlight>
                <a:latin typeface="Roboto Mono"/>
                <a:ea typeface="Roboto Mono"/>
                <a:cs typeface="Roboto Mono"/>
                <a:sym typeface="Roboto Mono"/>
              </a:rPr>
              <a:t>    &lt;/</a:t>
            </a:r>
            <a:r>
              <a:rPr lang="es" sz="900">
                <a:solidFill>
                  <a:srgbClr val="F92672"/>
                </a:solidFill>
                <a:highlight>
                  <a:srgbClr val="434343"/>
                </a:highlight>
                <a:latin typeface="Roboto Mono"/>
                <a:ea typeface="Roboto Mono"/>
                <a:cs typeface="Roboto Mono"/>
                <a:sym typeface="Roboto Mono"/>
              </a:rPr>
              <a:t>script</a:t>
            </a:r>
            <a:r>
              <a:rPr lang="es" sz="900">
                <a:solidFill>
                  <a:srgbClr val="F8F8F2"/>
                </a:solidFill>
                <a:highlight>
                  <a:srgbClr val="434343"/>
                </a:highlight>
                <a:latin typeface="Roboto Mono"/>
                <a:ea typeface="Roboto Mono"/>
                <a:cs typeface="Roboto Mono"/>
                <a:sym typeface="Roboto Mono"/>
              </a:rPr>
              <a:t>&gt;</a:t>
            </a:r>
            <a:endParaRPr sz="900">
              <a:solidFill>
                <a:srgbClr val="F8F8F2"/>
              </a:solidFill>
              <a:highlight>
                <a:srgbClr val="434343"/>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&lt;/</a:t>
            </a:r>
            <a:r>
              <a:rPr lang="es" sz="900">
                <a:solidFill>
                  <a:srgbClr val="F92672"/>
                </a:solidFill>
                <a:highlight>
                  <a:srgbClr val="1F1F1F"/>
                </a:highlight>
                <a:latin typeface="Roboto Mono"/>
                <a:ea typeface="Roboto Mono"/>
                <a:cs typeface="Roboto Mono"/>
                <a:sym typeface="Roboto Mono"/>
              </a:rPr>
              <a:t>body</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900">
                <a:solidFill>
                  <a:srgbClr val="DDDDDD"/>
                </a:solidFill>
                <a:highlight>
                  <a:srgbClr val="1F1F1F"/>
                </a:highlight>
                <a:latin typeface="Roboto Mono"/>
                <a:ea typeface="Roboto Mono"/>
                <a:cs typeface="Roboto Mono"/>
                <a:sym typeface="Roboto Mono"/>
              </a:rPr>
              <a:t>&lt;/</a:t>
            </a:r>
            <a:r>
              <a:rPr lang="es" sz="900">
                <a:solidFill>
                  <a:srgbClr val="F92672"/>
                </a:solidFill>
                <a:highlight>
                  <a:srgbClr val="1F1F1F"/>
                </a:highlight>
                <a:latin typeface="Roboto Mono"/>
                <a:ea typeface="Roboto Mono"/>
                <a:cs typeface="Roboto Mono"/>
                <a:sym typeface="Roboto Mono"/>
              </a:rPr>
              <a:t>html</a:t>
            </a:r>
            <a:r>
              <a:rPr lang="es" sz="900">
                <a:solidFill>
                  <a:srgbClr val="DDDDDD"/>
                </a:solidFill>
                <a:highlight>
                  <a:srgbClr val="1F1F1F"/>
                </a:highlight>
                <a:latin typeface="Roboto Mono"/>
                <a:ea typeface="Roboto Mono"/>
                <a:cs typeface="Roboto Mono"/>
                <a:sym typeface="Roboto Mono"/>
              </a:rPr>
              <a:t>&gt;</a:t>
            </a:r>
            <a:endParaRPr sz="900">
              <a:solidFill>
                <a:srgbClr val="DDDDDD"/>
              </a:solidFill>
              <a:highlight>
                <a:srgbClr val="1F1F1F"/>
              </a:highlight>
              <a:latin typeface="Roboto Mono"/>
              <a:ea typeface="Roboto Mono"/>
              <a:cs typeface="Roboto Mono"/>
              <a:sym typeface="Roboto Mono"/>
            </a:endParaRPr>
          </a:p>
        </p:txBody>
      </p:sp>
      <p:sp>
        <p:nvSpPr>
          <p:cNvPr id="328" name="Google Shape;328;p44"/>
          <p:cNvSpPr txBox="1"/>
          <p:nvPr/>
        </p:nvSpPr>
        <p:spPr>
          <a:xfrm>
            <a:off x="5218550" y="1673625"/>
            <a:ext cx="3552600" cy="2145600"/>
          </a:xfrm>
          <a:prstGeom prst="rect">
            <a:avLst/>
          </a:prstGeom>
          <a:solidFill>
            <a:srgbClr val="202122"/>
          </a:solidFill>
          <a:ln>
            <a:noFill/>
          </a:ln>
        </p:spPr>
        <p:txBody>
          <a:bodyPr anchorCtr="0" anchor="t" bIns="91425" lIns="91425" spcFirstLastPara="1" rIns="91425" wrap="square" tIns="91425">
            <a:spAutoFit/>
          </a:bodyPr>
          <a:lstStyle/>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&lt;!</a:t>
            </a:r>
            <a:r>
              <a:rPr lang="es" sz="1000">
                <a:solidFill>
                  <a:srgbClr val="F92672"/>
                </a:solidFill>
                <a:highlight>
                  <a:srgbClr val="1F1F1F"/>
                </a:highlight>
                <a:latin typeface="Roboto Mono"/>
                <a:ea typeface="Roboto Mono"/>
                <a:cs typeface="Roboto Mono"/>
                <a:sym typeface="Roboto Mono"/>
              </a:rPr>
              <a:t>DOCTYPE</a:t>
            </a:r>
            <a:r>
              <a:rPr lang="es" sz="1000">
                <a:solidFill>
                  <a:srgbClr val="DDDDDD"/>
                </a:solidFill>
                <a:highlight>
                  <a:srgbClr val="1F1F1F"/>
                </a:highlight>
                <a:latin typeface="Roboto Mono"/>
                <a:ea typeface="Roboto Mono"/>
                <a:cs typeface="Roboto Mono"/>
                <a:sym typeface="Roboto Mono"/>
              </a:rPr>
              <a:t> </a:t>
            </a:r>
            <a:r>
              <a:rPr lang="es" sz="1000">
                <a:solidFill>
                  <a:srgbClr val="A6E22E"/>
                </a:solidFill>
                <a:highlight>
                  <a:srgbClr val="1F1F1F"/>
                </a:highlight>
                <a:latin typeface="Roboto Mono"/>
                <a:ea typeface="Roboto Mono"/>
                <a:cs typeface="Roboto Mono"/>
                <a:sym typeface="Roboto Mono"/>
              </a:rPr>
              <a:t>html</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&lt;</a:t>
            </a:r>
            <a:r>
              <a:rPr lang="es" sz="1000">
                <a:solidFill>
                  <a:srgbClr val="F92672"/>
                </a:solidFill>
                <a:highlight>
                  <a:srgbClr val="1F1F1F"/>
                </a:highlight>
                <a:latin typeface="Roboto Mono"/>
                <a:ea typeface="Roboto Mono"/>
                <a:cs typeface="Roboto Mono"/>
                <a:sym typeface="Roboto Mono"/>
              </a:rPr>
              <a:t>html</a:t>
            </a:r>
            <a:r>
              <a:rPr lang="es" sz="1000">
                <a:solidFill>
                  <a:srgbClr val="DDDDDD"/>
                </a:solidFill>
                <a:highlight>
                  <a:srgbClr val="1F1F1F"/>
                </a:highlight>
                <a:latin typeface="Roboto Mono"/>
                <a:ea typeface="Roboto Mono"/>
                <a:cs typeface="Roboto Mono"/>
                <a:sym typeface="Roboto Mono"/>
              </a:rPr>
              <a:t> </a:t>
            </a:r>
            <a:r>
              <a:rPr lang="es" sz="1000">
                <a:solidFill>
                  <a:srgbClr val="A6E22E"/>
                </a:solidFill>
                <a:highlight>
                  <a:srgbClr val="1F1F1F"/>
                </a:highlight>
                <a:latin typeface="Roboto Mono"/>
                <a:ea typeface="Roboto Mono"/>
                <a:cs typeface="Roboto Mono"/>
                <a:sym typeface="Roboto Mono"/>
              </a:rPr>
              <a:t>lang</a:t>
            </a:r>
            <a:r>
              <a:rPr lang="es" sz="1000">
                <a:solidFill>
                  <a:srgbClr val="DDDDDD"/>
                </a:solidFill>
                <a:highlight>
                  <a:srgbClr val="1F1F1F"/>
                </a:highlight>
                <a:latin typeface="Roboto Mono"/>
                <a:ea typeface="Roboto Mono"/>
                <a:cs typeface="Roboto Mono"/>
                <a:sym typeface="Roboto Mono"/>
              </a:rPr>
              <a:t>=</a:t>
            </a:r>
            <a:r>
              <a:rPr lang="es" sz="1000">
                <a:solidFill>
                  <a:srgbClr val="E6DB74"/>
                </a:solidFill>
                <a:highlight>
                  <a:srgbClr val="1F1F1F"/>
                </a:highlight>
                <a:latin typeface="Roboto Mono"/>
                <a:ea typeface="Roboto Mono"/>
                <a:cs typeface="Roboto Mono"/>
                <a:sym typeface="Roboto Mono"/>
              </a:rPr>
              <a:t>"es"</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&lt;</a:t>
            </a:r>
            <a:r>
              <a:rPr lang="es" sz="1000">
                <a:solidFill>
                  <a:srgbClr val="F92672"/>
                </a:solidFill>
                <a:highlight>
                  <a:srgbClr val="1F1F1F"/>
                </a:highlight>
                <a:latin typeface="Roboto Mono"/>
                <a:ea typeface="Roboto Mono"/>
                <a:cs typeface="Roboto Mono"/>
                <a:sym typeface="Roboto Mono"/>
              </a:rPr>
              <a:t>head</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&lt;</a:t>
            </a:r>
            <a:r>
              <a:rPr lang="es" sz="1000">
                <a:solidFill>
                  <a:srgbClr val="F92672"/>
                </a:solidFill>
                <a:highlight>
                  <a:srgbClr val="1F1F1F"/>
                </a:highlight>
                <a:latin typeface="Roboto Mono"/>
                <a:ea typeface="Roboto Mono"/>
                <a:cs typeface="Roboto Mono"/>
                <a:sym typeface="Roboto Mono"/>
              </a:rPr>
              <a:t>title</a:t>
            </a:r>
            <a:r>
              <a:rPr lang="es" sz="1000">
                <a:solidFill>
                  <a:srgbClr val="DDDDDD"/>
                </a:solidFill>
                <a:highlight>
                  <a:srgbClr val="1F1F1F"/>
                </a:highlight>
                <a:latin typeface="Roboto Mono"/>
                <a:ea typeface="Roboto Mono"/>
                <a:cs typeface="Roboto Mono"/>
                <a:sym typeface="Roboto Mono"/>
              </a:rPr>
              <a:t>&gt;Mi página Web&lt;/</a:t>
            </a:r>
            <a:r>
              <a:rPr lang="es" sz="1000">
                <a:solidFill>
                  <a:srgbClr val="F92672"/>
                </a:solidFill>
                <a:highlight>
                  <a:srgbClr val="1F1F1F"/>
                </a:highlight>
                <a:latin typeface="Roboto Mono"/>
                <a:ea typeface="Roboto Mono"/>
                <a:cs typeface="Roboto Mono"/>
                <a:sym typeface="Roboto Mono"/>
              </a:rPr>
              <a:t>title</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&lt;/</a:t>
            </a:r>
            <a:r>
              <a:rPr lang="es" sz="1000">
                <a:solidFill>
                  <a:srgbClr val="F92672"/>
                </a:solidFill>
                <a:highlight>
                  <a:srgbClr val="1F1F1F"/>
                </a:highlight>
                <a:latin typeface="Roboto Mono"/>
                <a:ea typeface="Roboto Mono"/>
                <a:cs typeface="Roboto Mono"/>
                <a:sym typeface="Roboto Mono"/>
              </a:rPr>
              <a:t>head</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&lt;</a:t>
            </a:r>
            <a:r>
              <a:rPr lang="es" sz="1000">
                <a:solidFill>
                  <a:srgbClr val="F92672"/>
                </a:solidFill>
                <a:highlight>
                  <a:srgbClr val="1F1F1F"/>
                </a:highlight>
                <a:latin typeface="Roboto Mono"/>
                <a:ea typeface="Roboto Mono"/>
                <a:cs typeface="Roboto Mono"/>
                <a:sym typeface="Roboto Mono"/>
              </a:rPr>
              <a:t>body</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&lt;</a:t>
            </a:r>
            <a:r>
              <a:rPr lang="es" sz="1000">
                <a:solidFill>
                  <a:srgbClr val="F92672"/>
                </a:solidFill>
                <a:highlight>
                  <a:srgbClr val="1F1F1F"/>
                </a:highlight>
                <a:latin typeface="Roboto Mono"/>
                <a:ea typeface="Roboto Mono"/>
                <a:cs typeface="Roboto Mono"/>
                <a:sym typeface="Roboto Mono"/>
              </a:rPr>
              <a:t>button</a:t>
            </a:r>
            <a:r>
              <a:rPr lang="es" sz="1000">
                <a:solidFill>
                  <a:srgbClr val="DDDDDD"/>
                </a:solidFill>
                <a:highlight>
                  <a:srgbClr val="1F1F1F"/>
                </a:highlight>
                <a:latin typeface="Roboto Mono"/>
                <a:ea typeface="Roboto Mono"/>
                <a:cs typeface="Roboto Mono"/>
                <a:sym typeface="Roboto Mono"/>
              </a:rPr>
              <a:t> </a:t>
            </a:r>
            <a:r>
              <a:rPr lang="es" sz="1000">
                <a:solidFill>
                  <a:srgbClr val="A6E22E"/>
                </a:solidFill>
                <a:highlight>
                  <a:srgbClr val="1F1F1F"/>
                </a:highlight>
                <a:latin typeface="Roboto Mono"/>
                <a:ea typeface="Roboto Mono"/>
                <a:cs typeface="Roboto Mono"/>
                <a:sym typeface="Roboto Mono"/>
              </a:rPr>
              <a:t>id</a:t>
            </a:r>
            <a:r>
              <a:rPr lang="es" sz="1000">
                <a:solidFill>
                  <a:srgbClr val="DDDDDD"/>
                </a:solidFill>
                <a:highlight>
                  <a:srgbClr val="1F1F1F"/>
                </a:highlight>
                <a:latin typeface="Roboto Mono"/>
                <a:ea typeface="Roboto Mono"/>
                <a:cs typeface="Roboto Mono"/>
                <a:sym typeface="Roboto Mono"/>
              </a:rPr>
              <a:t>=</a:t>
            </a:r>
            <a:r>
              <a:rPr lang="es" sz="1000">
                <a:solidFill>
                  <a:srgbClr val="E6DB74"/>
                </a:solidFill>
                <a:highlight>
                  <a:srgbClr val="1F1F1F"/>
                </a:highlight>
                <a:latin typeface="Roboto Mono"/>
                <a:ea typeface="Roboto Mono"/>
                <a:cs typeface="Roboto Mono"/>
                <a:sym typeface="Roboto Mono"/>
              </a:rPr>
              <a:t>"alerta"</a:t>
            </a:r>
            <a:r>
              <a:rPr lang="es" sz="1000">
                <a:solidFill>
                  <a:srgbClr val="DDDDDD"/>
                </a:solidFill>
                <a:highlight>
                  <a:srgbClr val="1F1F1F"/>
                </a:highlight>
                <a:latin typeface="Roboto Mono"/>
                <a:ea typeface="Roboto Mono"/>
                <a:cs typeface="Roboto Mono"/>
                <a:sym typeface="Roboto Mono"/>
              </a:rPr>
              <a:t>&gt;Pulse aquí!&lt;/</a:t>
            </a:r>
            <a:r>
              <a:rPr lang="es" sz="1000">
                <a:solidFill>
                  <a:srgbClr val="F92672"/>
                </a:solidFill>
                <a:highlight>
                  <a:srgbClr val="1F1F1F"/>
                </a:highlight>
                <a:latin typeface="Roboto Mono"/>
                <a:ea typeface="Roboto Mono"/>
                <a:cs typeface="Roboto Mono"/>
                <a:sym typeface="Roboto Mono"/>
              </a:rPr>
              <a:t>button</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    </a:t>
            </a:r>
            <a:r>
              <a:rPr lang="es" sz="1000">
                <a:solidFill>
                  <a:srgbClr val="F8F8F2"/>
                </a:solidFill>
                <a:highlight>
                  <a:srgbClr val="434343"/>
                </a:highlight>
                <a:latin typeface="Roboto Mono"/>
                <a:ea typeface="Roboto Mono"/>
                <a:cs typeface="Roboto Mono"/>
                <a:sym typeface="Roboto Mono"/>
              </a:rPr>
              <a:t>&lt;</a:t>
            </a:r>
            <a:r>
              <a:rPr lang="es" sz="1000">
                <a:solidFill>
                  <a:srgbClr val="F92672"/>
                </a:solidFill>
                <a:highlight>
                  <a:srgbClr val="434343"/>
                </a:highlight>
                <a:latin typeface="Roboto Mono"/>
                <a:ea typeface="Roboto Mono"/>
                <a:cs typeface="Roboto Mono"/>
                <a:sym typeface="Roboto Mono"/>
              </a:rPr>
              <a:t>script</a:t>
            </a:r>
            <a:r>
              <a:rPr lang="es" sz="1000">
                <a:solidFill>
                  <a:srgbClr val="F8F8F2"/>
                </a:solidFill>
                <a:highlight>
                  <a:srgbClr val="434343"/>
                </a:highlight>
                <a:latin typeface="Roboto Mono"/>
                <a:ea typeface="Roboto Mono"/>
                <a:cs typeface="Roboto Mono"/>
                <a:sym typeface="Roboto Mono"/>
              </a:rPr>
              <a:t> </a:t>
            </a:r>
            <a:r>
              <a:rPr lang="es" sz="1000">
                <a:solidFill>
                  <a:srgbClr val="A6E22E"/>
                </a:solidFill>
                <a:highlight>
                  <a:srgbClr val="434343"/>
                </a:highlight>
                <a:latin typeface="Roboto Mono"/>
                <a:ea typeface="Roboto Mono"/>
                <a:cs typeface="Roboto Mono"/>
                <a:sym typeface="Roboto Mono"/>
              </a:rPr>
              <a:t>src</a:t>
            </a:r>
            <a:r>
              <a:rPr lang="es" sz="1000">
                <a:solidFill>
                  <a:srgbClr val="F8F8F2"/>
                </a:solidFill>
                <a:highlight>
                  <a:srgbClr val="434343"/>
                </a:highlight>
                <a:latin typeface="Roboto Mono"/>
                <a:ea typeface="Roboto Mono"/>
                <a:cs typeface="Roboto Mono"/>
                <a:sym typeface="Roboto Mono"/>
              </a:rPr>
              <a:t>=</a:t>
            </a:r>
            <a:r>
              <a:rPr lang="es" sz="1000">
                <a:solidFill>
                  <a:srgbClr val="E6DB74"/>
                </a:solidFill>
                <a:highlight>
                  <a:srgbClr val="434343"/>
                </a:highlight>
                <a:latin typeface="Roboto Mono"/>
                <a:ea typeface="Roboto Mono"/>
                <a:cs typeface="Roboto Mono"/>
                <a:sym typeface="Roboto Mono"/>
              </a:rPr>
              <a:t>"script.js"</a:t>
            </a:r>
            <a:r>
              <a:rPr lang="es" sz="1000">
                <a:solidFill>
                  <a:srgbClr val="F8F8F2"/>
                </a:solidFill>
                <a:highlight>
                  <a:srgbClr val="434343"/>
                </a:highlight>
                <a:latin typeface="Roboto Mono"/>
                <a:ea typeface="Roboto Mono"/>
                <a:cs typeface="Roboto Mono"/>
                <a:sym typeface="Roboto Mono"/>
              </a:rPr>
              <a:t>&gt;&lt;/</a:t>
            </a:r>
            <a:r>
              <a:rPr lang="es" sz="1000">
                <a:solidFill>
                  <a:srgbClr val="F92672"/>
                </a:solidFill>
                <a:highlight>
                  <a:srgbClr val="434343"/>
                </a:highlight>
                <a:latin typeface="Roboto Mono"/>
                <a:ea typeface="Roboto Mono"/>
                <a:cs typeface="Roboto Mono"/>
                <a:sym typeface="Roboto Mono"/>
              </a:rPr>
              <a:t>script</a:t>
            </a:r>
            <a:r>
              <a:rPr lang="es" sz="1000">
                <a:solidFill>
                  <a:srgbClr val="F8F8F2"/>
                </a:solidFill>
                <a:highlight>
                  <a:srgbClr val="434343"/>
                </a:highlight>
                <a:latin typeface="Roboto Mono"/>
                <a:ea typeface="Roboto Mono"/>
                <a:cs typeface="Roboto Mono"/>
                <a:sym typeface="Roboto Mono"/>
              </a:rPr>
              <a:t>&gt;</a:t>
            </a:r>
            <a:endParaRPr sz="1000">
              <a:solidFill>
                <a:srgbClr val="F8F8F2"/>
              </a:solidFill>
              <a:highlight>
                <a:srgbClr val="434343"/>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&lt;/</a:t>
            </a:r>
            <a:r>
              <a:rPr lang="es" sz="1000">
                <a:solidFill>
                  <a:srgbClr val="F92672"/>
                </a:solidFill>
                <a:highlight>
                  <a:srgbClr val="1F1F1F"/>
                </a:highlight>
                <a:latin typeface="Roboto Mono"/>
                <a:ea typeface="Roboto Mono"/>
                <a:cs typeface="Roboto Mono"/>
                <a:sym typeface="Roboto Mono"/>
              </a:rPr>
              <a:t>body</a:t>
            </a:r>
            <a:r>
              <a:rPr lang="es" sz="1000">
                <a:solidFill>
                  <a:srgbClr val="DDDDDD"/>
                </a:solidFill>
                <a:highlight>
                  <a:srgbClr val="1F1F1F"/>
                </a:highlight>
                <a:latin typeface="Roboto Mono"/>
                <a:ea typeface="Roboto Mono"/>
                <a:cs typeface="Roboto Mono"/>
                <a:sym typeface="Roboto Mono"/>
              </a:rPr>
              <a:t>&gt;</a:t>
            </a:r>
            <a:endParaRPr sz="100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000">
                <a:solidFill>
                  <a:srgbClr val="DDDDDD"/>
                </a:solidFill>
                <a:highlight>
                  <a:srgbClr val="1F1F1F"/>
                </a:highlight>
                <a:latin typeface="Roboto Mono"/>
                <a:ea typeface="Roboto Mono"/>
                <a:cs typeface="Roboto Mono"/>
                <a:sym typeface="Roboto Mono"/>
              </a:rPr>
              <a:t>&lt;/</a:t>
            </a:r>
            <a:r>
              <a:rPr lang="es" sz="1000">
                <a:solidFill>
                  <a:srgbClr val="F92672"/>
                </a:solidFill>
                <a:highlight>
                  <a:srgbClr val="1F1F1F"/>
                </a:highlight>
                <a:latin typeface="Roboto Mono"/>
                <a:ea typeface="Roboto Mono"/>
                <a:cs typeface="Roboto Mono"/>
                <a:sym typeface="Roboto Mono"/>
              </a:rPr>
              <a:t>html</a:t>
            </a:r>
            <a:r>
              <a:rPr lang="es" sz="1000">
                <a:solidFill>
                  <a:srgbClr val="DDDDDD"/>
                </a:solidFill>
                <a:highlight>
                  <a:srgbClr val="1F1F1F"/>
                </a:highlight>
                <a:latin typeface="Roboto Mono"/>
                <a:ea typeface="Roboto Mono"/>
                <a:cs typeface="Roboto Mono"/>
                <a:sym typeface="Roboto Mono"/>
              </a:rPr>
              <a:t>&gt;</a:t>
            </a:r>
            <a:endParaRPr sz="1800">
              <a:solidFill>
                <a:schemeClr val="dk2"/>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5"/>
          <p:cNvSpPr txBox="1"/>
          <p:nvPr>
            <p:ph type="title"/>
          </p:nvPr>
        </p:nvSpPr>
        <p:spPr>
          <a:xfrm>
            <a:off x="490250" y="526350"/>
            <a:ext cx="6088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Ejemplo con Flask</a:t>
            </a:r>
            <a:endParaRPr/>
          </a:p>
          <a:p>
            <a:pPr indent="0" lvl="0" marL="0" rtl="0" algn="l">
              <a:spcBef>
                <a:spcPts val="0"/>
              </a:spcBef>
              <a:spcAft>
                <a:spcPts val="0"/>
              </a:spcAft>
              <a:buNone/>
            </a:pPr>
            <a:r>
              <a:rPr i="1" lang="es" sz="3400"/>
              <a:t>(en vivo)</a:t>
            </a:r>
            <a:endParaRPr i="1" sz="3400"/>
          </a:p>
        </p:txBody>
      </p:sp>
      <p:pic>
        <p:nvPicPr>
          <p:cNvPr id="334" name="Google Shape;334;p45"/>
          <p:cNvPicPr preferRelativeResize="0"/>
          <p:nvPr/>
        </p:nvPicPr>
        <p:blipFill>
          <a:blip r:embed="rId3">
            <a:alphaModFix/>
          </a:blip>
          <a:stretch>
            <a:fillRect/>
          </a:stretch>
        </p:blipFill>
        <p:spPr>
          <a:xfrm>
            <a:off x="7358275" y="3342625"/>
            <a:ext cx="1539425" cy="1539425"/>
          </a:xfrm>
          <a:prstGeom prst="rect">
            <a:avLst/>
          </a:prstGeom>
          <a:noFill/>
          <a:ln>
            <a:noFill/>
          </a:ln>
        </p:spPr>
      </p:pic>
      <p:pic>
        <p:nvPicPr>
          <p:cNvPr id="335" name="Google Shape;335;p45"/>
          <p:cNvPicPr preferRelativeResize="0"/>
          <p:nvPr/>
        </p:nvPicPr>
        <p:blipFill>
          <a:blip r:embed="rId4">
            <a:alphaModFix/>
          </a:blip>
          <a:stretch>
            <a:fillRect/>
          </a:stretch>
        </p:blipFill>
        <p:spPr>
          <a:xfrm>
            <a:off x="5709225" y="3444425"/>
            <a:ext cx="1437624" cy="14376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6"/>
          <p:cNvSpPr txBox="1"/>
          <p:nvPr>
            <p:ph type="title"/>
          </p:nvPr>
        </p:nvSpPr>
        <p:spPr>
          <a:xfrm>
            <a:off x="311700" y="222100"/>
            <a:ext cx="8520600" cy="69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Creamos nuestra app</a:t>
            </a:r>
            <a:endParaRPr/>
          </a:p>
        </p:txBody>
      </p:sp>
      <p:sp>
        <p:nvSpPr>
          <p:cNvPr id="341" name="Google Shape;341;p46"/>
          <p:cNvSpPr txBox="1"/>
          <p:nvPr/>
        </p:nvSpPr>
        <p:spPr>
          <a:xfrm>
            <a:off x="469500" y="920800"/>
            <a:ext cx="4886400" cy="2602500"/>
          </a:xfrm>
          <a:prstGeom prst="rect">
            <a:avLst/>
          </a:prstGeom>
          <a:solidFill>
            <a:srgbClr val="1F1F1F"/>
          </a:solidFill>
          <a:ln>
            <a:noFill/>
          </a:ln>
        </p:spPr>
        <p:txBody>
          <a:bodyPr anchorCtr="0" anchor="t" bIns="91425" lIns="91425" spcFirstLastPara="1" rIns="91425" wrap="square" tIns="91425">
            <a:noAutofit/>
          </a:bodyPr>
          <a:lstStyle/>
          <a:p>
            <a:pPr indent="0" lvl="0" marL="0" rtl="0" algn="l">
              <a:lnSpc>
                <a:spcPct val="130434"/>
              </a:lnSpc>
              <a:spcBef>
                <a:spcPts val="0"/>
              </a:spcBef>
              <a:spcAft>
                <a:spcPts val="0"/>
              </a:spcAft>
              <a:buNone/>
            </a:pPr>
            <a:r>
              <a:rPr lang="es" sz="1150">
                <a:solidFill>
                  <a:srgbClr val="F92672"/>
                </a:solidFill>
                <a:highlight>
                  <a:srgbClr val="1F1F1F"/>
                </a:highlight>
                <a:latin typeface="Roboto Mono"/>
                <a:ea typeface="Roboto Mono"/>
                <a:cs typeface="Roboto Mono"/>
                <a:sym typeface="Roboto Mono"/>
              </a:rPr>
              <a:t>from</a:t>
            </a:r>
            <a:r>
              <a:rPr lang="es" sz="1150">
                <a:solidFill>
                  <a:srgbClr val="DDDDDD"/>
                </a:solidFill>
                <a:highlight>
                  <a:srgbClr val="1F1F1F"/>
                </a:highlight>
                <a:latin typeface="Roboto Mono"/>
                <a:ea typeface="Roboto Mono"/>
                <a:cs typeface="Roboto Mono"/>
                <a:sym typeface="Roboto Mono"/>
              </a:rPr>
              <a:t> flask </a:t>
            </a:r>
            <a:r>
              <a:rPr lang="es" sz="1150">
                <a:solidFill>
                  <a:srgbClr val="F92672"/>
                </a:solidFill>
                <a:highlight>
                  <a:srgbClr val="1F1F1F"/>
                </a:highlight>
                <a:latin typeface="Roboto Mono"/>
                <a:ea typeface="Roboto Mono"/>
                <a:cs typeface="Roboto Mono"/>
                <a:sym typeface="Roboto Mono"/>
              </a:rPr>
              <a:t>import</a:t>
            </a:r>
            <a:r>
              <a:rPr lang="es" sz="1150">
                <a:solidFill>
                  <a:srgbClr val="DDDDDD"/>
                </a:solidFill>
                <a:highlight>
                  <a:srgbClr val="1F1F1F"/>
                </a:highlight>
                <a:latin typeface="Roboto Mono"/>
                <a:ea typeface="Roboto Mono"/>
                <a:cs typeface="Roboto Mono"/>
                <a:sym typeface="Roboto Mono"/>
              </a:rPr>
              <a:t> Flask, render_template</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app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Flask(__name__)</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A6E22E"/>
                </a:solidFill>
                <a:highlight>
                  <a:srgbClr val="1F1F1F"/>
                </a:highlight>
                <a:latin typeface="Roboto Mono"/>
                <a:ea typeface="Roboto Mono"/>
                <a:cs typeface="Roboto Mono"/>
                <a:sym typeface="Roboto Mono"/>
              </a:rPr>
              <a:t>@app.route</a:t>
            </a:r>
            <a:r>
              <a:rPr lang="es" sz="1150">
                <a:solidFill>
                  <a:srgbClr val="DDDDDD"/>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i="1" lang="es" sz="1150">
                <a:solidFill>
                  <a:srgbClr val="66D9EF"/>
                </a:solidFill>
                <a:highlight>
                  <a:srgbClr val="1F1F1F"/>
                </a:highlight>
                <a:latin typeface="Roboto Mono"/>
                <a:ea typeface="Roboto Mono"/>
                <a:cs typeface="Roboto Mono"/>
                <a:sym typeface="Roboto Mono"/>
              </a:rPr>
              <a:t>def</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index</a:t>
            </a:r>
            <a:r>
              <a:rPr lang="es" sz="1150">
                <a:solidFill>
                  <a:srgbClr val="DDDDDD"/>
                </a:solidFill>
                <a:highlight>
                  <a:srgbClr val="1F1F1F"/>
                </a:highlight>
                <a:latin typeface="Roboto Mono"/>
                <a:ea typeface="Roboto Mono"/>
                <a:cs typeface="Roboto Mono"/>
                <a:sym typeface="Roboto Mono"/>
              </a:rPr>
              <a: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a:t>
            </a:r>
            <a:r>
              <a:rPr lang="es" sz="1150">
                <a:solidFill>
                  <a:srgbClr val="F92672"/>
                </a:solidFill>
                <a:highlight>
                  <a:srgbClr val="1F1F1F"/>
                </a:highlight>
                <a:latin typeface="Roboto Mono"/>
                <a:ea typeface="Roboto Mono"/>
                <a:cs typeface="Roboto Mono"/>
                <a:sym typeface="Roboto Mono"/>
              </a:rPr>
              <a:t>return</a:t>
            </a:r>
            <a:r>
              <a:rPr lang="es" sz="1150">
                <a:solidFill>
                  <a:srgbClr val="DDDDDD"/>
                </a:solidFill>
                <a:highlight>
                  <a:srgbClr val="1F1F1F"/>
                </a:highlight>
                <a:latin typeface="Roboto Mono"/>
                <a:ea typeface="Roboto Mono"/>
                <a:cs typeface="Roboto Mono"/>
                <a:sym typeface="Roboto Mono"/>
              </a:rPr>
              <a:t> render_template(</a:t>
            </a:r>
            <a:r>
              <a:rPr lang="es" sz="1150">
                <a:solidFill>
                  <a:srgbClr val="E6DB74"/>
                </a:solidFill>
                <a:highlight>
                  <a:srgbClr val="1F1F1F"/>
                </a:highlight>
                <a:latin typeface="Roboto Mono"/>
                <a:ea typeface="Roboto Mono"/>
                <a:cs typeface="Roboto Mono"/>
                <a:sym typeface="Roboto Mono"/>
              </a:rPr>
              <a:t>"index.html"</a:t>
            </a:r>
            <a:r>
              <a:rPr lang="es" sz="1150">
                <a:solidFill>
                  <a:srgbClr val="DDDDDD"/>
                </a:solidFill>
                <a:highlight>
                  <a:srgbClr val="1F1F1F"/>
                </a:highlight>
                <a:latin typeface="Roboto Mono"/>
                <a:ea typeface="Roboto Mono"/>
                <a:cs typeface="Roboto Mono"/>
                <a:sym typeface="Roboto Mono"/>
              </a:rPr>
              <a: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F92672"/>
                </a:solidFill>
                <a:highlight>
                  <a:srgbClr val="1F1F1F"/>
                </a:highlight>
                <a:latin typeface="Roboto Mono"/>
                <a:ea typeface="Roboto Mono"/>
                <a:cs typeface="Roboto Mono"/>
                <a:sym typeface="Roboto Mono"/>
              </a:rPr>
              <a:t>if</a:t>
            </a:r>
            <a:r>
              <a:rPr lang="es" sz="1150">
                <a:solidFill>
                  <a:srgbClr val="DDDDDD"/>
                </a:solidFill>
                <a:highlight>
                  <a:srgbClr val="1F1F1F"/>
                </a:highlight>
                <a:latin typeface="Roboto Mono"/>
                <a:ea typeface="Roboto Mono"/>
                <a:cs typeface="Roboto Mono"/>
                <a:sym typeface="Roboto Mono"/>
              </a:rPr>
              <a:t> __name__ </a:t>
            </a:r>
            <a:r>
              <a:rPr lang="es" sz="1150">
                <a:solidFill>
                  <a:srgbClr val="F92672"/>
                </a:solidFill>
                <a:highlight>
                  <a:srgbClr val="1F1F1F"/>
                </a:highlight>
                <a:latin typeface="Roboto Mono"/>
                <a:ea typeface="Roboto Mono"/>
                <a:cs typeface="Roboto Mono"/>
                <a:sym typeface="Roboto Mono"/>
              </a:rPr>
              <a:t>==</a:t>
            </a:r>
            <a:r>
              <a:rPr lang="es" sz="1150">
                <a:solidFill>
                  <a:srgbClr val="DDDDDD"/>
                </a:solidFill>
                <a:highlight>
                  <a:srgbClr val="1F1F1F"/>
                </a:highlight>
                <a:latin typeface="Roboto Mono"/>
                <a:ea typeface="Roboto Mono"/>
                <a:cs typeface="Roboto Mono"/>
                <a:sym typeface="Roboto Mono"/>
              </a:rPr>
              <a:t> </a:t>
            </a:r>
            <a:r>
              <a:rPr lang="es" sz="1150">
                <a:solidFill>
                  <a:srgbClr val="E6DB74"/>
                </a:solidFill>
                <a:highlight>
                  <a:srgbClr val="1F1F1F"/>
                </a:highlight>
                <a:latin typeface="Roboto Mono"/>
                <a:ea typeface="Roboto Mono"/>
                <a:cs typeface="Roboto Mono"/>
                <a:sym typeface="Roboto Mono"/>
              </a:rPr>
              <a:t>'__main__'</a:t>
            </a:r>
            <a:r>
              <a:rPr lang="es" sz="1150">
                <a:solidFill>
                  <a:srgbClr val="DDDDDD"/>
                </a:solidFill>
                <a:highlight>
                  <a:srgbClr val="1F1F1F"/>
                </a:highlight>
                <a:latin typeface="Roboto Mono"/>
                <a:ea typeface="Roboto Mono"/>
                <a:cs typeface="Roboto Mono"/>
                <a:sym typeface="Roboto Mono"/>
              </a:rPr>
              <a: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app.run(</a:t>
            </a:r>
            <a:r>
              <a:rPr i="1" lang="es" sz="1150">
                <a:solidFill>
                  <a:srgbClr val="FD971F"/>
                </a:solidFill>
                <a:highlight>
                  <a:srgbClr val="1F1F1F"/>
                </a:highlight>
                <a:latin typeface="Roboto Mono"/>
                <a:ea typeface="Roboto Mono"/>
                <a:cs typeface="Roboto Mono"/>
                <a:sym typeface="Roboto Mono"/>
              </a:rPr>
              <a:t>host</a:t>
            </a:r>
            <a:r>
              <a:rPr lang="es" sz="1150">
                <a:solidFill>
                  <a:srgbClr val="F92672"/>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"localhost"</a:t>
            </a:r>
            <a:r>
              <a:rPr lang="es" sz="1150">
                <a:solidFill>
                  <a:srgbClr val="DDDDDD"/>
                </a:solidFill>
                <a:highlight>
                  <a:srgbClr val="1F1F1F"/>
                </a:highlight>
                <a:latin typeface="Roboto Mono"/>
                <a:ea typeface="Roboto Mono"/>
                <a:cs typeface="Roboto Mono"/>
                <a:sym typeface="Roboto Mono"/>
              </a:rPr>
              <a:t>, </a:t>
            </a:r>
            <a:r>
              <a:rPr i="1" lang="es" sz="1150">
                <a:solidFill>
                  <a:srgbClr val="FD971F"/>
                </a:solidFill>
                <a:highlight>
                  <a:srgbClr val="1F1F1F"/>
                </a:highlight>
                <a:latin typeface="Roboto Mono"/>
                <a:ea typeface="Roboto Mono"/>
                <a:cs typeface="Roboto Mono"/>
                <a:sym typeface="Roboto Mono"/>
              </a:rPr>
              <a:t>port</a:t>
            </a:r>
            <a:r>
              <a:rPr lang="es" sz="1150">
                <a:solidFill>
                  <a:srgbClr val="F92672"/>
                </a:solidFill>
                <a:highlight>
                  <a:srgbClr val="1F1F1F"/>
                </a:highlight>
                <a:latin typeface="Roboto Mono"/>
                <a:ea typeface="Roboto Mono"/>
                <a:cs typeface="Roboto Mono"/>
                <a:sym typeface="Roboto Mono"/>
              </a:rPr>
              <a:t>=</a:t>
            </a:r>
            <a:r>
              <a:rPr lang="es" sz="1150">
                <a:solidFill>
                  <a:srgbClr val="AE81FF"/>
                </a:solidFill>
                <a:highlight>
                  <a:srgbClr val="1F1F1F"/>
                </a:highlight>
                <a:latin typeface="Roboto Mono"/>
                <a:ea typeface="Roboto Mono"/>
                <a:cs typeface="Roboto Mono"/>
                <a:sym typeface="Roboto Mono"/>
              </a:rPr>
              <a:t>8080</a:t>
            </a:r>
            <a:r>
              <a:rPr lang="es" sz="1150">
                <a:solidFill>
                  <a:srgbClr val="DDDDDD"/>
                </a:solidFill>
                <a:highlight>
                  <a:srgbClr val="1F1F1F"/>
                </a:highlight>
                <a:latin typeface="Roboto Mono"/>
                <a:ea typeface="Roboto Mono"/>
                <a:cs typeface="Roboto Mono"/>
                <a:sym typeface="Roboto Mono"/>
              </a:rPr>
              <a:t>, </a:t>
            </a:r>
            <a:r>
              <a:rPr i="1" lang="es" sz="1150">
                <a:solidFill>
                  <a:srgbClr val="FD971F"/>
                </a:solidFill>
                <a:highlight>
                  <a:srgbClr val="1F1F1F"/>
                </a:highlight>
                <a:latin typeface="Roboto Mono"/>
                <a:ea typeface="Roboto Mono"/>
                <a:cs typeface="Roboto Mono"/>
                <a:sym typeface="Roboto Mono"/>
              </a:rPr>
              <a:t>debug</a:t>
            </a:r>
            <a:r>
              <a:rPr lang="es" sz="1150">
                <a:solidFill>
                  <a:srgbClr val="F92672"/>
                </a:solidFill>
                <a:highlight>
                  <a:srgbClr val="1F1F1F"/>
                </a:highlight>
                <a:latin typeface="Roboto Mono"/>
                <a:ea typeface="Roboto Mono"/>
                <a:cs typeface="Roboto Mono"/>
                <a:sym typeface="Roboto Mono"/>
              </a:rPr>
              <a:t>=</a:t>
            </a:r>
            <a:r>
              <a:rPr lang="es" sz="1150">
                <a:solidFill>
                  <a:srgbClr val="AE81FF"/>
                </a:solidFill>
                <a:highlight>
                  <a:srgbClr val="1F1F1F"/>
                </a:highlight>
                <a:latin typeface="Roboto Mono"/>
                <a:ea typeface="Roboto Mono"/>
                <a:cs typeface="Roboto Mono"/>
                <a:sym typeface="Roboto Mono"/>
              </a:rPr>
              <a:t>True</a:t>
            </a:r>
            <a:r>
              <a:rPr lang="es" sz="1150">
                <a:solidFill>
                  <a:srgbClr val="DDDDDD"/>
                </a:solidFill>
                <a:highlight>
                  <a:srgbClr val="1F1F1F"/>
                </a:highlight>
                <a:latin typeface="Roboto Mono"/>
                <a:ea typeface="Roboto Mono"/>
                <a:cs typeface="Roboto Mono"/>
                <a:sym typeface="Roboto Mono"/>
              </a:rPr>
              <a: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t/>
            </a:r>
            <a:endParaRPr sz="1150">
              <a:solidFill>
                <a:srgbClr val="DDDDDD"/>
              </a:solidFill>
              <a:highlight>
                <a:srgbClr val="1F1F1F"/>
              </a:highlight>
              <a:latin typeface="Roboto Mono"/>
              <a:ea typeface="Roboto Mono"/>
              <a:cs typeface="Roboto Mono"/>
              <a:sym typeface="Roboto Mono"/>
            </a:endParaRPr>
          </a:p>
        </p:txBody>
      </p:sp>
      <p:sp>
        <p:nvSpPr>
          <p:cNvPr id="342" name="Google Shape;342;p46"/>
          <p:cNvSpPr txBox="1"/>
          <p:nvPr/>
        </p:nvSpPr>
        <p:spPr>
          <a:xfrm>
            <a:off x="5835900" y="1959125"/>
            <a:ext cx="2838900" cy="738900"/>
          </a:xfrm>
          <a:prstGeom prst="rect">
            <a:avLst/>
          </a:prstGeom>
          <a:noFill/>
          <a:ln cap="flat" cmpd="sng" w="9525">
            <a:solidFill>
              <a:srgbClr val="1F1F1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latin typeface="Roboto Serif"/>
                <a:ea typeface="Roboto Serif"/>
                <a:cs typeface="Roboto Serif"/>
                <a:sym typeface="Roboto Serif"/>
              </a:rPr>
              <a:t>¿Dónde va el archivo</a:t>
            </a:r>
            <a:endParaRPr sz="1800">
              <a:solidFill>
                <a:schemeClr val="dk2"/>
              </a:solidFill>
              <a:latin typeface="Roboto Serif"/>
              <a:ea typeface="Roboto Serif"/>
              <a:cs typeface="Roboto Serif"/>
              <a:sym typeface="Roboto Serif"/>
            </a:endParaRPr>
          </a:p>
          <a:p>
            <a:pPr indent="0" lvl="0" marL="0" rtl="0" algn="l">
              <a:spcBef>
                <a:spcPts val="0"/>
              </a:spcBef>
              <a:spcAft>
                <a:spcPts val="0"/>
              </a:spcAft>
              <a:buNone/>
            </a:pPr>
            <a:r>
              <a:rPr lang="es" sz="1800">
                <a:solidFill>
                  <a:schemeClr val="dk2"/>
                </a:solidFill>
                <a:latin typeface="Roboto Mono"/>
                <a:ea typeface="Roboto Mono"/>
                <a:cs typeface="Roboto Mono"/>
                <a:sym typeface="Roboto Mono"/>
              </a:rPr>
              <a:t>index.html</a:t>
            </a:r>
            <a:r>
              <a:rPr lang="es" sz="1800">
                <a:solidFill>
                  <a:schemeClr val="dk2"/>
                </a:solidFill>
                <a:latin typeface="Roboto Serif"/>
                <a:ea typeface="Roboto Serif"/>
                <a:cs typeface="Roboto Serif"/>
                <a:sym typeface="Roboto Serif"/>
              </a:rPr>
              <a:t>?</a:t>
            </a:r>
            <a:endParaRPr sz="1800">
              <a:solidFill>
                <a:schemeClr val="dk2"/>
              </a:solidFill>
              <a:latin typeface="Roboto Serif"/>
              <a:ea typeface="Roboto Serif"/>
              <a:cs typeface="Roboto Serif"/>
              <a:sym typeface="Roboto Serif"/>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7"/>
          <p:cNvSpPr txBox="1"/>
          <p:nvPr>
            <p:ph type="title"/>
          </p:nvPr>
        </p:nvSpPr>
        <p:spPr>
          <a:xfrm>
            <a:off x="311700" y="222100"/>
            <a:ext cx="8520600" cy="69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Tenemos el siguiente documento HTML…</a:t>
            </a:r>
            <a:endParaRPr/>
          </a:p>
        </p:txBody>
      </p:sp>
      <p:sp>
        <p:nvSpPr>
          <p:cNvPr id="348" name="Google Shape;348;p47"/>
          <p:cNvSpPr txBox="1"/>
          <p:nvPr/>
        </p:nvSpPr>
        <p:spPr>
          <a:xfrm>
            <a:off x="469500" y="920800"/>
            <a:ext cx="5926800" cy="3357600"/>
          </a:xfrm>
          <a:prstGeom prst="rect">
            <a:avLst/>
          </a:prstGeom>
          <a:solidFill>
            <a:srgbClr val="1F1F1F"/>
          </a:solidFill>
          <a:ln>
            <a:noFill/>
          </a:ln>
        </p:spPr>
        <p:txBody>
          <a:bodyPr anchorCtr="0" anchor="t" bIns="91425" lIns="91425" spcFirstLastPara="1" rIns="91425" wrap="square" tIns="91425">
            <a:noAutofit/>
          </a:bodyPr>
          <a:lstStyle/>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&lt;!</a:t>
            </a:r>
            <a:r>
              <a:rPr lang="es" sz="1150">
                <a:solidFill>
                  <a:srgbClr val="F92672"/>
                </a:solidFill>
                <a:highlight>
                  <a:srgbClr val="1F1F1F"/>
                </a:highlight>
                <a:latin typeface="Roboto Mono"/>
                <a:ea typeface="Roboto Mono"/>
                <a:cs typeface="Roboto Mono"/>
                <a:sym typeface="Roboto Mono"/>
              </a:rPr>
              <a:t>DOCTYPE</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html</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&lt;</a:t>
            </a:r>
            <a:r>
              <a:rPr lang="es" sz="1150">
                <a:solidFill>
                  <a:srgbClr val="F92672"/>
                </a:solidFill>
                <a:highlight>
                  <a:srgbClr val="1F1F1F"/>
                </a:highlight>
                <a:latin typeface="Roboto Mono"/>
                <a:ea typeface="Roboto Mono"/>
                <a:cs typeface="Roboto Mono"/>
                <a:sym typeface="Roboto Mono"/>
              </a:rPr>
              <a:t>html</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lang</a:t>
            </a:r>
            <a:r>
              <a:rPr lang="es" sz="1150">
                <a:solidFill>
                  <a:srgbClr val="DDDDDD"/>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"en"</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&lt;</a:t>
            </a:r>
            <a:r>
              <a:rPr lang="es" sz="1150">
                <a:solidFill>
                  <a:srgbClr val="F92672"/>
                </a:solidFill>
                <a:highlight>
                  <a:srgbClr val="1F1F1F"/>
                </a:highlight>
                <a:latin typeface="Roboto Mono"/>
                <a:ea typeface="Roboto Mono"/>
                <a:cs typeface="Roboto Mono"/>
                <a:sym typeface="Roboto Mono"/>
              </a:rPr>
              <a:t>head</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&lt;</a:t>
            </a:r>
            <a:r>
              <a:rPr lang="es" sz="1150">
                <a:solidFill>
                  <a:srgbClr val="F92672"/>
                </a:solidFill>
                <a:highlight>
                  <a:srgbClr val="1F1F1F"/>
                </a:highlight>
                <a:latin typeface="Roboto Mono"/>
                <a:ea typeface="Roboto Mono"/>
                <a:cs typeface="Roboto Mono"/>
                <a:sym typeface="Roboto Mono"/>
              </a:rPr>
              <a:t>meta</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charset</a:t>
            </a:r>
            <a:r>
              <a:rPr lang="es" sz="1150">
                <a:solidFill>
                  <a:srgbClr val="DDDDDD"/>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"UTF-8"</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&lt;</a:t>
            </a:r>
            <a:r>
              <a:rPr lang="es" sz="1150">
                <a:solidFill>
                  <a:srgbClr val="F92672"/>
                </a:solidFill>
                <a:highlight>
                  <a:srgbClr val="1F1F1F"/>
                </a:highlight>
                <a:latin typeface="Roboto Mono"/>
                <a:ea typeface="Roboto Mono"/>
                <a:cs typeface="Roboto Mono"/>
                <a:sym typeface="Roboto Mono"/>
              </a:rPr>
              <a:t>meta</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name</a:t>
            </a:r>
            <a:r>
              <a:rPr lang="es" sz="1150">
                <a:solidFill>
                  <a:srgbClr val="DDDDDD"/>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"viewport"</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content</a:t>
            </a:r>
            <a:r>
              <a:rPr lang="es" sz="1150">
                <a:solidFill>
                  <a:srgbClr val="DDDDDD"/>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"width=device-width, initial-scale=1.0"</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&lt;</a:t>
            </a:r>
            <a:r>
              <a:rPr lang="es" sz="1150">
                <a:solidFill>
                  <a:srgbClr val="F92672"/>
                </a:solidFill>
                <a:highlight>
                  <a:srgbClr val="1F1F1F"/>
                </a:highlight>
                <a:latin typeface="Roboto Mono"/>
                <a:ea typeface="Roboto Mono"/>
                <a:cs typeface="Roboto Mono"/>
                <a:sym typeface="Roboto Mono"/>
              </a:rPr>
              <a:t>title</a:t>
            </a:r>
            <a:r>
              <a:rPr lang="es" sz="1150">
                <a:solidFill>
                  <a:srgbClr val="DDDDDD"/>
                </a:solidFill>
                <a:highlight>
                  <a:srgbClr val="1F1F1F"/>
                </a:highlight>
                <a:latin typeface="Roboto Mono"/>
                <a:ea typeface="Roboto Mono"/>
                <a:cs typeface="Roboto Mono"/>
                <a:sym typeface="Roboto Mono"/>
              </a:rPr>
              <a:t>&gt;Document&lt;/</a:t>
            </a:r>
            <a:r>
              <a:rPr lang="es" sz="1150">
                <a:solidFill>
                  <a:srgbClr val="F92672"/>
                </a:solidFill>
                <a:highlight>
                  <a:srgbClr val="1F1F1F"/>
                </a:highlight>
                <a:latin typeface="Roboto Mono"/>
                <a:ea typeface="Roboto Mono"/>
                <a:cs typeface="Roboto Mono"/>
                <a:sym typeface="Roboto Mono"/>
              </a:rPr>
              <a:t>title</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&lt;/</a:t>
            </a:r>
            <a:r>
              <a:rPr lang="es" sz="1150">
                <a:solidFill>
                  <a:srgbClr val="F92672"/>
                </a:solidFill>
                <a:highlight>
                  <a:srgbClr val="1F1F1F"/>
                </a:highlight>
                <a:latin typeface="Roboto Mono"/>
                <a:ea typeface="Roboto Mono"/>
                <a:cs typeface="Roboto Mono"/>
                <a:sym typeface="Roboto Mono"/>
              </a:rPr>
              <a:t>head</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&lt;</a:t>
            </a:r>
            <a:r>
              <a:rPr lang="es" sz="1150">
                <a:solidFill>
                  <a:srgbClr val="F92672"/>
                </a:solidFill>
                <a:highlight>
                  <a:srgbClr val="1F1F1F"/>
                </a:highlight>
                <a:latin typeface="Roboto Mono"/>
                <a:ea typeface="Roboto Mono"/>
                <a:cs typeface="Roboto Mono"/>
                <a:sym typeface="Roboto Mono"/>
              </a:rPr>
              <a:t>body</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&lt;</a:t>
            </a:r>
            <a:r>
              <a:rPr lang="es" sz="1150">
                <a:solidFill>
                  <a:srgbClr val="F92672"/>
                </a:solidFill>
                <a:highlight>
                  <a:srgbClr val="1F1F1F"/>
                </a:highlight>
                <a:latin typeface="Roboto Mono"/>
                <a:ea typeface="Roboto Mono"/>
                <a:cs typeface="Roboto Mono"/>
                <a:sym typeface="Roboto Mono"/>
              </a:rPr>
              <a:t>h1</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id</a:t>
            </a:r>
            <a:r>
              <a:rPr lang="es" sz="1150">
                <a:solidFill>
                  <a:srgbClr val="DDDDDD"/>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"titulo"</a:t>
            </a:r>
            <a:r>
              <a:rPr lang="es" sz="1150">
                <a:solidFill>
                  <a:srgbClr val="DDDDDD"/>
                </a:solidFill>
                <a:highlight>
                  <a:srgbClr val="1F1F1F"/>
                </a:highlight>
                <a:latin typeface="Roboto Mono"/>
                <a:ea typeface="Roboto Mono"/>
                <a:cs typeface="Roboto Mono"/>
                <a:sym typeface="Roboto Mono"/>
              </a:rPr>
              <a:t>&gt;Hola mundo!&lt;/</a:t>
            </a:r>
            <a:r>
              <a:rPr lang="es" sz="1150">
                <a:solidFill>
                  <a:srgbClr val="F92672"/>
                </a:solidFill>
                <a:highlight>
                  <a:srgbClr val="1F1F1F"/>
                </a:highlight>
                <a:latin typeface="Roboto Mono"/>
                <a:ea typeface="Roboto Mono"/>
                <a:cs typeface="Roboto Mono"/>
                <a:sym typeface="Roboto Mono"/>
              </a:rPr>
              <a:t>h1</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&lt;</a:t>
            </a:r>
            <a:r>
              <a:rPr lang="es" sz="1150">
                <a:solidFill>
                  <a:srgbClr val="F92672"/>
                </a:solidFill>
                <a:highlight>
                  <a:srgbClr val="1F1F1F"/>
                </a:highlight>
                <a:latin typeface="Roboto Mono"/>
                <a:ea typeface="Roboto Mono"/>
                <a:cs typeface="Roboto Mono"/>
                <a:sym typeface="Roboto Mono"/>
              </a:rPr>
              <a:t>button</a:t>
            </a:r>
            <a:r>
              <a:rPr lang="es" sz="1150">
                <a:solidFill>
                  <a:srgbClr val="DDDDDD"/>
                </a:solidFill>
                <a:highlight>
                  <a:srgbClr val="1F1F1F"/>
                </a:highlight>
                <a:latin typeface="Roboto Mono"/>
                <a:ea typeface="Roboto Mono"/>
                <a:cs typeface="Roboto Mono"/>
                <a:sym typeface="Roboto Mono"/>
              </a:rPr>
              <a:t> </a:t>
            </a:r>
            <a:r>
              <a:rPr lang="es" sz="1150">
                <a:solidFill>
                  <a:srgbClr val="A6E22E"/>
                </a:solidFill>
                <a:highlight>
                  <a:srgbClr val="1F1F1F"/>
                </a:highlight>
                <a:latin typeface="Roboto Mono"/>
                <a:ea typeface="Roboto Mono"/>
                <a:cs typeface="Roboto Mono"/>
                <a:sym typeface="Roboto Mono"/>
              </a:rPr>
              <a:t>id</a:t>
            </a:r>
            <a:r>
              <a:rPr lang="es" sz="1150">
                <a:solidFill>
                  <a:srgbClr val="DDDDDD"/>
                </a:solidFill>
                <a:highlight>
                  <a:srgbClr val="1F1F1F"/>
                </a:highlight>
                <a:latin typeface="Roboto Mono"/>
                <a:ea typeface="Roboto Mono"/>
                <a:cs typeface="Roboto Mono"/>
                <a:sym typeface="Roboto Mono"/>
              </a:rPr>
              <a:t>=</a:t>
            </a:r>
            <a:r>
              <a:rPr lang="es" sz="1150">
                <a:solidFill>
                  <a:srgbClr val="E6DB74"/>
                </a:solidFill>
                <a:highlight>
                  <a:srgbClr val="1F1F1F"/>
                </a:highlight>
                <a:latin typeface="Roboto Mono"/>
                <a:ea typeface="Roboto Mono"/>
                <a:cs typeface="Roboto Mono"/>
                <a:sym typeface="Roboto Mono"/>
              </a:rPr>
              <a:t>"change-color"</a:t>
            </a:r>
            <a:r>
              <a:rPr lang="es" sz="1150">
                <a:solidFill>
                  <a:srgbClr val="DDDDDD"/>
                </a:solidFill>
                <a:highlight>
                  <a:srgbClr val="1F1F1F"/>
                </a:highlight>
                <a:latin typeface="Roboto Mono"/>
                <a:ea typeface="Roboto Mono"/>
                <a:cs typeface="Roboto Mono"/>
                <a:sym typeface="Roboto Mono"/>
              </a:rPr>
              <a:t>&gt;Cambiar color&lt;/</a:t>
            </a:r>
            <a:r>
              <a:rPr lang="es" sz="1150">
                <a:solidFill>
                  <a:srgbClr val="F92672"/>
                </a:solidFill>
                <a:highlight>
                  <a:srgbClr val="1F1F1F"/>
                </a:highlight>
                <a:latin typeface="Roboto Mono"/>
                <a:ea typeface="Roboto Mono"/>
                <a:cs typeface="Roboto Mono"/>
                <a:sym typeface="Roboto Mono"/>
              </a:rPr>
              <a:t>button</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   </a:t>
            </a:r>
            <a:r>
              <a:rPr lang="es" sz="1150">
                <a:solidFill>
                  <a:srgbClr val="F8F8F2"/>
                </a:solidFill>
                <a:highlight>
                  <a:schemeClr val="dk2"/>
                </a:highlight>
                <a:latin typeface="Roboto Mono"/>
                <a:ea typeface="Roboto Mono"/>
                <a:cs typeface="Roboto Mono"/>
                <a:sym typeface="Roboto Mono"/>
              </a:rPr>
              <a:t>&lt;</a:t>
            </a:r>
            <a:r>
              <a:rPr lang="es" sz="1150">
                <a:solidFill>
                  <a:srgbClr val="F92672"/>
                </a:solidFill>
                <a:highlight>
                  <a:schemeClr val="dk2"/>
                </a:highlight>
                <a:latin typeface="Roboto Mono"/>
                <a:ea typeface="Roboto Mono"/>
                <a:cs typeface="Roboto Mono"/>
                <a:sym typeface="Roboto Mono"/>
              </a:rPr>
              <a:t>script</a:t>
            </a:r>
            <a:r>
              <a:rPr lang="es" sz="1150">
                <a:solidFill>
                  <a:srgbClr val="F8F8F2"/>
                </a:solidFill>
                <a:highlight>
                  <a:schemeClr val="dk2"/>
                </a:highlight>
                <a:latin typeface="Roboto Mono"/>
                <a:ea typeface="Roboto Mono"/>
                <a:cs typeface="Roboto Mono"/>
                <a:sym typeface="Roboto Mono"/>
              </a:rPr>
              <a:t> </a:t>
            </a:r>
            <a:r>
              <a:rPr lang="es" sz="1150">
                <a:solidFill>
                  <a:srgbClr val="A6E22E"/>
                </a:solidFill>
                <a:highlight>
                  <a:schemeClr val="dk2"/>
                </a:highlight>
                <a:latin typeface="Roboto Mono"/>
                <a:ea typeface="Roboto Mono"/>
                <a:cs typeface="Roboto Mono"/>
                <a:sym typeface="Roboto Mono"/>
              </a:rPr>
              <a:t>src</a:t>
            </a:r>
            <a:r>
              <a:rPr lang="es" sz="1150">
                <a:solidFill>
                  <a:srgbClr val="F8F8F2"/>
                </a:solidFill>
                <a:highlight>
                  <a:schemeClr val="dk2"/>
                </a:highlight>
                <a:latin typeface="Roboto Mono"/>
                <a:ea typeface="Roboto Mono"/>
                <a:cs typeface="Roboto Mono"/>
                <a:sym typeface="Roboto Mono"/>
              </a:rPr>
              <a:t>=</a:t>
            </a:r>
            <a:r>
              <a:rPr lang="es" sz="1150">
                <a:solidFill>
                  <a:srgbClr val="E6DB74"/>
                </a:solidFill>
                <a:highlight>
                  <a:schemeClr val="dk2"/>
                </a:highlight>
                <a:latin typeface="Roboto Mono"/>
                <a:ea typeface="Roboto Mono"/>
                <a:cs typeface="Roboto Mono"/>
                <a:sym typeface="Roboto Mono"/>
              </a:rPr>
              <a:t>"script.js"</a:t>
            </a:r>
            <a:r>
              <a:rPr lang="es" sz="1150">
                <a:solidFill>
                  <a:srgbClr val="F8F8F2"/>
                </a:solidFill>
                <a:highlight>
                  <a:schemeClr val="dk2"/>
                </a:highlight>
                <a:latin typeface="Roboto Mono"/>
                <a:ea typeface="Roboto Mono"/>
                <a:cs typeface="Roboto Mono"/>
                <a:sym typeface="Roboto Mono"/>
              </a:rPr>
              <a:t>&gt;&lt;/</a:t>
            </a:r>
            <a:r>
              <a:rPr lang="es" sz="1150">
                <a:solidFill>
                  <a:srgbClr val="F92672"/>
                </a:solidFill>
                <a:highlight>
                  <a:schemeClr val="dk2"/>
                </a:highlight>
                <a:latin typeface="Roboto Mono"/>
                <a:ea typeface="Roboto Mono"/>
                <a:cs typeface="Roboto Mono"/>
                <a:sym typeface="Roboto Mono"/>
              </a:rPr>
              <a:t>script</a:t>
            </a:r>
            <a:r>
              <a:rPr lang="es" sz="1150">
                <a:solidFill>
                  <a:srgbClr val="F8F8F2"/>
                </a:solidFill>
                <a:highlight>
                  <a:schemeClr val="dk2"/>
                </a:highlight>
                <a:latin typeface="Roboto Mono"/>
                <a:ea typeface="Roboto Mono"/>
                <a:cs typeface="Roboto Mono"/>
                <a:sym typeface="Roboto Mono"/>
              </a:rPr>
              <a:t>&gt;</a:t>
            </a:r>
            <a:endParaRPr sz="1150">
              <a:solidFill>
                <a:srgbClr val="F8F8F2"/>
              </a:solidFill>
              <a:highlight>
                <a:schemeClr val="dk2"/>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&lt;/</a:t>
            </a:r>
            <a:r>
              <a:rPr lang="es" sz="1150">
                <a:solidFill>
                  <a:srgbClr val="F92672"/>
                </a:solidFill>
                <a:highlight>
                  <a:srgbClr val="1F1F1F"/>
                </a:highlight>
                <a:latin typeface="Roboto Mono"/>
                <a:ea typeface="Roboto Mono"/>
                <a:cs typeface="Roboto Mono"/>
                <a:sym typeface="Roboto Mono"/>
              </a:rPr>
              <a:t>body</a:t>
            </a:r>
            <a:r>
              <a:rPr lang="es" sz="1150">
                <a:solidFill>
                  <a:srgbClr val="DDDDDD"/>
                </a:solidFill>
                <a:highlight>
                  <a:srgbClr val="1F1F1F"/>
                </a:highlight>
                <a:latin typeface="Roboto Mono"/>
                <a:ea typeface="Roboto Mono"/>
                <a:cs typeface="Roboto Mono"/>
                <a:sym typeface="Roboto Mono"/>
              </a:rPr>
              <a:t>&gt;</a:t>
            </a:r>
            <a:endParaRPr sz="1150">
              <a:solidFill>
                <a:srgbClr val="DDDDDD"/>
              </a:solidFill>
              <a:highlight>
                <a:srgbClr val="1F1F1F"/>
              </a:highlight>
              <a:latin typeface="Roboto Mono"/>
              <a:ea typeface="Roboto Mono"/>
              <a:cs typeface="Roboto Mono"/>
              <a:sym typeface="Roboto Mono"/>
            </a:endParaRPr>
          </a:p>
          <a:p>
            <a:pPr indent="0" lvl="0" marL="0" rtl="0" algn="l">
              <a:lnSpc>
                <a:spcPct val="130434"/>
              </a:lnSpc>
              <a:spcBef>
                <a:spcPts val="0"/>
              </a:spcBef>
              <a:spcAft>
                <a:spcPts val="0"/>
              </a:spcAft>
              <a:buNone/>
            </a:pPr>
            <a:r>
              <a:rPr lang="es" sz="1150">
                <a:solidFill>
                  <a:srgbClr val="DDDDDD"/>
                </a:solidFill>
                <a:highlight>
                  <a:srgbClr val="1F1F1F"/>
                </a:highlight>
                <a:latin typeface="Roboto Mono"/>
                <a:ea typeface="Roboto Mono"/>
                <a:cs typeface="Roboto Mono"/>
                <a:sym typeface="Roboto Mono"/>
              </a:rPr>
              <a:t>&lt;/</a:t>
            </a:r>
            <a:r>
              <a:rPr lang="es" sz="1150">
                <a:solidFill>
                  <a:srgbClr val="F92672"/>
                </a:solidFill>
                <a:highlight>
                  <a:srgbClr val="1F1F1F"/>
                </a:highlight>
                <a:latin typeface="Roboto Mono"/>
                <a:ea typeface="Roboto Mono"/>
                <a:cs typeface="Roboto Mono"/>
                <a:sym typeface="Roboto Mono"/>
              </a:rPr>
              <a:t>html</a:t>
            </a:r>
            <a:r>
              <a:rPr lang="es" sz="1150">
                <a:solidFill>
                  <a:srgbClr val="DDDDDD"/>
                </a:solidFill>
                <a:highlight>
                  <a:srgbClr val="1F1F1F"/>
                </a:highlight>
                <a:latin typeface="Roboto Mono"/>
                <a:ea typeface="Roboto Mono"/>
                <a:cs typeface="Roboto Mono"/>
                <a:sym typeface="Roboto Mono"/>
              </a:rPr>
              <a:t>&gt;</a:t>
            </a:r>
            <a:endParaRPr i="1" sz="1100">
              <a:solidFill>
                <a:srgbClr val="66D9EF"/>
              </a:solidFill>
              <a:highlight>
                <a:srgbClr val="1F1F1F"/>
              </a:highlight>
              <a:latin typeface="Roboto Mono"/>
              <a:ea typeface="Roboto Mono"/>
              <a:cs typeface="Roboto Mono"/>
              <a:sym typeface="Roboto Mono"/>
            </a:endParaRPr>
          </a:p>
        </p:txBody>
      </p:sp>
      <p:sp>
        <p:nvSpPr>
          <p:cNvPr id="349" name="Google Shape;349;p47"/>
          <p:cNvSpPr txBox="1"/>
          <p:nvPr/>
        </p:nvSpPr>
        <p:spPr>
          <a:xfrm>
            <a:off x="6763925" y="1486425"/>
            <a:ext cx="2123400" cy="1847100"/>
          </a:xfrm>
          <a:prstGeom prst="rect">
            <a:avLst/>
          </a:prstGeom>
          <a:noFill/>
          <a:ln cap="flat" cmpd="sng" w="9525">
            <a:solidFill>
              <a:srgbClr val="1F1F1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latin typeface="Roboto Serif"/>
                <a:ea typeface="Roboto Serif"/>
                <a:cs typeface="Roboto Serif"/>
                <a:sym typeface="Roboto Serif"/>
              </a:rPr>
              <a:t>Vamos a incorporar un script de JavaScript con la etiqueta </a:t>
            </a:r>
            <a:r>
              <a:rPr lang="es" sz="1800">
                <a:solidFill>
                  <a:schemeClr val="dk2"/>
                </a:solidFill>
                <a:latin typeface="Roboto Mono"/>
                <a:ea typeface="Roboto Mono"/>
                <a:cs typeface="Roboto Mono"/>
                <a:sym typeface="Roboto Mono"/>
              </a:rPr>
              <a:t>&lt;script&gt;</a:t>
            </a:r>
            <a:endParaRPr sz="1800">
              <a:solidFill>
                <a:schemeClr val="dk2"/>
              </a:solidFill>
              <a:latin typeface="Roboto Mono"/>
              <a:ea typeface="Roboto Mono"/>
              <a:cs typeface="Roboto Mono"/>
              <a:sym typeface="Roboto Mon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8"/>
          <p:cNvSpPr txBox="1"/>
          <p:nvPr>
            <p:ph type="title"/>
          </p:nvPr>
        </p:nvSpPr>
        <p:spPr>
          <a:xfrm>
            <a:off x="311700" y="222100"/>
            <a:ext cx="8520600" cy="69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 y un script de JS vinculado al HTML</a:t>
            </a:r>
            <a:endParaRPr/>
          </a:p>
        </p:txBody>
      </p:sp>
      <p:sp>
        <p:nvSpPr>
          <p:cNvPr id="355" name="Google Shape;355;p48"/>
          <p:cNvSpPr txBox="1"/>
          <p:nvPr/>
        </p:nvSpPr>
        <p:spPr>
          <a:xfrm>
            <a:off x="469500" y="997000"/>
            <a:ext cx="5926800" cy="3578400"/>
          </a:xfrm>
          <a:prstGeom prst="rect">
            <a:avLst/>
          </a:prstGeom>
          <a:solidFill>
            <a:srgbClr val="1F1F1F"/>
          </a:solidFill>
          <a:ln>
            <a:noFill/>
          </a:ln>
        </p:spPr>
        <p:txBody>
          <a:bodyPr anchorCtr="0" anchor="t" bIns="91425" lIns="91425" spcFirstLastPara="1" rIns="91425" wrap="square" tIns="91425">
            <a:noAutofit/>
          </a:bodyPr>
          <a:lstStyle/>
          <a:p>
            <a:pPr indent="0" lvl="0" marL="0" rtl="0" algn="l">
              <a:lnSpc>
                <a:spcPct val="110434"/>
              </a:lnSpc>
              <a:spcBef>
                <a:spcPts val="0"/>
              </a:spcBef>
              <a:spcAft>
                <a:spcPts val="0"/>
              </a:spcAft>
              <a:buSzPts val="852"/>
              <a:buNone/>
            </a:pPr>
            <a:r>
              <a:rPr i="1" lang="es" sz="1100">
                <a:solidFill>
                  <a:srgbClr val="66D9EF"/>
                </a:solidFill>
                <a:highlight>
                  <a:srgbClr val="1F1F1F"/>
                </a:highlight>
                <a:latin typeface="Roboto Mono"/>
                <a:ea typeface="Roboto Mono"/>
                <a:cs typeface="Roboto Mono"/>
                <a:sym typeface="Roboto Mono"/>
              </a:rPr>
              <a:t>const</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title</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document</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getElementById</a:t>
            </a:r>
            <a:r>
              <a:rPr lang="es" sz="1100">
                <a:solidFill>
                  <a:srgbClr val="DDDDDD"/>
                </a:solidFill>
                <a:highlight>
                  <a:srgbClr val="1F1F1F"/>
                </a:highlight>
                <a:latin typeface="Roboto Mono"/>
                <a:ea typeface="Roboto Mono"/>
                <a:cs typeface="Roboto Mono"/>
                <a:sym typeface="Roboto Mono"/>
              </a:rPr>
              <a:t>(</a:t>
            </a:r>
            <a:r>
              <a:rPr lang="es" sz="1100">
                <a:solidFill>
                  <a:srgbClr val="E6DB74"/>
                </a:solidFill>
                <a:highlight>
                  <a:srgbClr val="1F1F1F"/>
                </a:highlight>
                <a:latin typeface="Roboto Mono"/>
                <a:ea typeface="Roboto Mono"/>
                <a:cs typeface="Roboto Mono"/>
                <a:sym typeface="Roboto Mono"/>
              </a:rPr>
              <a:t>"titulo"</a:t>
            </a: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F8F8F2"/>
                </a:solidFill>
                <a:highlight>
                  <a:srgbClr val="1F1F1F"/>
                </a:highlight>
                <a:latin typeface="Roboto Mono"/>
                <a:ea typeface="Roboto Mono"/>
                <a:cs typeface="Roboto Mono"/>
                <a:sym typeface="Roboto Mono"/>
              </a:rPr>
              <a:t>title</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addEventListener</a:t>
            </a:r>
            <a:r>
              <a:rPr lang="es" sz="1100">
                <a:solidFill>
                  <a:srgbClr val="DDDDDD"/>
                </a:solidFill>
                <a:highlight>
                  <a:srgbClr val="1F1F1F"/>
                </a:highlight>
                <a:latin typeface="Roboto Mono"/>
                <a:ea typeface="Roboto Mono"/>
                <a:cs typeface="Roboto Mono"/>
                <a:sym typeface="Roboto Mono"/>
              </a:rPr>
              <a:t>(</a:t>
            </a:r>
            <a:r>
              <a:rPr lang="es" sz="1100">
                <a:solidFill>
                  <a:srgbClr val="E6DB74"/>
                </a:solidFill>
                <a:highlight>
                  <a:srgbClr val="1F1F1F"/>
                </a:highlight>
                <a:latin typeface="Roboto Mono"/>
                <a:ea typeface="Roboto Mono"/>
                <a:cs typeface="Roboto Mono"/>
                <a:sym typeface="Roboto Mono"/>
              </a:rPr>
              <a:t>"mouseover"</a:t>
            </a:r>
            <a:r>
              <a:rPr lang="es" sz="1100">
                <a:solidFill>
                  <a:srgbClr val="DDDDDD"/>
                </a:solidFill>
                <a:highlight>
                  <a:srgbClr val="1F1F1F"/>
                </a:highlight>
                <a:latin typeface="Roboto Mono"/>
                <a:ea typeface="Roboto Mono"/>
                <a:cs typeface="Roboto Mono"/>
                <a:sym typeface="Roboto Mono"/>
              </a:rPr>
              <a:t>, () </a:t>
            </a:r>
            <a:r>
              <a:rPr i="1" lang="es" sz="1100">
                <a:solidFill>
                  <a:srgbClr val="66D9EF"/>
                </a:solidFill>
                <a:highlight>
                  <a:srgbClr val="1F1F1F"/>
                </a:highlight>
                <a:latin typeface="Roboto Mono"/>
                <a:ea typeface="Roboto Mono"/>
                <a:cs typeface="Roboto Mono"/>
                <a:sym typeface="Roboto Mono"/>
              </a:rPr>
              <a:t>=&gt;</a:t>
            </a:r>
            <a:r>
              <a:rPr lang="es" sz="1100">
                <a:solidFill>
                  <a:srgbClr val="DDDDDD"/>
                </a:solidFill>
                <a:highlight>
                  <a:srgbClr val="1F1F1F"/>
                </a:highlight>
                <a:latin typeface="Roboto Mono"/>
                <a:ea typeface="Roboto Mono"/>
                <a:cs typeface="Roboto Mono"/>
                <a:sym typeface="Roboto Mono"/>
              </a:rPr>
              <a:t> {</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    </a:t>
            </a:r>
            <a:r>
              <a:rPr lang="es" sz="1100">
                <a:solidFill>
                  <a:srgbClr val="A6E22E"/>
                </a:solidFill>
                <a:highlight>
                  <a:srgbClr val="1F1F1F"/>
                </a:highlight>
                <a:latin typeface="Roboto Mono"/>
                <a:ea typeface="Roboto Mono"/>
                <a:cs typeface="Roboto Mono"/>
                <a:sym typeface="Roboto Mono"/>
              </a:rPr>
              <a:t>alert</a:t>
            </a:r>
            <a:r>
              <a:rPr lang="es" sz="1100">
                <a:solidFill>
                  <a:srgbClr val="DDDDDD"/>
                </a:solidFill>
                <a:highlight>
                  <a:srgbClr val="1F1F1F"/>
                </a:highlight>
                <a:latin typeface="Roboto Mono"/>
                <a:ea typeface="Roboto Mono"/>
                <a:cs typeface="Roboto Mono"/>
                <a:sym typeface="Roboto Mono"/>
              </a:rPr>
              <a:t>(</a:t>
            </a:r>
            <a:r>
              <a:rPr lang="es" sz="1100">
                <a:solidFill>
                  <a:srgbClr val="E6DB74"/>
                </a:solidFill>
                <a:highlight>
                  <a:srgbClr val="1F1F1F"/>
                </a:highlight>
                <a:latin typeface="Roboto Mono"/>
                <a:ea typeface="Roboto Mono"/>
                <a:cs typeface="Roboto Mono"/>
                <a:sym typeface="Roboto Mono"/>
              </a:rPr>
              <a:t>"Hola"</a:t>
            </a: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i="1" lang="es" sz="1100">
                <a:solidFill>
                  <a:srgbClr val="66D9EF"/>
                </a:solidFill>
                <a:highlight>
                  <a:srgbClr val="1F1F1F"/>
                </a:highlight>
                <a:latin typeface="Roboto Mono"/>
                <a:ea typeface="Roboto Mono"/>
                <a:cs typeface="Roboto Mono"/>
                <a:sym typeface="Roboto Mono"/>
              </a:rPr>
              <a:t>const</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changeColor</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document</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getElementById</a:t>
            </a:r>
            <a:r>
              <a:rPr lang="es" sz="1100">
                <a:solidFill>
                  <a:srgbClr val="DDDDDD"/>
                </a:solidFill>
                <a:highlight>
                  <a:srgbClr val="1F1F1F"/>
                </a:highlight>
                <a:latin typeface="Roboto Mono"/>
                <a:ea typeface="Roboto Mono"/>
                <a:cs typeface="Roboto Mono"/>
                <a:sym typeface="Roboto Mono"/>
              </a:rPr>
              <a:t>(</a:t>
            </a:r>
            <a:r>
              <a:rPr lang="es" sz="1100">
                <a:solidFill>
                  <a:srgbClr val="E6DB74"/>
                </a:solidFill>
                <a:highlight>
                  <a:srgbClr val="1F1F1F"/>
                </a:highlight>
                <a:latin typeface="Roboto Mono"/>
                <a:ea typeface="Roboto Mono"/>
                <a:cs typeface="Roboto Mono"/>
                <a:sym typeface="Roboto Mono"/>
              </a:rPr>
              <a:t>"change-color"</a:t>
            </a: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F8F8F2"/>
                </a:solidFill>
                <a:highlight>
                  <a:srgbClr val="1F1F1F"/>
                </a:highlight>
                <a:latin typeface="Roboto Mono"/>
                <a:ea typeface="Roboto Mono"/>
                <a:cs typeface="Roboto Mono"/>
                <a:sym typeface="Roboto Mono"/>
              </a:rPr>
              <a:t>changeColor</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onclick</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i="1" lang="es" sz="1100">
                <a:solidFill>
                  <a:srgbClr val="66D9EF"/>
                </a:solidFill>
                <a:highlight>
                  <a:srgbClr val="1F1F1F"/>
                </a:highlight>
                <a:latin typeface="Roboto Mono"/>
                <a:ea typeface="Roboto Mono"/>
                <a:cs typeface="Roboto Mono"/>
                <a:sym typeface="Roboto Mono"/>
              </a:rPr>
              <a:t>function</a:t>
            </a:r>
            <a:r>
              <a:rPr lang="es" sz="1100">
                <a:solidFill>
                  <a:srgbClr val="DDDDDD"/>
                </a:solidFill>
                <a:highlight>
                  <a:srgbClr val="1F1F1F"/>
                </a:highlight>
                <a:latin typeface="Roboto Mono"/>
                <a:ea typeface="Roboto Mono"/>
                <a:cs typeface="Roboto Mono"/>
                <a:sym typeface="Roboto Mono"/>
              </a:rPr>
              <a:t> (</a:t>
            </a:r>
            <a:r>
              <a:rPr i="1" lang="es" sz="1100">
                <a:solidFill>
                  <a:srgbClr val="FD971F"/>
                </a:solidFill>
                <a:highlight>
                  <a:srgbClr val="1F1F1F"/>
                </a:highlight>
                <a:latin typeface="Roboto Mono"/>
                <a:ea typeface="Roboto Mono"/>
                <a:cs typeface="Roboto Mono"/>
                <a:sym typeface="Roboto Mono"/>
              </a:rPr>
              <a:t>event</a:t>
            </a:r>
            <a:r>
              <a:rPr lang="es" sz="1100">
                <a:solidFill>
                  <a:srgbClr val="DDDDDD"/>
                </a:solidFill>
                <a:highlight>
                  <a:srgbClr val="1F1F1F"/>
                </a:highlight>
                <a:latin typeface="Roboto Mono"/>
                <a:ea typeface="Roboto Mono"/>
                <a:cs typeface="Roboto Mono"/>
                <a:sym typeface="Roboto Mono"/>
              </a:rPr>
              <a:t>) {</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    </a:t>
            </a:r>
            <a:r>
              <a:rPr i="1" lang="es" sz="1100">
                <a:solidFill>
                  <a:srgbClr val="66D9EF"/>
                </a:solidFill>
                <a:highlight>
                  <a:srgbClr val="1F1F1F"/>
                </a:highlight>
                <a:latin typeface="Roboto Mono"/>
                <a:ea typeface="Roboto Mono"/>
                <a:cs typeface="Roboto Mono"/>
                <a:sym typeface="Roboto Mono"/>
              </a:rPr>
              <a:t>const</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R</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lang="es" sz="1100">
                <a:solidFill>
                  <a:srgbClr val="A6E22E"/>
                </a:solidFill>
                <a:highlight>
                  <a:srgbClr val="1F1F1F"/>
                </a:highlight>
                <a:latin typeface="Roboto Mono"/>
                <a:ea typeface="Roboto Mono"/>
                <a:cs typeface="Roboto Mono"/>
                <a:sym typeface="Roboto Mono"/>
              </a:rPr>
              <a:t>randomNumber</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toString</a:t>
            </a: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    </a:t>
            </a:r>
            <a:r>
              <a:rPr i="1" lang="es" sz="1100">
                <a:solidFill>
                  <a:srgbClr val="66D9EF"/>
                </a:solidFill>
                <a:highlight>
                  <a:srgbClr val="1F1F1F"/>
                </a:highlight>
                <a:latin typeface="Roboto Mono"/>
                <a:ea typeface="Roboto Mono"/>
                <a:cs typeface="Roboto Mono"/>
                <a:sym typeface="Roboto Mono"/>
              </a:rPr>
              <a:t>const</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G</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lang="es" sz="1100">
                <a:solidFill>
                  <a:srgbClr val="A6E22E"/>
                </a:solidFill>
                <a:highlight>
                  <a:srgbClr val="1F1F1F"/>
                </a:highlight>
                <a:latin typeface="Roboto Mono"/>
                <a:ea typeface="Roboto Mono"/>
                <a:cs typeface="Roboto Mono"/>
                <a:sym typeface="Roboto Mono"/>
              </a:rPr>
              <a:t>randomNumber</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toString</a:t>
            </a: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    </a:t>
            </a:r>
            <a:r>
              <a:rPr i="1" lang="es" sz="1100">
                <a:solidFill>
                  <a:srgbClr val="66D9EF"/>
                </a:solidFill>
                <a:highlight>
                  <a:srgbClr val="1F1F1F"/>
                </a:highlight>
                <a:latin typeface="Roboto Mono"/>
                <a:ea typeface="Roboto Mono"/>
                <a:cs typeface="Roboto Mono"/>
                <a:sym typeface="Roboto Mono"/>
              </a:rPr>
              <a:t>const</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B</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lang="es" sz="1100">
                <a:solidFill>
                  <a:srgbClr val="A6E22E"/>
                </a:solidFill>
                <a:highlight>
                  <a:srgbClr val="1F1F1F"/>
                </a:highlight>
                <a:latin typeface="Roboto Mono"/>
                <a:ea typeface="Roboto Mono"/>
                <a:cs typeface="Roboto Mono"/>
                <a:sym typeface="Roboto Mono"/>
              </a:rPr>
              <a:t>randomNumber</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toString</a:t>
            </a: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title</a:t>
            </a:r>
            <a:r>
              <a:rPr lang="es" sz="1100">
                <a:solidFill>
                  <a:srgbClr val="DDDDDD"/>
                </a:solidFill>
                <a:highlight>
                  <a:srgbClr val="1F1F1F"/>
                </a:highlight>
                <a:latin typeface="Roboto Mono"/>
                <a:ea typeface="Roboto Mono"/>
                <a:cs typeface="Roboto Mono"/>
                <a:sym typeface="Roboto Mono"/>
              </a:rPr>
              <a:t>.</a:t>
            </a:r>
            <a:r>
              <a:rPr lang="es" sz="1100">
                <a:solidFill>
                  <a:srgbClr val="F8F8F2"/>
                </a:solidFill>
                <a:highlight>
                  <a:srgbClr val="1F1F1F"/>
                </a:highlight>
                <a:latin typeface="Roboto Mono"/>
                <a:ea typeface="Roboto Mono"/>
                <a:cs typeface="Roboto Mono"/>
                <a:sym typeface="Roboto Mono"/>
              </a:rPr>
              <a:t>style</a:t>
            </a:r>
            <a:r>
              <a:rPr lang="es" sz="1100">
                <a:solidFill>
                  <a:srgbClr val="DDDDDD"/>
                </a:solidFill>
                <a:highlight>
                  <a:srgbClr val="1F1F1F"/>
                </a:highlight>
                <a:latin typeface="Roboto Mono"/>
                <a:ea typeface="Roboto Mono"/>
                <a:cs typeface="Roboto Mono"/>
                <a:sym typeface="Roboto Mono"/>
              </a:rPr>
              <a:t>.</a:t>
            </a:r>
            <a:r>
              <a:rPr lang="es" sz="1100">
                <a:solidFill>
                  <a:srgbClr val="F8F8F2"/>
                </a:solidFill>
                <a:highlight>
                  <a:srgbClr val="1F1F1F"/>
                </a:highlight>
                <a:latin typeface="Roboto Mono"/>
                <a:ea typeface="Roboto Mono"/>
                <a:cs typeface="Roboto Mono"/>
                <a:sym typeface="Roboto Mono"/>
              </a:rPr>
              <a:t>color</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lang="es" sz="1100">
                <a:solidFill>
                  <a:srgbClr val="E6DB74"/>
                </a:solidFill>
                <a:highlight>
                  <a:srgbClr val="1F1F1F"/>
                </a:highlight>
                <a:latin typeface="Roboto Mono"/>
                <a:ea typeface="Roboto Mono"/>
                <a:cs typeface="Roboto Mono"/>
                <a:sym typeface="Roboto Mono"/>
              </a:rPr>
              <a:t>`rgb(</a:t>
            </a:r>
            <a:r>
              <a:rPr lang="es" sz="1100">
                <a:solidFill>
                  <a:srgbClr val="F92672"/>
                </a:solidFill>
                <a:highlight>
                  <a:srgbClr val="1F1F1F"/>
                </a:highlight>
                <a:latin typeface="Roboto Mono"/>
                <a:ea typeface="Roboto Mono"/>
                <a:cs typeface="Roboto Mono"/>
                <a:sym typeface="Roboto Mono"/>
              </a:rPr>
              <a:t>${</a:t>
            </a:r>
            <a:r>
              <a:rPr lang="es" sz="1100">
                <a:solidFill>
                  <a:srgbClr val="F8F8F2"/>
                </a:solidFill>
                <a:highlight>
                  <a:srgbClr val="1F1F1F"/>
                </a:highlight>
                <a:latin typeface="Roboto Mono"/>
                <a:ea typeface="Roboto Mono"/>
                <a:cs typeface="Roboto Mono"/>
                <a:sym typeface="Roboto Mono"/>
              </a:rPr>
              <a:t>R</a:t>
            </a:r>
            <a:r>
              <a:rPr lang="es" sz="1100">
                <a:solidFill>
                  <a:srgbClr val="F92672"/>
                </a:solidFill>
                <a:highlight>
                  <a:srgbClr val="1F1F1F"/>
                </a:highlight>
                <a:latin typeface="Roboto Mono"/>
                <a:ea typeface="Roboto Mono"/>
                <a:cs typeface="Roboto Mono"/>
                <a:sym typeface="Roboto Mono"/>
              </a:rPr>
              <a:t>}</a:t>
            </a:r>
            <a:r>
              <a:rPr lang="es" sz="1100">
                <a:solidFill>
                  <a:srgbClr val="E6DB74"/>
                </a:solidFill>
                <a:highlight>
                  <a:srgbClr val="1F1F1F"/>
                </a:highlight>
                <a:latin typeface="Roboto Mono"/>
                <a:ea typeface="Roboto Mono"/>
                <a:cs typeface="Roboto Mono"/>
                <a:sym typeface="Roboto Mono"/>
              </a:rPr>
              <a:t>,</a:t>
            </a:r>
            <a:r>
              <a:rPr lang="es" sz="1100">
                <a:solidFill>
                  <a:srgbClr val="F92672"/>
                </a:solidFill>
                <a:highlight>
                  <a:srgbClr val="1F1F1F"/>
                </a:highlight>
                <a:latin typeface="Roboto Mono"/>
                <a:ea typeface="Roboto Mono"/>
                <a:cs typeface="Roboto Mono"/>
                <a:sym typeface="Roboto Mono"/>
              </a:rPr>
              <a:t>${</a:t>
            </a:r>
            <a:r>
              <a:rPr lang="es" sz="1100">
                <a:solidFill>
                  <a:srgbClr val="F8F8F2"/>
                </a:solidFill>
                <a:highlight>
                  <a:srgbClr val="1F1F1F"/>
                </a:highlight>
                <a:latin typeface="Roboto Mono"/>
                <a:ea typeface="Roboto Mono"/>
                <a:cs typeface="Roboto Mono"/>
                <a:sym typeface="Roboto Mono"/>
              </a:rPr>
              <a:t>G</a:t>
            </a:r>
            <a:r>
              <a:rPr lang="es" sz="1100">
                <a:solidFill>
                  <a:srgbClr val="F92672"/>
                </a:solidFill>
                <a:highlight>
                  <a:srgbClr val="1F1F1F"/>
                </a:highlight>
                <a:latin typeface="Roboto Mono"/>
                <a:ea typeface="Roboto Mono"/>
                <a:cs typeface="Roboto Mono"/>
                <a:sym typeface="Roboto Mono"/>
              </a:rPr>
              <a:t>}</a:t>
            </a:r>
            <a:r>
              <a:rPr lang="es" sz="1100">
                <a:solidFill>
                  <a:srgbClr val="E6DB74"/>
                </a:solidFill>
                <a:highlight>
                  <a:srgbClr val="1F1F1F"/>
                </a:highlight>
                <a:latin typeface="Roboto Mono"/>
                <a:ea typeface="Roboto Mono"/>
                <a:cs typeface="Roboto Mono"/>
                <a:sym typeface="Roboto Mono"/>
              </a:rPr>
              <a:t>,</a:t>
            </a:r>
            <a:r>
              <a:rPr lang="es" sz="1100">
                <a:solidFill>
                  <a:srgbClr val="F92672"/>
                </a:solidFill>
                <a:highlight>
                  <a:srgbClr val="1F1F1F"/>
                </a:highlight>
                <a:latin typeface="Roboto Mono"/>
                <a:ea typeface="Roboto Mono"/>
                <a:cs typeface="Roboto Mono"/>
                <a:sym typeface="Roboto Mono"/>
              </a:rPr>
              <a:t>${</a:t>
            </a:r>
            <a:r>
              <a:rPr lang="es" sz="1100">
                <a:solidFill>
                  <a:srgbClr val="F8F8F2"/>
                </a:solidFill>
                <a:highlight>
                  <a:srgbClr val="1F1F1F"/>
                </a:highlight>
                <a:latin typeface="Roboto Mono"/>
                <a:ea typeface="Roboto Mono"/>
                <a:cs typeface="Roboto Mono"/>
                <a:sym typeface="Roboto Mono"/>
              </a:rPr>
              <a:t>B</a:t>
            </a:r>
            <a:r>
              <a:rPr lang="es" sz="1100">
                <a:solidFill>
                  <a:srgbClr val="F92672"/>
                </a:solidFill>
                <a:highlight>
                  <a:srgbClr val="1F1F1F"/>
                </a:highlight>
                <a:latin typeface="Roboto Mono"/>
                <a:ea typeface="Roboto Mono"/>
                <a:cs typeface="Roboto Mono"/>
                <a:sym typeface="Roboto Mono"/>
              </a:rPr>
              <a:t>}</a:t>
            </a:r>
            <a:r>
              <a:rPr lang="es" sz="1100">
                <a:solidFill>
                  <a:srgbClr val="E6DB74"/>
                </a:solidFill>
                <a:highlight>
                  <a:srgbClr val="1F1F1F"/>
                </a:highlight>
                <a:latin typeface="Roboto Mono"/>
                <a:ea typeface="Roboto Mono"/>
                <a:cs typeface="Roboto Mono"/>
                <a:sym typeface="Roboto Mono"/>
              </a:rPr>
              <a:t>)`</a:t>
            </a:r>
            <a:endParaRPr sz="1100">
              <a:solidFill>
                <a:srgbClr val="E6DB74"/>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i="1" lang="es" sz="1100">
                <a:solidFill>
                  <a:srgbClr val="66D9EF"/>
                </a:solidFill>
                <a:highlight>
                  <a:srgbClr val="1F1F1F"/>
                </a:highlight>
                <a:latin typeface="Roboto Mono"/>
                <a:ea typeface="Roboto Mono"/>
                <a:cs typeface="Roboto Mono"/>
                <a:sym typeface="Roboto Mono"/>
              </a:rPr>
              <a:t>function</a:t>
            </a:r>
            <a:r>
              <a:rPr lang="es" sz="1100">
                <a:solidFill>
                  <a:srgbClr val="DDDDDD"/>
                </a:solidFill>
                <a:highlight>
                  <a:srgbClr val="1F1F1F"/>
                </a:highlight>
                <a:latin typeface="Roboto Mono"/>
                <a:ea typeface="Roboto Mono"/>
                <a:cs typeface="Roboto Mono"/>
                <a:sym typeface="Roboto Mono"/>
              </a:rPr>
              <a:t> </a:t>
            </a:r>
            <a:r>
              <a:rPr lang="es" sz="1100">
                <a:solidFill>
                  <a:srgbClr val="A6E22E"/>
                </a:solidFill>
                <a:highlight>
                  <a:srgbClr val="1F1F1F"/>
                </a:highlight>
                <a:latin typeface="Roboto Mono"/>
                <a:ea typeface="Roboto Mono"/>
                <a:cs typeface="Roboto Mono"/>
                <a:sym typeface="Roboto Mono"/>
              </a:rPr>
              <a:t>randomNumber</a:t>
            </a:r>
            <a:r>
              <a:rPr lang="es" sz="1100">
                <a:solidFill>
                  <a:srgbClr val="DDDDDD"/>
                </a:solidFill>
                <a:highlight>
                  <a:srgbClr val="1F1F1F"/>
                </a:highlight>
                <a:latin typeface="Roboto Mono"/>
                <a:ea typeface="Roboto Mono"/>
                <a:cs typeface="Roboto Mono"/>
                <a:sym typeface="Roboto Mono"/>
              </a:rPr>
              <a:t>() {</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return</a:t>
            </a:r>
            <a:r>
              <a:rPr lang="es" sz="1100">
                <a:solidFill>
                  <a:srgbClr val="DDDDDD"/>
                </a:solidFill>
                <a:highlight>
                  <a:srgbClr val="1F1F1F"/>
                </a:highlight>
                <a:latin typeface="Roboto Mono"/>
                <a:ea typeface="Roboto Mono"/>
                <a:cs typeface="Roboto Mono"/>
                <a:sym typeface="Roboto Mono"/>
              </a:rPr>
              <a:t> (</a:t>
            </a:r>
            <a:r>
              <a:rPr lang="es" sz="1100">
                <a:solidFill>
                  <a:srgbClr val="F8F8F2"/>
                </a:solidFill>
                <a:highlight>
                  <a:srgbClr val="1F1F1F"/>
                </a:highlight>
                <a:latin typeface="Roboto Mono"/>
                <a:ea typeface="Roboto Mono"/>
                <a:cs typeface="Roboto Mono"/>
                <a:sym typeface="Roboto Mono"/>
              </a:rPr>
              <a:t>Math</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random</a:t>
            </a:r>
            <a:r>
              <a:rPr lang="es" sz="1100">
                <a:solidFill>
                  <a:srgbClr val="DDDDDD"/>
                </a:solidFill>
                <a:highlight>
                  <a:srgbClr val="1F1F1F"/>
                </a:highlight>
                <a:latin typeface="Roboto Mono"/>
                <a:ea typeface="Roboto Mono"/>
                <a:cs typeface="Roboto Mono"/>
                <a:sym typeface="Roboto Mono"/>
              </a:rPr>
              <a:t>() </a:t>
            </a:r>
            <a:r>
              <a:rPr lang="es" sz="1100">
                <a:solidFill>
                  <a:srgbClr val="F92672"/>
                </a:solidFill>
                <a:highlight>
                  <a:srgbClr val="1F1F1F"/>
                </a:highlight>
                <a:latin typeface="Roboto Mono"/>
                <a:ea typeface="Roboto Mono"/>
                <a:cs typeface="Roboto Mono"/>
                <a:sym typeface="Roboto Mono"/>
              </a:rPr>
              <a:t>*</a:t>
            </a:r>
            <a:r>
              <a:rPr lang="es" sz="1100">
                <a:solidFill>
                  <a:srgbClr val="DDDDDD"/>
                </a:solidFill>
                <a:highlight>
                  <a:srgbClr val="1F1F1F"/>
                </a:highlight>
                <a:latin typeface="Roboto Mono"/>
                <a:ea typeface="Roboto Mono"/>
                <a:cs typeface="Roboto Mono"/>
                <a:sym typeface="Roboto Mono"/>
              </a:rPr>
              <a:t> </a:t>
            </a:r>
            <a:r>
              <a:rPr lang="es" sz="1100">
                <a:solidFill>
                  <a:srgbClr val="AE81FF"/>
                </a:solidFill>
                <a:highlight>
                  <a:srgbClr val="1F1F1F"/>
                </a:highlight>
                <a:latin typeface="Roboto Mono"/>
                <a:ea typeface="Roboto Mono"/>
                <a:cs typeface="Roboto Mono"/>
                <a:sym typeface="Roboto Mono"/>
              </a:rPr>
              <a:t>256</a:t>
            </a:r>
            <a:r>
              <a:rPr lang="es" sz="1100">
                <a:solidFill>
                  <a:srgbClr val="DDDDDD"/>
                </a:solidFill>
                <a:highlight>
                  <a:srgbClr val="1F1F1F"/>
                </a:highlight>
                <a:latin typeface="Roboto Mono"/>
                <a:ea typeface="Roboto Mono"/>
                <a:cs typeface="Roboto Mono"/>
                <a:sym typeface="Roboto Mono"/>
              </a:rPr>
              <a:t>).</a:t>
            </a:r>
            <a:r>
              <a:rPr lang="es" sz="1100">
                <a:solidFill>
                  <a:srgbClr val="A6E22E"/>
                </a:solidFill>
                <a:highlight>
                  <a:srgbClr val="1F1F1F"/>
                </a:highlight>
                <a:latin typeface="Roboto Mono"/>
                <a:ea typeface="Roboto Mono"/>
                <a:cs typeface="Roboto Mono"/>
                <a:sym typeface="Roboto Mono"/>
              </a:rPr>
              <a:t>toFixed</a:t>
            </a:r>
            <a:r>
              <a:rPr lang="es" sz="1100">
                <a:solidFill>
                  <a:srgbClr val="DDDDDD"/>
                </a:solidFill>
                <a:highlight>
                  <a:srgbClr val="1F1F1F"/>
                </a:highlight>
                <a:latin typeface="Roboto Mono"/>
                <a:ea typeface="Roboto Mono"/>
                <a:cs typeface="Roboto Mono"/>
                <a:sym typeface="Roboto Mono"/>
              </a:rPr>
              <a:t>(</a:t>
            </a:r>
            <a:r>
              <a:rPr lang="es" sz="1100">
                <a:solidFill>
                  <a:srgbClr val="AE81FF"/>
                </a:solidFill>
                <a:highlight>
                  <a:srgbClr val="1F1F1F"/>
                </a:highlight>
                <a:latin typeface="Roboto Mono"/>
                <a:ea typeface="Roboto Mono"/>
                <a:cs typeface="Roboto Mono"/>
                <a:sym typeface="Roboto Mono"/>
              </a:rPr>
              <a:t>0</a:t>
            </a:r>
            <a:r>
              <a:rPr lang="es" sz="1100">
                <a:solidFill>
                  <a:srgbClr val="DDDDDD"/>
                </a:solidFill>
                <a:highlight>
                  <a:srgbClr val="1F1F1F"/>
                </a:highlight>
                <a:latin typeface="Roboto Mono"/>
                <a:ea typeface="Roboto Mono"/>
                <a:cs typeface="Roboto Mono"/>
                <a:sym typeface="Roboto Mono"/>
              </a:rPr>
              <a:t>)</a:t>
            </a:r>
            <a:endParaRPr sz="1100">
              <a:solidFill>
                <a:srgbClr val="DDDDDD"/>
              </a:solidFill>
              <a:highlight>
                <a:srgbClr val="1F1F1F"/>
              </a:highlight>
              <a:latin typeface="Roboto Mono"/>
              <a:ea typeface="Roboto Mono"/>
              <a:cs typeface="Roboto Mono"/>
              <a:sym typeface="Roboto Mono"/>
            </a:endParaRPr>
          </a:p>
          <a:p>
            <a:pPr indent="0" lvl="0" marL="0" rtl="0" algn="l">
              <a:lnSpc>
                <a:spcPct val="110434"/>
              </a:lnSpc>
              <a:spcBef>
                <a:spcPts val="0"/>
              </a:spcBef>
              <a:spcAft>
                <a:spcPts val="0"/>
              </a:spcAft>
              <a:buSzPts val="852"/>
              <a:buNone/>
            </a:pPr>
            <a:r>
              <a:rPr lang="es" sz="1100">
                <a:solidFill>
                  <a:srgbClr val="DDDDDD"/>
                </a:solidFill>
                <a:highlight>
                  <a:srgbClr val="1F1F1F"/>
                </a:highlight>
                <a:latin typeface="Roboto Mono"/>
                <a:ea typeface="Roboto Mono"/>
                <a:cs typeface="Roboto Mono"/>
                <a:sym typeface="Roboto Mono"/>
              </a:rPr>
              <a:t>}</a:t>
            </a:r>
            <a:endParaRPr sz="1100">
              <a:solidFill>
                <a:srgbClr val="434343"/>
              </a:solidFill>
              <a:latin typeface="Roboto Serif"/>
              <a:ea typeface="Roboto Serif"/>
              <a:cs typeface="Roboto Serif"/>
              <a:sym typeface="Roboto Serif"/>
            </a:endParaRPr>
          </a:p>
        </p:txBody>
      </p:sp>
      <p:sp>
        <p:nvSpPr>
          <p:cNvPr id="356" name="Google Shape;356;p48"/>
          <p:cNvSpPr txBox="1"/>
          <p:nvPr/>
        </p:nvSpPr>
        <p:spPr>
          <a:xfrm>
            <a:off x="6555050" y="1824875"/>
            <a:ext cx="2686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latin typeface="Roboto Serif"/>
                <a:ea typeface="Roboto Serif"/>
                <a:cs typeface="Roboto Serif"/>
                <a:sym typeface="Roboto Serif"/>
              </a:rPr>
              <a:t>¡Vamos a explicar</a:t>
            </a:r>
            <a:endParaRPr b="1" sz="1800">
              <a:solidFill>
                <a:schemeClr val="dk2"/>
              </a:solidFill>
              <a:latin typeface="Roboto Serif"/>
              <a:ea typeface="Roboto Serif"/>
              <a:cs typeface="Roboto Serif"/>
              <a:sym typeface="Roboto Serif"/>
            </a:endParaRPr>
          </a:p>
          <a:p>
            <a:pPr indent="0" lvl="0" marL="0" rtl="0" algn="l">
              <a:spcBef>
                <a:spcPts val="0"/>
              </a:spcBef>
              <a:spcAft>
                <a:spcPts val="0"/>
              </a:spcAft>
              <a:buNone/>
            </a:pPr>
            <a:r>
              <a:rPr b="1" lang="es" sz="1800">
                <a:solidFill>
                  <a:schemeClr val="dk2"/>
                </a:solidFill>
                <a:latin typeface="Roboto Serif"/>
                <a:ea typeface="Roboto Serif"/>
                <a:cs typeface="Roboto Serif"/>
                <a:sym typeface="Roboto Serif"/>
              </a:rPr>
              <a:t>en vivo cómo funciona!</a:t>
            </a:r>
            <a:endParaRPr b="1" sz="1800">
              <a:solidFill>
                <a:schemeClr val="dk2"/>
              </a:solidFill>
              <a:latin typeface="Roboto Serif"/>
              <a:ea typeface="Roboto Serif"/>
              <a:cs typeface="Roboto Serif"/>
              <a:sym typeface="Roboto Serif"/>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130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No funciona el script…</a:t>
            </a:r>
            <a:endParaRPr/>
          </a:p>
        </p:txBody>
      </p:sp>
      <p:sp>
        <p:nvSpPr>
          <p:cNvPr id="362" name="Google Shape;362;p49"/>
          <p:cNvSpPr txBox="1"/>
          <p:nvPr>
            <p:ph idx="1" type="body"/>
          </p:nvPr>
        </p:nvSpPr>
        <p:spPr>
          <a:xfrm>
            <a:off x="311700" y="1289800"/>
            <a:ext cx="8520600" cy="306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¿Qué faltó modificar en el archivo HTML para que funcione con Flask?</a:t>
            </a:r>
            <a:endParaRPr/>
          </a:p>
          <a:p>
            <a:pPr indent="0" lvl="0" marL="0" rtl="0" algn="l">
              <a:spcBef>
                <a:spcPts val="1200"/>
              </a:spcBef>
              <a:spcAft>
                <a:spcPts val="1200"/>
              </a:spcAft>
              <a:buNone/>
            </a:pPr>
            <a:r>
              <a:rPr i="1" lang="es" sz="1200"/>
              <a:t>Pista: es una función de Flask que ya vimos, que reemplaza las URLs (enlaces)</a:t>
            </a:r>
            <a:endParaRPr i="1" sz="12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Recuerden: en Flask se usa </a:t>
            </a:r>
            <a:r>
              <a:rPr b="1" lang="es">
                <a:latin typeface="Roboto Mono"/>
                <a:ea typeface="Roboto Mono"/>
                <a:cs typeface="Roboto Mono"/>
                <a:sym typeface="Roboto Mono"/>
              </a:rPr>
              <a:t>url_for</a:t>
            </a:r>
            <a:endParaRPr b="1">
              <a:latin typeface="Roboto Mono"/>
              <a:ea typeface="Roboto Mono"/>
              <a:cs typeface="Roboto Mono"/>
              <a:sym typeface="Roboto Mono"/>
            </a:endParaRPr>
          </a:p>
        </p:txBody>
      </p:sp>
      <p:pic>
        <p:nvPicPr>
          <p:cNvPr id="368" name="Google Shape;368;p50"/>
          <p:cNvPicPr preferRelativeResize="0"/>
          <p:nvPr/>
        </p:nvPicPr>
        <p:blipFill>
          <a:blip r:embed="rId3">
            <a:alphaModFix/>
          </a:blip>
          <a:stretch>
            <a:fillRect/>
          </a:stretch>
        </p:blipFill>
        <p:spPr>
          <a:xfrm>
            <a:off x="424725" y="1516600"/>
            <a:ext cx="7762399" cy="2821200"/>
          </a:xfrm>
          <a:prstGeom prst="rect">
            <a:avLst/>
          </a:prstGeom>
          <a:noFill/>
          <a:ln>
            <a:noFill/>
          </a:ln>
        </p:spPr>
      </p:pic>
      <p:sp>
        <p:nvSpPr>
          <p:cNvPr id="369" name="Google Shape;369;p50"/>
          <p:cNvSpPr txBox="1"/>
          <p:nvPr/>
        </p:nvSpPr>
        <p:spPr>
          <a:xfrm>
            <a:off x="366750" y="970600"/>
            <a:ext cx="7762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latin typeface="Roboto Serif"/>
                <a:ea typeface="Roboto Serif"/>
                <a:cs typeface="Roboto Serif"/>
                <a:sym typeface="Roboto Serif"/>
              </a:rPr>
              <a:t>Los archivos JS, CSS, imágenes, fuentes van en la carpeta </a:t>
            </a:r>
            <a:r>
              <a:rPr b="1" lang="es" sz="1800">
                <a:solidFill>
                  <a:schemeClr val="dk2"/>
                </a:solidFill>
                <a:latin typeface="Roboto Serif"/>
                <a:ea typeface="Roboto Serif"/>
                <a:cs typeface="Roboto Serif"/>
                <a:sym typeface="Roboto Serif"/>
              </a:rPr>
              <a:t>static</a:t>
            </a:r>
            <a:endParaRPr b="1" sz="1800">
              <a:solidFill>
                <a:schemeClr val="dk2"/>
              </a:solidFill>
              <a:latin typeface="Roboto Serif"/>
              <a:ea typeface="Roboto Serif"/>
              <a:cs typeface="Roboto Serif"/>
              <a:sym typeface="Roboto Serif"/>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1"/>
          <p:cNvSpPr txBox="1"/>
          <p:nvPr>
            <p:ph type="ctrTitle"/>
          </p:nvPr>
        </p:nvSpPr>
        <p:spPr>
          <a:xfrm>
            <a:off x="460950" y="1455827"/>
            <a:ext cx="8222100" cy="1598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Ejercitación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Ejercicio </a:t>
            </a:r>
            <a:endParaRPr/>
          </a:p>
        </p:txBody>
      </p:sp>
      <p:sp>
        <p:nvSpPr>
          <p:cNvPr id="380" name="Google Shape;380;p52"/>
          <p:cNvSpPr txBox="1"/>
          <p:nvPr>
            <p:ph idx="1" type="body"/>
          </p:nvPr>
        </p:nvSpPr>
        <p:spPr>
          <a:xfrm>
            <a:off x="274100" y="1209200"/>
            <a:ext cx="8736000" cy="3277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700"/>
              <a:t>Crear una página Web </a:t>
            </a:r>
            <a:r>
              <a:rPr lang="es" sz="1700" u="sng"/>
              <a:t>usando Flask</a:t>
            </a:r>
            <a:r>
              <a:rPr lang="es" sz="1700"/>
              <a:t> que contenga </a:t>
            </a:r>
            <a:r>
              <a:rPr lang="es" sz="1700"/>
              <a:t>2 campos de texto</a:t>
            </a:r>
            <a:r>
              <a:rPr lang="es" sz="1700"/>
              <a:t> y un </a:t>
            </a:r>
            <a:r>
              <a:rPr lang="es" sz="1700"/>
              <a:t>botón</a:t>
            </a:r>
            <a:r>
              <a:rPr lang="es" sz="1700"/>
              <a:t>. El botón debe ser rojo con letra blanca. Al pulsar dicho botón se deberá mostrar una alerta por pantalla que muestre la concatenación de las cadenas que se ingresen en los campos de texto.</a:t>
            </a:r>
            <a:endParaRPr sz="1700"/>
          </a:p>
          <a:p>
            <a:pPr indent="0" lvl="0" marL="0" rtl="0" algn="l">
              <a:lnSpc>
                <a:spcPct val="115000"/>
              </a:lnSpc>
              <a:spcBef>
                <a:spcPts val="0"/>
              </a:spcBef>
              <a:spcAft>
                <a:spcPts val="0"/>
              </a:spcAft>
              <a:buNone/>
            </a:pPr>
            <a:r>
              <a:t/>
            </a:r>
            <a:endParaRPr sz="1700"/>
          </a:p>
          <a:p>
            <a:pPr indent="-336550" lvl="0" marL="457200" rtl="0" algn="l">
              <a:lnSpc>
                <a:spcPct val="115000"/>
              </a:lnSpc>
              <a:spcBef>
                <a:spcPts val="0"/>
              </a:spcBef>
              <a:spcAft>
                <a:spcPts val="0"/>
              </a:spcAft>
              <a:buSzPts val="1700"/>
              <a:buChar char="●"/>
            </a:pPr>
            <a:r>
              <a:rPr lang="es" sz="1700" u="sng"/>
              <a:t>Pista 1</a:t>
            </a:r>
            <a:r>
              <a:rPr lang="es" sz="1700"/>
              <a:t>: existe un elemento HTML de tipo “campo de texto”.</a:t>
            </a:r>
            <a:endParaRPr sz="1700"/>
          </a:p>
          <a:p>
            <a:pPr indent="-336550" lvl="0" marL="457200" rtl="0" algn="l">
              <a:lnSpc>
                <a:spcPct val="115000"/>
              </a:lnSpc>
              <a:spcBef>
                <a:spcPts val="1000"/>
              </a:spcBef>
              <a:spcAft>
                <a:spcPts val="0"/>
              </a:spcAft>
              <a:buSzPts val="1700"/>
              <a:buChar char="●"/>
            </a:pPr>
            <a:r>
              <a:rPr lang="es" sz="1700" u="sng"/>
              <a:t>Pista 2</a:t>
            </a:r>
            <a:r>
              <a:rPr lang="es" sz="1700"/>
              <a:t>: existe un atributo del DOM que me devuelve el contenido ingresado en un campo de texto</a:t>
            </a:r>
            <a:endParaRPr sz="1700"/>
          </a:p>
          <a:p>
            <a:pPr indent="0" lvl="0" marL="0" rtl="0" algn="l">
              <a:lnSpc>
                <a:spcPct val="115000"/>
              </a:lnSpc>
              <a:spcBef>
                <a:spcPts val="1000"/>
              </a:spcBef>
              <a:spcAft>
                <a:spcPts val="0"/>
              </a:spcAft>
              <a:buNone/>
            </a:pPr>
            <a:r>
              <a:t/>
            </a:r>
            <a:endParaRPr sz="17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Partes del desarrollo web</a:t>
            </a:r>
            <a:endParaRPr/>
          </a:p>
        </p:txBody>
      </p:sp>
      <p:pic>
        <p:nvPicPr>
          <p:cNvPr id="390" name="Google Shape;390;p54" title="Screenshot from 2025-04-08 19-21-25.png"/>
          <p:cNvPicPr preferRelativeResize="0"/>
          <p:nvPr/>
        </p:nvPicPr>
        <p:blipFill>
          <a:blip r:embed="rId3">
            <a:alphaModFix/>
          </a:blip>
          <a:stretch>
            <a:fillRect/>
          </a:stretch>
        </p:blipFill>
        <p:spPr>
          <a:xfrm>
            <a:off x="451375" y="1130100"/>
            <a:ext cx="8632175" cy="304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