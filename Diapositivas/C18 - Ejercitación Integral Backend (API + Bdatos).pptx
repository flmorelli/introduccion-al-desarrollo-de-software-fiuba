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embeddedFontLst>
    <p:embeddedFont>
      <p:font typeface="Roboto Serif"/>
      <p:regular r:id="rId37"/>
      <p:bold r:id="rId38"/>
      <p:italic r:id="rId39"/>
      <p:boldItalic r:id="rId40"/>
    </p:embeddedFont>
    <p:embeddedFont>
      <p:font typeface="Roboto"/>
      <p:regular r:id="rId41"/>
      <p:bold r:id="rId42"/>
      <p:italic r:id="rId43"/>
      <p:boldItalic r:id="rId44"/>
    </p:embeddedFont>
    <p:embeddedFont>
      <p:font typeface="Roboto Mono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A10B6D-A525-4A76-B903-A38ADA532CA9}">
  <a:tblStyle styleId="{36A10B6D-A525-4A76-B903-A38ADA532CA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Serif-boldItalic.fntdata"/><Relationship Id="rId20" Type="http://schemas.openxmlformats.org/officeDocument/2006/relationships/slide" Target="slides/slide14.xml"/><Relationship Id="rId42" Type="http://schemas.openxmlformats.org/officeDocument/2006/relationships/font" Target="fonts/Roboto-bold.fntdata"/><Relationship Id="rId41" Type="http://schemas.openxmlformats.org/officeDocument/2006/relationships/font" Target="fonts/Roboto-regular.fntdata"/><Relationship Id="rId22" Type="http://schemas.openxmlformats.org/officeDocument/2006/relationships/slide" Target="slides/slide16.xml"/><Relationship Id="rId44" Type="http://schemas.openxmlformats.org/officeDocument/2006/relationships/font" Target="fonts/Roboto-boldItalic.fntdata"/><Relationship Id="rId21" Type="http://schemas.openxmlformats.org/officeDocument/2006/relationships/slide" Target="slides/slide15.xml"/><Relationship Id="rId43" Type="http://schemas.openxmlformats.org/officeDocument/2006/relationships/font" Target="fonts/Roboto-italic.fntdata"/><Relationship Id="rId24" Type="http://schemas.openxmlformats.org/officeDocument/2006/relationships/slide" Target="slides/slide18.xml"/><Relationship Id="rId46" Type="http://schemas.openxmlformats.org/officeDocument/2006/relationships/font" Target="fonts/RobotoMono-bold.fntdata"/><Relationship Id="rId23" Type="http://schemas.openxmlformats.org/officeDocument/2006/relationships/slide" Target="slides/slide17.xml"/><Relationship Id="rId45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schemas.openxmlformats.org/officeDocument/2006/relationships/font" Target="fonts/RobotoMono-boldItalic.fntdata"/><Relationship Id="rId25" Type="http://schemas.openxmlformats.org/officeDocument/2006/relationships/slide" Target="slides/slide19.xml"/><Relationship Id="rId47" Type="http://schemas.openxmlformats.org/officeDocument/2006/relationships/font" Target="fonts/RobotoMono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obotoSerif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RobotoSerif-italic.fntdata"/><Relationship Id="rId16" Type="http://schemas.openxmlformats.org/officeDocument/2006/relationships/slide" Target="slides/slide10.xml"/><Relationship Id="rId38" Type="http://schemas.openxmlformats.org/officeDocument/2006/relationships/font" Target="fonts/RobotoSerif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b0eea75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b0eea75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f568a28f6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f568a28f6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b0eea75a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b0eea75a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b4a6f7b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b4a6f7b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b4a6f7b8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b4a6f7b8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b4a6f7b8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b4a6f7b8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5b4a6f7b8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5b4a6f7b8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5b0eea75a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5b0eea75a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b0eea75a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b0eea75a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0025fc448_4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0025fc448_4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b0eea75a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5b0eea75a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5b0eea75a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5b0eea75a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5b0eea75a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5b0eea75a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fc4c37d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6fc4c37d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fc4c37d5d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6fc4c37d5d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fc4c37d5d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6fc4c37d5d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fc4c37d5d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6fc4c37d5d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fc4c37d5d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6fc4c37d5d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fc4c37d5d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6fc4c37d5d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6fc4c37d5d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6fc4c37d5d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6fc4c37d5d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6fc4c37d5d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6fc4c37d5d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6fc4c37d5d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5b0eea75a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5b0eea75a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5b0eea75a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5b0eea75a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5b0eea75a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5b0eea75a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f1f08e7f1e_0_3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1f1f08e7f1e_0_3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50025fc448_4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50025fc448_4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I - Lanzillotta</a:t>
            </a:r>
            <a:endParaRPr/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4792900" y="363300"/>
            <a:ext cx="39603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/>
          </a:bodyPr>
          <a:lstStyle/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Char char="●"/>
            </a:pPr>
            <a:r>
              <a:rPr lang="es">
                <a:solidFill>
                  <a:schemeClr val="accent4"/>
                </a:solidFill>
              </a:rPr>
              <a:t>Introducción</a:t>
            </a:r>
            <a:endParaRPr>
              <a:solidFill>
                <a:schemeClr val="accent4"/>
              </a:solidFill>
            </a:endParaRPr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Frontend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Modelo de datos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Backend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SQL JOIN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Integrar front y back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Controller-Service-Repository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311700" y="941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Requerimientos de nuestra app simple: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272225" y="741450"/>
            <a:ext cx="8762700" cy="36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Debe haber una vista que contenga un formulario y permita ingresar el número de padrón de un alumno. Debe contener un botón que diga “Buscar datos alumno”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Si existe, debe ir a otra vista llamada detalle.html que muestre los datos personales del alumno y todas las materias que cursó.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Las materias aprobadas deberán aparecer en verde y las que no en rojo.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Al hacer click en una materia, deberá </a:t>
            </a:r>
            <a:r>
              <a:rPr lang="es"/>
              <a:t>mostrar</a:t>
            </a:r>
            <a:r>
              <a:rPr lang="es"/>
              <a:t> un pop-up con la fecha y la nota numérica obtenida.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Al hacer click sobre el código de materia, se debe poder visualizar todos los alumnos que la cursaron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Se debe poder agregar una nota desde la vista de detalles para ese alumno.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311700" y="941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endpoints vamos a necesitar?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941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endpoints vamos a necesitar?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272225" y="7414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/alumnos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/materias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311700" y="941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endpoints vamos a necesitar?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272225" y="7414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/alumnos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GET /alumnos/&lt;padron&gt; -&gt; {padron, nombre, apellido}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/materias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941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endpoints vamos a necesitar?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272225" y="7414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/alumnos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GET /alumnos/&lt;padron&gt; -&gt; {padron, nombre, apellido}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GET </a:t>
            </a:r>
            <a:r>
              <a:rPr lang="es"/>
              <a:t>/alumnos/&lt;padron&gt;/notas -&gt; [{codigo, materia, nota, fecha}, …]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POST /alumnos/&lt;padron&gt;/notas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{codigo, nota, fecha}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/materias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11700" y="941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endpoints vamos a necesitar?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272225" y="7414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/alumnos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GET /alumnos/&lt;padron&gt; -&gt; {padron, nombre, apellido}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GET /alumnos/&lt;padron&gt;/notas -&gt; [{codigo, materia, nota, fecha}, …]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POST /alumnos/&lt;padron&gt;/notas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{codigo, nota, fecha}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/materias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/materias/&lt;codigo&gt;/alumnos -&gt; [{padron, nombre, apellido}]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4792900" y="363300"/>
            <a:ext cx="39603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/>
          </a:bodyPr>
          <a:lstStyle/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Introducción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Char char="●"/>
            </a:pPr>
            <a:r>
              <a:rPr lang="es">
                <a:solidFill>
                  <a:schemeClr val="accent4"/>
                </a:solidFill>
              </a:rPr>
              <a:t>Frontend</a:t>
            </a:r>
            <a:endParaRPr>
              <a:solidFill>
                <a:schemeClr val="accent4"/>
              </a:solidFill>
            </a:endParaRPr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Modelo de datos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Backend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SQL JOIN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Integrar front y back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Controller-Service-Repository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4792900" y="363300"/>
            <a:ext cx="39828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/>
          </a:bodyPr>
          <a:lstStyle/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Introducción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Frontend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Char char="●"/>
            </a:pPr>
            <a:r>
              <a:rPr lang="es">
                <a:solidFill>
                  <a:schemeClr val="accent4"/>
                </a:solidFill>
              </a:rPr>
              <a:t>Modelo de datos</a:t>
            </a:r>
            <a:endParaRPr>
              <a:solidFill>
                <a:schemeClr val="accent4"/>
              </a:solidFill>
            </a:endParaRPr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Backend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SQL JOIN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Integrar front y back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Controller-Service-Repository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Creamos la base de datos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Crear una base de datos llamada Facultad que contenga 3 tablas (alumnos, materias, notas)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Definir Pk, Fk necesarias para la estructura de tablas.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Campos de cada tabla: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alumno debe tener los campos padrón, nombre, apellido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materias debe tener los campos, código_materia, nombre, carrera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notas debe tener los campos, código_materia, nota, fecha, padrón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4792900" y="363300"/>
            <a:ext cx="39828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/>
          </a:bodyPr>
          <a:lstStyle/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Introducción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Frontend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Modelo de datos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Char char="●"/>
            </a:pPr>
            <a:r>
              <a:rPr lang="es">
                <a:solidFill>
                  <a:schemeClr val="accent4"/>
                </a:solidFill>
              </a:rPr>
              <a:t>Backend</a:t>
            </a:r>
            <a:endParaRPr>
              <a:solidFill>
                <a:schemeClr val="accent4"/>
              </a:solidFill>
            </a:endParaRPr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SQL JOIN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Integrar front y back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Controller-Service-Repository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4792900" y="363300"/>
            <a:ext cx="39432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/>
          </a:bodyPr>
          <a:lstStyle/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Introducción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Frontend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Modelo de datos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Backend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Char char="●"/>
            </a:pPr>
            <a:r>
              <a:rPr lang="es">
                <a:solidFill>
                  <a:schemeClr val="accent4"/>
                </a:solidFill>
              </a:rPr>
              <a:t>SQL JOIN</a:t>
            </a:r>
            <a:endParaRPr>
              <a:solidFill>
                <a:schemeClr val="accent4"/>
              </a:solidFill>
            </a:endParaRPr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Integrar front y back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Controller-Service-Repository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JOINS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975" y="1017800"/>
            <a:ext cx="8839200" cy="3355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143800" y="513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JOINS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85" name="Google Shape;185;p29"/>
          <p:cNvGraphicFramePr/>
          <p:nvPr/>
        </p:nvGraphicFramePr>
        <p:xfrm>
          <a:off x="179475" y="65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{36A10B6D-A525-4A76-B903-A38ADA532CA9}</a:tableStyleId>
              </a:tblPr>
              <a:tblGrid>
                <a:gridCol w="838775"/>
                <a:gridCol w="1113300"/>
                <a:gridCol w="828875"/>
                <a:gridCol w="978150"/>
              </a:tblGrid>
              <a:tr h="59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Nombre Producto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Categoria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Caramelo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Gaseosa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86" name="Google Shape;186;p29"/>
          <p:cNvGraphicFramePr/>
          <p:nvPr/>
        </p:nvGraphicFramePr>
        <p:xfrm>
          <a:off x="4462875" y="65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{36A10B6D-A525-4A76-B903-A38ADA532CA9}</a:tableStyleId>
              </a:tblPr>
              <a:tblGrid>
                <a:gridCol w="940175"/>
                <a:gridCol w="737950"/>
                <a:gridCol w="912300"/>
              </a:tblGrid>
              <a:tr h="51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Categoria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Nombre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Categoria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Descripcion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Golosinas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Bebidas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Lacteos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143800" y="513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JOINS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0"/>
          <p:cNvSpPr txBox="1"/>
          <p:nvPr/>
        </p:nvSpPr>
        <p:spPr>
          <a:xfrm>
            <a:off x="179475" y="2314000"/>
            <a:ext cx="4971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id_producto, nombre_producto, nombre_categoria</a:t>
            </a:r>
            <a:endParaRPr i="1"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productos</a:t>
            </a:r>
            <a:endParaRPr i="1"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INNER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JOIN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categorias</a:t>
            </a:r>
            <a:endParaRPr i="1"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productos.id_categoria = categorias.id_categoria</a:t>
            </a:r>
            <a:endParaRPr/>
          </a:p>
        </p:txBody>
      </p:sp>
      <p:graphicFrame>
        <p:nvGraphicFramePr>
          <p:cNvPr id="193" name="Google Shape;193;p30"/>
          <p:cNvGraphicFramePr/>
          <p:nvPr/>
        </p:nvGraphicFramePr>
        <p:xfrm>
          <a:off x="179475" y="65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{36A10B6D-A525-4A76-B903-A38ADA532CA9}</a:tableStyleId>
              </a:tblPr>
              <a:tblGrid>
                <a:gridCol w="838775"/>
                <a:gridCol w="1113300"/>
                <a:gridCol w="828875"/>
                <a:gridCol w="978150"/>
              </a:tblGrid>
              <a:tr h="59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Nombre Producto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Categoria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Caramelo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Gaseosa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4" name="Google Shape;194;p30"/>
          <p:cNvGraphicFramePr/>
          <p:nvPr/>
        </p:nvGraphicFramePr>
        <p:xfrm>
          <a:off x="4462875" y="65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{36A10B6D-A525-4A76-B903-A38ADA532CA9}</a:tableStyleId>
              </a:tblPr>
              <a:tblGrid>
                <a:gridCol w="940175"/>
                <a:gridCol w="737950"/>
                <a:gridCol w="912300"/>
              </a:tblGrid>
              <a:tr h="51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Categoria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Nombre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Categoria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Descripcion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Golosinas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Bebidas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Lacteos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143800" y="513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JOINS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1"/>
          <p:cNvSpPr txBox="1"/>
          <p:nvPr/>
        </p:nvSpPr>
        <p:spPr>
          <a:xfrm>
            <a:off x="179475" y="2314000"/>
            <a:ext cx="4971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id_producto, nombre_producto, nombre_categoria</a:t>
            </a:r>
            <a:endParaRPr i="1"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productos</a:t>
            </a:r>
            <a:endParaRPr i="1"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INNER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JOIN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categorias</a:t>
            </a:r>
            <a:endParaRPr i="1"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productos.id_categoria = categorias.id_categoria</a:t>
            </a:r>
            <a:endParaRPr/>
          </a:p>
        </p:txBody>
      </p:sp>
      <p:graphicFrame>
        <p:nvGraphicFramePr>
          <p:cNvPr id="201" name="Google Shape;201;p31"/>
          <p:cNvGraphicFramePr/>
          <p:nvPr/>
        </p:nvGraphicFramePr>
        <p:xfrm>
          <a:off x="179475" y="65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{36A10B6D-A525-4A76-B903-A38ADA532CA9}</a:tableStyleId>
              </a:tblPr>
              <a:tblGrid>
                <a:gridCol w="838775"/>
                <a:gridCol w="1113300"/>
                <a:gridCol w="828875"/>
                <a:gridCol w="978150"/>
              </a:tblGrid>
              <a:tr h="59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Nombre Producto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Categoria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Caramelo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Gaseosa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2" name="Google Shape;202;p31"/>
          <p:cNvGraphicFramePr/>
          <p:nvPr/>
        </p:nvGraphicFramePr>
        <p:xfrm>
          <a:off x="4462875" y="65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{36A10B6D-A525-4A76-B903-A38ADA532CA9}</a:tableStyleId>
              </a:tblPr>
              <a:tblGrid>
                <a:gridCol w="940175"/>
                <a:gridCol w="737950"/>
                <a:gridCol w="912300"/>
              </a:tblGrid>
              <a:tr h="51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Categoria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Nombre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Categoria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Descripcion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Golosinas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Bebidas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Lacteos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3" name="Google Shape;203;p31"/>
          <p:cNvGraphicFramePr/>
          <p:nvPr/>
        </p:nvGraphicFramePr>
        <p:xfrm>
          <a:off x="3013625" y="320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{36A10B6D-A525-4A76-B903-A38ADA532CA9}</a:tableStyleId>
              </a:tblPr>
              <a:tblGrid>
                <a:gridCol w="838775"/>
                <a:gridCol w="1113300"/>
                <a:gridCol w="828875"/>
              </a:tblGrid>
              <a:tr h="59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Nombre Producto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Nombre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Categoria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Golosinas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Caramelo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Golosinas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Gaseosa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Bebidas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143800" y="513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JOINS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9" name="Google Shape;209;p32"/>
          <p:cNvGraphicFramePr/>
          <p:nvPr/>
        </p:nvGraphicFramePr>
        <p:xfrm>
          <a:off x="179475" y="65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{36A10B6D-A525-4A76-B903-A38ADA532CA9}</a:tableStyleId>
              </a:tblPr>
              <a:tblGrid>
                <a:gridCol w="838775"/>
                <a:gridCol w="1113300"/>
                <a:gridCol w="828875"/>
                <a:gridCol w="978150"/>
              </a:tblGrid>
              <a:tr h="59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Nombre Producto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Categoria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Caramelo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Gaseosa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10" name="Google Shape;210;p32"/>
          <p:cNvGraphicFramePr/>
          <p:nvPr/>
        </p:nvGraphicFramePr>
        <p:xfrm>
          <a:off x="4066050" y="659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{36A10B6D-A525-4A76-B903-A38ADA532CA9}</a:tableStyleId>
              </a:tblPr>
              <a:tblGrid>
                <a:gridCol w="940175"/>
                <a:gridCol w="737950"/>
                <a:gridCol w="912300"/>
              </a:tblGrid>
              <a:tr h="51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Categoria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Nombre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Categoria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Descripcion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Golosinas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Bebidas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Lacteos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type="title"/>
          </p:nvPr>
        </p:nvSpPr>
        <p:spPr>
          <a:xfrm>
            <a:off x="143800" y="513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JOINS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3"/>
          <p:cNvSpPr txBox="1"/>
          <p:nvPr/>
        </p:nvSpPr>
        <p:spPr>
          <a:xfrm>
            <a:off x="3840150" y="2485625"/>
            <a:ext cx="50733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id_categoria, nombre_categoria, nombre_producto</a:t>
            </a:r>
            <a:endParaRPr i="1"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categorias</a:t>
            </a:r>
            <a:endParaRPr i="1"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LEFT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JOIN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productos</a:t>
            </a:r>
            <a:endParaRPr i="1"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categorias.id_categoria = productos.id_categoria</a:t>
            </a:r>
            <a:endParaRPr/>
          </a:p>
        </p:txBody>
      </p:sp>
      <p:graphicFrame>
        <p:nvGraphicFramePr>
          <p:cNvPr id="217" name="Google Shape;217;p33"/>
          <p:cNvGraphicFramePr/>
          <p:nvPr/>
        </p:nvGraphicFramePr>
        <p:xfrm>
          <a:off x="179475" y="65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{36A10B6D-A525-4A76-B903-A38ADA532CA9}</a:tableStyleId>
              </a:tblPr>
              <a:tblGrid>
                <a:gridCol w="838775"/>
                <a:gridCol w="1113300"/>
                <a:gridCol w="828875"/>
                <a:gridCol w="978150"/>
              </a:tblGrid>
              <a:tr h="59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Nombre Producto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Categoria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Caramelo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Gaseosa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18" name="Google Shape;218;p33"/>
          <p:cNvGraphicFramePr/>
          <p:nvPr/>
        </p:nvGraphicFramePr>
        <p:xfrm>
          <a:off x="4066050" y="659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{36A10B6D-A525-4A76-B903-A38ADA532CA9}</a:tableStyleId>
              </a:tblPr>
              <a:tblGrid>
                <a:gridCol w="940175"/>
                <a:gridCol w="737950"/>
                <a:gridCol w="912300"/>
              </a:tblGrid>
              <a:tr h="51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Categoria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Nombre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Categoria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Descripcion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Golosinas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Bebidas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Lacteos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type="title"/>
          </p:nvPr>
        </p:nvSpPr>
        <p:spPr>
          <a:xfrm>
            <a:off x="143800" y="513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JOINS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4"/>
          <p:cNvSpPr txBox="1"/>
          <p:nvPr/>
        </p:nvSpPr>
        <p:spPr>
          <a:xfrm>
            <a:off x="3840150" y="2485625"/>
            <a:ext cx="50733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id_categoria, nombre_categoria, nombre_producto</a:t>
            </a:r>
            <a:endParaRPr i="1"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categorias</a:t>
            </a:r>
            <a:endParaRPr i="1"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LEFT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JOIN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productos</a:t>
            </a:r>
            <a:endParaRPr i="1"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categorias.id_categoria = productos.id_categoria</a:t>
            </a:r>
            <a:endParaRPr/>
          </a:p>
        </p:txBody>
      </p:sp>
      <p:graphicFrame>
        <p:nvGraphicFramePr>
          <p:cNvPr id="225" name="Google Shape;225;p34"/>
          <p:cNvGraphicFramePr/>
          <p:nvPr/>
        </p:nvGraphicFramePr>
        <p:xfrm>
          <a:off x="179475" y="65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{36A10B6D-A525-4A76-B903-A38ADA532CA9}</a:tableStyleId>
              </a:tblPr>
              <a:tblGrid>
                <a:gridCol w="838775"/>
                <a:gridCol w="1113300"/>
                <a:gridCol w="828875"/>
                <a:gridCol w="978150"/>
              </a:tblGrid>
              <a:tr h="59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Nombre Producto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Categoria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Caramelo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Gaseosa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6" name="Google Shape;226;p34"/>
          <p:cNvGraphicFramePr/>
          <p:nvPr/>
        </p:nvGraphicFramePr>
        <p:xfrm>
          <a:off x="4066050" y="659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{36A10B6D-A525-4A76-B903-A38ADA532CA9}</a:tableStyleId>
              </a:tblPr>
              <a:tblGrid>
                <a:gridCol w="940175"/>
                <a:gridCol w="737950"/>
                <a:gridCol w="912300"/>
              </a:tblGrid>
              <a:tr h="51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Categoria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Nombre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Categoria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Descripcion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Golosinas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Bebidas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Lacteos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7" name="Google Shape;227;p34"/>
          <p:cNvGraphicFramePr/>
          <p:nvPr/>
        </p:nvGraphicFramePr>
        <p:xfrm>
          <a:off x="769200" y="237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{36A10B6D-A525-4A76-B903-A38ADA532CA9}</a:tableStyleId>
              </a:tblPr>
              <a:tblGrid>
                <a:gridCol w="838775"/>
                <a:gridCol w="1113300"/>
                <a:gridCol w="828875"/>
              </a:tblGrid>
              <a:tr h="59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Categoria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Nombre Categoria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Nombre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Golosinas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Golosinas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Caramelo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Bebidas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Gaseosa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Lacteos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NULL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 txBox="1"/>
          <p:nvPr>
            <p:ph type="title"/>
          </p:nvPr>
        </p:nvSpPr>
        <p:spPr>
          <a:xfrm>
            <a:off x="143800" y="513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JOINS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33" name="Google Shape;233;p35"/>
          <p:cNvGraphicFramePr/>
          <p:nvPr/>
        </p:nvGraphicFramePr>
        <p:xfrm>
          <a:off x="179475" y="65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{36A10B6D-A525-4A76-B903-A38ADA532CA9}</a:tableStyleId>
              </a:tblPr>
              <a:tblGrid>
                <a:gridCol w="838775"/>
                <a:gridCol w="1113300"/>
                <a:gridCol w="828875"/>
                <a:gridCol w="978150"/>
              </a:tblGrid>
              <a:tr h="59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Nombre Producto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Categoria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Caramelo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Gaseosa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Pan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NULL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2500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34" name="Google Shape;234;p35"/>
          <p:cNvGraphicFramePr/>
          <p:nvPr/>
        </p:nvGraphicFramePr>
        <p:xfrm>
          <a:off x="4066050" y="659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{36A10B6D-A525-4A76-B903-A38ADA532CA9}</a:tableStyleId>
              </a:tblPr>
              <a:tblGrid>
                <a:gridCol w="940175"/>
                <a:gridCol w="737950"/>
                <a:gridCol w="912300"/>
              </a:tblGrid>
              <a:tr h="51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Categoria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Nombre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Categoria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Descripcion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Golosinas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Bebidas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Lacteos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 txBox="1"/>
          <p:nvPr>
            <p:ph type="title"/>
          </p:nvPr>
        </p:nvSpPr>
        <p:spPr>
          <a:xfrm>
            <a:off x="143800" y="513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JOINS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6"/>
          <p:cNvSpPr txBox="1"/>
          <p:nvPr/>
        </p:nvSpPr>
        <p:spPr>
          <a:xfrm>
            <a:off x="4137775" y="2310600"/>
            <a:ext cx="50733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id_categoria, nombre_categoria, nombre_producto</a:t>
            </a:r>
            <a:endParaRPr i="1"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categorias</a:t>
            </a:r>
            <a:endParaRPr i="1"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FULL OUTER </a:t>
            </a: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JOIN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productos</a:t>
            </a:r>
            <a:endParaRPr i="1"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categorias.id_categoria = productos.id_categoria</a:t>
            </a:r>
            <a:endParaRPr/>
          </a:p>
        </p:txBody>
      </p:sp>
      <p:graphicFrame>
        <p:nvGraphicFramePr>
          <p:cNvPr id="241" name="Google Shape;241;p36"/>
          <p:cNvGraphicFramePr/>
          <p:nvPr/>
        </p:nvGraphicFramePr>
        <p:xfrm>
          <a:off x="179475" y="65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{36A10B6D-A525-4A76-B903-A38ADA532CA9}</a:tableStyleId>
              </a:tblPr>
              <a:tblGrid>
                <a:gridCol w="838775"/>
                <a:gridCol w="1113300"/>
                <a:gridCol w="828875"/>
                <a:gridCol w="978150"/>
              </a:tblGrid>
              <a:tr h="59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Nombre Producto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Categoria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Caramelo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Gaseosa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Pan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NULL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2500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42" name="Google Shape;242;p36"/>
          <p:cNvGraphicFramePr/>
          <p:nvPr/>
        </p:nvGraphicFramePr>
        <p:xfrm>
          <a:off x="4066050" y="659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{36A10B6D-A525-4A76-B903-A38ADA532CA9}</a:tableStyleId>
              </a:tblPr>
              <a:tblGrid>
                <a:gridCol w="940175"/>
                <a:gridCol w="737950"/>
                <a:gridCol w="912300"/>
              </a:tblGrid>
              <a:tr h="51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Categoria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Nombre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Categoria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Descripcion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Golosinas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Bebidas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Lacteos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/>
          <p:nvPr>
            <p:ph type="title"/>
          </p:nvPr>
        </p:nvSpPr>
        <p:spPr>
          <a:xfrm>
            <a:off x="143800" y="513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JOINS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7"/>
          <p:cNvSpPr txBox="1"/>
          <p:nvPr/>
        </p:nvSpPr>
        <p:spPr>
          <a:xfrm>
            <a:off x="4137775" y="2310600"/>
            <a:ext cx="50733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id_categoria, nombre_categoria, nombre_producto</a:t>
            </a:r>
            <a:endParaRPr i="1"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categorias</a:t>
            </a:r>
            <a:endParaRPr i="1"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FULL OUTER JOIN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productos</a:t>
            </a:r>
            <a:endParaRPr i="1"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categorias.id_categoria = productos.id_categoria</a:t>
            </a:r>
            <a:endParaRPr/>
          </a:p>
        </p:txBody>
      </p:sp>
      <p:graphicFrame>
        <p:nvGraphicFramePr>
          <p:cNvPr id="249" name="Google Shape;249;p37"/>
          <p:cNvGraphicFramePr/>
          <p:nvPr/>
        </p:nvGraphicFramePr>
        <p:xfrm>
          <a:off x="179475" y="65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{36A10B6D-A525-4A76-B903-A38ADA532CA9}</a:tableStyleId>
              </a:tblPr>
              <a:tblGrid>
                <a:gridCol w="838775"/>
                <a:gridCol w="1113300"/>
                <a:gridCol w="828875"/>
                <a:gridCol w="978150"/>
              </a:tblGrid>
              <a:tr h="59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Nombre Producto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Categoria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Caramelo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Gaseosa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Pan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NULL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2500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50" name="Google Shape;250;p37"/>
          <p:cNvGraphicFramePr/>
          <p:nvPr/>
        </p:nvGraphicFramePr>
        <p:xfrm>
          <a:off x="4066050" y="659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{36A10B6D-A525-4A76-B903-A38ADA532CA9}</a:tableStyleId>
              </a:tblPr>
              <a:tblGrid>
                <a:gridCol w="940175"/>
                <a:gridCol w="737950"/>
                <a:gridCol w="912300"/>
              </a:tblGrid>
              <a:tr h="51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Categoria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Nombre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Categoria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Descripcion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Golosinas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Bebidas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Lacteos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51" name="Google Shape;251;p37"/>
          <p:cNvGraphicFramePr/>
          <p:nvPr/>
        </p:nvGraphicFramePr>
        <p:xfrm>
          <a:off x="1356825" y="2619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{36A10B6D-A525-4A76-B903-A38ADA532CA9}</a:tableStyleId>
              </a:tblPr>
              <a:tblGrid>
                <a:gridCol w="838775"/>
                <a:gridCol w="1113300"/>
                <a:gridCol w="828875"/>
              </a:tblGrid>
              <a:tr h="59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Categoria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Nombre Categoria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Nombre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Golosinas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Golosinas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Caramelo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Bebidas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Gaseosa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Lacteos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NULL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28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NULL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NULL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Pan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257" name="Google Shape;257;p38"/>
          <p:cNvSpPr txBox="1"/>
          <p:nvPr>
            <p:ph idx="1" type="body"/>
          </p:nvPr>
        </p:nvSpPr>
        <p:spPr>
          <a:xfrm>
            <a:off x="4792900" y="363300"/>
            <a:ext cx="39603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/>
          </a:bodyPr>
          <a:lstStyle/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Introducción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Frontend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Modelo de datos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Backend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SQL JOIN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Char char="●"/>
            </a:pPr>
            <a:r>
              <a:rPr lang="es">
                <a:solidFill>
                  <a:schemeClr val="accent4"/>
                </a:solidFill>
              </a:rPr>
              <a:t>Integrar front y back</a:t>
            </a:r>
            <a:endParaRPr>
              <a:solidFill>
                <a:schemeClr val="accent4"/>
              </a:solidFill>
            </a:endParaRPr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Controller-Service-Repository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9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263" name="Google Shape;263;p39"/>
          <p:cNvSpPr txBox="1"/>
          <p:nvPr>
            <p:ph idx="1" type="body"/>
          </p:nvPr>
        </p:nvSpPr>
        <p:spPr>
          <a:xfrm>
            <a:off x="4792900" y="363300"/>
            <a:ext cx="40731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/>
          </a:bodyPr>
          <a:lstStyle/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Introducción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Frontend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Modelo de datos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Backend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SQL JOIN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Integrar front y back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Char char="●"/>
            </a:pPr>
            <a:r>
              <a:rPr lang="es">
                <a:solidFill>
                  <a:schemeClr val="accent4"/>
                </a:solidFill>
              </a:rPr>
              <a:t>Controller-Service-Repository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Controller Service Repository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9" name="Google Shape;26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7050" y="1153275"/>
            <a:ext cx="6858000" cy="313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1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275" name="Google Shape;275;p41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/>
          <a:p>
            <a:pPr indent="-32210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Crear un proyecto Flask para Front y Backend (</a:t>
            </a:r>
            <a:r>
              <a:rPr lang="es"/>
              <a:t>correrán</a:t>
            </a:r>
            <a:r>
              <a:rPr lang="es"/>
              <a:t> en puertos separados)</a:t>
            </a:r>
            <a:endParaRPr/>
          </a:p>
          <a:p>
            <a:pPr indent="-32210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Creación de una Bdatos (PK, FK, Joins)</a:t>
            </a:r>
            <a:endParaRPr/>
          </a:p>
          <a:p>
            <a:pPr indent="-32210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Creación de un formulario GET-POST</a:t>
            </a:r>
            <a:endParaRPr/>
          </a:p>
          <a:p>
            <a:pPr indent="-32210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Comunicar Front con Back</a:t>
            </a:r>
            <a:endParaRPr/>
          </a:p>
          <a:p>
            <a:pPr indent="-32210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Error handler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2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Creación de Backend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una aplicación API (backend)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3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La aplicación debe ofrecer una serie de servicios y comunicarse con la base de datos Facultad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Servicios o endpoints:</a:t>
            </a:r>
            <a:endParaRPr/>
          </a:p>
          <a:p>
            <a:pPr indent="-2914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DatosPersonalesAlumno (Devuelve los datos personales de un alumno, de no existir devuelve null, recibe el nro de padrón como parámetro)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NotasAlumnoXMateria (Devuelve las notas de la materia de un alumno, de no existir devuelve null, recibe el nro de padrón y el código de materia por parámetro)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MateriasAprobadas (Devuelve todas las materias aprobadas con su correspondiente nota, recibe el nro de pad´ron del alumno)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NotasAlumno (Devuelve todas las materias con su correspondiente nota, recibe el nro de padrón del alumno)</a:t>
            </a:r>
            <a:br>
              <a:rPr lang="es"/>
            </a:br>
            <a:r>
              <a:rPr b="1" lang="es">
                <a:solidFill>
                  <a:srgbClr val="FF0000"/>
                </a:solidFill>
              </a:rPr>
              <a:t>ALGÚN OTRO ENDPOINT ??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